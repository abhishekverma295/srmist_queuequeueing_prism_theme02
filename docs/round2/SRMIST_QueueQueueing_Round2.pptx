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P95 ms</c:v>
                </c:pt>
              </c:strCache>
            </c:strRef>
          </c:tx>
          <c:spPr>
            <a:solidFill>
              <a:srgbClr val="1F5FD6"/>
            </a:solidFill>
          </c:spPr>
          <c:cat>
            <c:strRef>
              <c:f>Sheet1!$A$2:$A$4</c:f>
              <c:strCache>
                <c:ptCount val="3"/>
                <c:pt idx="0">
                  <c:v>1,256</c:v>
                </c:pt>
                <c:pt idx="1">
                  <c:v>10,256</c:v>
                </c:pt>
                <c:pt idx="2">
                  <c:v>100,256</c:v>
                </c:pt>
              </c:strCache>
            </c:strRef>
          </c:cat>
          <c:val>
            <c:numRef>
              <c:f>Sheet1!$B$2:$B$4</c:f>
              <c:numCache>
                <c:formatCode>General</c:formatCode>
                <c:ptCount val="3"/>
                <c:pt idx="0">
                  <c:v>21.6</c:v>
                </c:pt>
                <c:pt idx="1">
                  <c:v>21.6</c:v>
                </c:pt>
                <c:pt idx="2">
                  <c:v>39.2</c:v>
                </c:pt>
              </c:numCache>
            </c:numRef>
          </c:val>
        </c:ser>
        <c:dLbls>
          <c:numFmt formatCode="0.0&quot; ms&quot;" sourceLinked="0"/>
          <c:txPr>
            <a:bodyPr/>
            <a:lstStyle/>
            <a:p>
              <a:pPr>
                <a:defRPr sz="1300">
                  <a:solidFill>
                    <a:srgbClr val="111318"/>
                  </a:solidFill>
                  <a:latin typeface="Segoe UI Semibold"/>
                </a:defRPr>
              </a:pPr>
            </a:p>
          </c:txPr>
          <c:dLblPos val="outEnd"/>
          <c:showLegendKey val="0"/>
          <c:showVal val="1"/>
          <c:showCatName val="0"/>
          <c:showSerName val="0"/>
          <c:showPercent val="0"/>
          <c:showBubbleSize val="0"/>
          <c:showLeaderLines val="1"/>
        </c:dLbls>
        <c:gapWidth val="90"/>
        <c:axId val="-2068027336"/>
        <c:axId val="-2113994440"/>
      </c:barChart>
      <c:catAx>
        <c:axId val="-2068027336"/>
        <c:scaling>
          <c:orientation val="minMax"/>
        </c:scaling>
        <c:delete val="0"/>
        <c:axPos val="b"/>
        <c:majorTickMark val="out"/>
        <c:minorTickMark val="none"/>
        <c:tickLblPos val="nextTo"/>
        <c:spPr>
          <a:ln>
            <a:solidFill>
              <a:srgbClr val="DADDE3"/>
            </a:solidFill>
          </a:ln>
        </c:spPr>
        <c:txPr>
          <a:bodyPr/>
          <a:lstStyle/>
          <a:p>
            <a:pPr>
              <a:defRPr sz="1200"/>
            </a:pPr>
          </a:p>
        </c:txPr>
        <c:crossAx val="-2113994440"/>
        <c:crosses val="autoZero"/>
        <c:auto val="1"/>
        <c:lblAlgn val="ctr"/>
        <c:lblOffset val="100"/>
        <c:noMultiLvlLbl val="0"/>
      </c:catAx>
      <c:valAx>
        <c:axId val="-2113994440"/>
        <c:scaling>
          <c:max val="50.0"/>
        </c:scaling>
        <c:delete/>
        <c:axPos val="l"/>
        <c:majorTickMark val="out"/>
        <c:minorTickMark val="none"/>
        <c:tickLblPos val="nextTo"/>
        <c:crossAx val="-2068027336"/>
        <c:crosses val="autoZero"/>
      </c:valAx>
    </c:plotArea>
    <c:dispBlanksAs val="gap"/>
  </c:chart>
  <c:txPr>
    <a:bodyPr/>
    <a:lstStyle/>
    <a:p>
      <a:pPr>
        <a:defRPr sz="1200">
          <a:solidFill>
            <a:srgbClr val="5F6570"/>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ABHINAV (about 10 s)</a:t>
            </a:r>
          </a:p>
          <a:p/>
          <a:p>
            <a:r>
              <a:t>Good morning. We are team SRMIST_QueueQueueing from SRM, and this is FixFlow, our engine for Theme 02. You describe a phone problem in your own words, and FixFlow returns a short, ordered fix plan with one-tap links into Settings, built only from the support article.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ABHINAV (about 30 s)</a:t>
            </a:r>
          </a:p>
          <a:p/>
          <a:p>
            <a:r>
              <a:t>Here is the task as we understood it. In: a complaint like this official one, its support article, and a catalog of 578 Settings deeplinks. Out: a strict JSON plan. Settings fixes first, each with a one-tap deeplink from the catalog, then checks by hand, and restart always last. This is the real plan FixFlow returns for this complaint. And if the article has no fix, we must say no_match, never guess.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ABHINAV (about 35 s)</a:t>
            </a:r>
          </a:p>
          <a:p/>
          <a:p>
            <a:r>
              <a:t>Reading the kit closely, we found six catches. Complaint 6 comes with an article that does not fit, so any plan would be invented. LLMs add steps the article never mentions. Deeplinks are masked codes, and 138 switches have on and off twins. Complaint 17 holds three problems in one line. One problem comes in many wordings, even Hinglish. And the kit's own sample breaks the five-to-seven word rule, so we follow the spec. The green tag on each card is the module that handles it. Over to Abhishek.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ABHISHEK (about 45 s)</a:t>
            </a:r>
          </a:p>
          <a:p/>
          <a:p>
            <a:r>
              <a:t>A complaint first goes through Language, where Hinglish becomes English, then Memory. If we have seen the problem before, in any wording, we answer in 1 to 82 milliseconds, at zero cost, with no LLM. That is the blue path.</a:t>
            </a:r>
          </a:p>
          <a:p>
            <a:r>
              <a:t>A new problem passes four stages: Understand, Extract, Deeplinks, and a contract gate that checks every rule in code. Then the plan is saved to memory.</a:t>
            </a:r>
          </a:p>
          <a:p>
            <a:r>
              <a:t>Purple stages can use the LLM; grey ones are plain code. Every LLM stage also has a rules path, so FixFlow runs with no AI key, and if Gemini is slow we fall back within the time budget.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ABHISHEK (about 40 s)</a:t>
            </a:r>
          </a:p>
          <a:p/>
          <a:p>
            <a:r>
              <a:t>Three modules keep answers grounded. Grounded extraction: every step must cite article sentences, and code deletes any step that is not really there. Step accuracy is 2.6 out of 3.</a:t>
            </a:r>
          </a:p>
          <a:p>
            <a:r>
              <a:t>The deeplink mapper is search, not the LLM: it picks on versus off and the exact screen. 100 percent precision, against 75 when the LLM picked links.</a:t>
            </a:r>
          </a:p>
          <a:p>
            <a:r>
              <a:t>Guarded memory reuses a plan only for the same symptom: 87.5 percent of held-out rewordings get the same plan, with no wrong hits. Let's see it working.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(about 1 min 50 s, with its own voice-over)</a:t>
            </a:r>
          </a:p>
          <a:p/>
          <a:p>
            <a:r>
              <a:t>Abhishek: 'Here is FixFlow working.' Click the video (insert it over the dark frame: Insert, Video, This Device; set it to start on click). In Teams, share the screen with 'Include sound' on.</a:t>
            </a:r>
          </a:p>
          <a:p>
            <a:r>
              <a:t>If the video fails, describe it: an official complaint becomes a six-step plan and one tap applies a setting and checks it; a reworded complaint and a Hinglish one get the same plan from memory in milliseconds; an article that does not fit gives no_match; and a new problem is taught with one article and no code. Then hand over to Ayushi.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AYUSHI (about 45 s)</a:t>
            </a:r>
          </a:p>
          <a:p/>
          <a:p>
            <a:r>
              <a:t>What this means for Samsung, using only what we have built. First, Hinglish: 'mera phone ka touch bahut slow hai' is read as English offline and answered from memory in 27 milliseconds. On our Hinglish set, right plans went from 3 of 15 to 11 of 15, with no wrong answers.</a:t>
            </a:r>
          </a:p>
          <a:p>
            <a:r>
              <a:t>Second, tap and verify: one-tap steps carry the catalog's deeplink and its validation link, so the device can confirm the fix. Our demo simulates the device.</a:t>
            </a:r>
          </a:p>
          <a:p>
            <a:r>
              <a:t>Third, voice input and a step-by-step guided mode. Fourth, in rules mode no complaint text leaves the server: no API key, no GPU, one Docker image.</a:t>
            </a:r>
          </a:p>
          <a:p>
            <a:r>
              <a:t>(Only if asked, as ideas, not built: the API could sit behind Bixby or Samsung Members, verify results could reorder plans by what really fixes problems, and the catalog already has SmartThings appliance entries. Also: 0 of 183 English test texts were misread as Hinglish.)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KETKI (about 45 s)</a:t>
            </a:r>
          </a:p>
          <a:p/>
          <a:p>
            <a:r>
              <a:t>How easy is it to cover new scenarios? One article, zero code. We added eight new problem types, like battery, charging, Bluetooth and camera, without touching the code. Each article is compiled once, in 0.3 seconds with rules or 2.6 seconds with Gemini, and every rewording is then answered from memory in under 50 milliseconds. Seven of eight rewordings got the right plan, with no false hits.</a:t>
            </a:r>
          </a:p>
          <a:p>
            <a:r>
              <a:t>Search reaches 555 of 556 phone Settings screens. Lookup stays at 39 milliseconds with a hundred thousand stored problems, and one CPU worker served 50 users at once at about 98 requests per second, with zero errors.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KETKI (about 10 s)</a:t>
            </a:r>
          </a:p>
          <a:p/>
          <a:p>
            <a:r>
              <a:t>To sum up: grounded, exact, fast and scalable. Thank you, and we are happy to take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(show only if asked)</a:t>
            </a:r>
          </a:p>
          <a:p/>
          <a:p>
            <a:r>
              <a:t>Numbers from metrics.md (3 Oct compile, shipped cache). D1 = the 20 official lines; D2b = 10 held-out scenarios written before the final changes and never tuned on.</a:t>
            </a:r>
          </a:p>
          <a:p>
            <a:r>
              <a:t>Gold labels for D1 are AI-assisted with a human spot-check pending, which is why we also report an independent LLM judge (a stronger Gemini model that never sees the gold labels).</a:t>
            </a:r>
          </a:p>
          <a:p>
            <a:r>
              <a:t>Ablation: eval/ablation.py, extraction held fixed so only the deeplink mapper changes.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(show only if asked)</a:t>
            </a:r>
          </a:p>
          <a:p/>
          <a:p>
            <a:r>
              <a:t>Likely questions and short answers:</a:t>
            </a:r>
          </a:p>
          <a:p>
            <a:r>
              <a:t>Why not let the LLM pick deeplinks? The ablation: 75% precision and it costs money; our search reaches 100% at $0, and links are copied verbatim, never generated.</a:t>
            </a:r>
          </a:p>
          <a:p>
            <a:r>
              <a:t>What if the LLM is down? Every LLM stage has a rules path; the service never returns a non-JSON error. With LLM_PROVIDER=off it runs fully offline.</a:t>
            </a:r>
          </a:p>
          <a:p>
            <a:r>
              <a:t>How does it scale to 10k scenarios? Compile each article once (batch), then serve rewordings from memory; lookup is 39 ms P95 at 100k stored problems.</a:t>
            </a:r>
          </a:p>
          <a:p>
            <a:r>
              <a:t>How do you stop wrong cache hits? Similarity threshold plus a symptom guard plus the article hash when an article is sent; 0 false hits on unrelated complaints.</a:t>
            </a:r>
          </a:p>
          <a:p>
            <a:r>
              <a:t>Why is D3c below target? We wrote it before the last changes and did not tune on it after seeing the result.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4.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chart" Target="../charts/char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8A0"/>
        </a:solidFill>
        <a:effectLst/>
      </p:bgPr>
    </p:bg>
    <p:spTree>
      <p:nvGrpSpPr>
        <p:cNvPr id="1" name=""/>
        <p:cNvGrpSpPr/>
        <p:nvPr/>
      </p:nvGrpSpPr>
      <p:grpSpPr/>
      <p:sp>
        <p:nvSpPr>
          <p:cNvPr id="2" name="TextBox 1"/>
          <p:cNvSpPr txBox="1"/>
          <p:nvPr/>
        </p:nvSpPr>
        <p:spPr>
          <a:xfrm>
            <a:off x="640080" y="548640"/>
            <a:ext cx="6766560" cy="274320"/>
          </a:xfrm>
          <a:prstGeom prst="rect">
            <a:avLst/>
          </a:prstGeom>
          <a:noFill/>
        </p:spPr>
        <p:txBody>
          <a:bodyPr wrap="square" anchor="t" lIns="0" rIns="0" tIns="0" bIns="0">
            <a:spAutoFit/>
          </a:bodyPr>
          <a:lstStyle/>
          <a:p>
            <a:pPr algn="l">
              <a:lnSpc>
                <a:spcPct val="110000"/>
              </a:lnSpc>
              <a:spcAft>
                <a:spcPts val="400"/>
              </a:spcAft>
            </a:pPr>
            <a:r>
              <a:rPr sz="1300">
                <a:solidFill>
                  <a:srgbClr val="C8D2F5"/>
                </a:solidFill>
                <a:latin typeface="Segoe UI Semibold"/>
              </a:rPr>
              <a:t>Samsung PRISM GenAI Hackathon 2026   ·   Theme 02   ·   Demo round</a:t>
            </a:r>
          </a:p>
        </p:txBody>
      </p:sp>
      <p:sp>
        <p:nvSpPr>
          <p:cNvPr id="3" name="TextBox 2"/>
          <p:cNvSpPr txBox="1"/>
          <p:nvPr/>
        </p:nvSpPr>
        <p:spPr>
          <a:xfrm>
            <a:off x="640080" y="1417320"/>
            <a:ext cx="6766560" cy="1097280"/>
          </a:xfrm>
          <a:prstGeom prst="rect">
            <a:avLst/>
          </a:prstGeom>
          <a:noFill/>
        </p:spPr>
        <p:txBody>
          <a:bodyPr wrap="square" anchor="t" lIns="0" rIns="0" tIns="0" bIns="0">
            <a:spAutoFit/>
          </a:bodyPr>
          <a:lstStyle/>
          <a:p>
            <a:pPr algn="l">
              <a:lnSpc>
                <a:spcPct val="110000"/>
              </a:lnSpc>
              <a:spcAft>
                <a:spcPts val="400"/>
              </a:spcAft>
            </a:pPr>
            <a:r>
              <a:rPr sz="7200">
                <a:solidFill>
                  <a:srgbClr val="FFFFFF"/>
                </a:solidFill>
                <a:latin typeface="Segoe UI Bold"/>
              </a:rPr>
              <a:t>FixFlow</a:t>
            </a:r>
          </a:p>
        </p:txBody>
      </p:sp>
      <p:sp>
        <p:nvSpPr>
          <p:cNvPr id="4" name="TextBox 3"/>
          <p:cNvSpPr txBox="1"/>
          <p:nvPr/>
        </p:nvSpPr>
        <p:spPr>
          <a:xfrm>
            <a:off x="640080" y="2560320"/>
            <a:ext cx="6766560" cy="457200"/>
          </a:xfrm>
          <a:prstGeom prst="rect">
            <a:avLst/>
          </a:prstGeom>
          <a:noFill/>
        </p:spPr>
        <p:txBody>
          <a:bodyPr wrap="square" anchor="t" lIns="0" rIns="0" tIns="0" bIns="0">
            <a:spAutoFit/>
          </a:bodyPr>
          <a:lstStyle/>
          <a:p>
            <a:pPr algn="l">
              <a:lnSpc>
                <a:spcPct val="110000"/>
              </a:lnSpc>
              <a:spcAft>
                <a:spcPts val="400"/>
              </a:spcAft>
            </a:pPr>
            <a:r>
              <a:rPr sz="2400">
                <a:solidFill>
                  <a:srgbClr val="C8D2F5"/>
                </a:solidFill>
                <a:latin typeface="Segoe UI"/>
              </a:rPr>
              <a:t>Smart Guided Troubleshooting Engine</a:t>
            </a:r>
          </a:p>
        </p:txBody>
      </p:sp>
      <p:sp>
        <p:nvSpPr>
          <p:cNvPr id="5" name="TextBox 4"/>
          <p:cNvSpPr txBox="1"/>
          <p:nvPr/>
        </p:nvSpPr>
        <p:spPr>
          <a:xfrm>
            <a:off x="640080" y="3246120"/>
            <a:ext cx="6400800" cy="1097280"/>
          </a:xfrm>
          <a:prstGeom prst="rect">
            <a:avLst/>
          </a:prstGeom>
          <a:noFill/>
        </p:spPr>
        <p:txBody>
          <a:bodyPr wrap="square" anchor="t" lIns="0" rIns="0" tIns="0" bIns="0">
            <a:spAutoFit/>
          </a:bodyPr>
          <a:lstStyle/>
          <a:p>
            <a:pPr algn="l">
              <a:lnSpc>
                <a:spcPct val="120000"/>
              </a:lnSpc>
              <a:spcAft>
                <a:spcPts val="400"/>
              </a:spcAft>
            </a:pPr>
            <a:r>
              <a:rPr sz="1800">
                <a:solidFill>
                  <a:srgbClr val="FFFFFF"/>
                </a:solidFill>
                <a:latin typeface="Segoe UI"/>
              </a:rPr>
              <a:t>A phone complaint in the user's own words goes in. A short, ordered fix plan comes out, with one-tap links into Settings, built only from the support article.</a:t>
            </a:r>
          </a:p>
        </p:txBody>
      </p:sp>
      <p:sp>
        <p:nvSpPr>
          <p:cNvPr id="6" name="TextBox 5"/>
          <p:cNvSpPr txBox="1"/>
          <p:nvPr/>
        </p:nvSpPr>
        <p:spPr>
          <a:xfrm>
            <a:off x="640080" y="4983480"/>
            <a:ext cx="6766560" cy="1097280"/>
          </a:xfrm>
          <a:prstGeom prst="rect">
            <a:avLst/>
          </a:prstGeom>
          <a:noFill/>
        </p:spPr>
        <p:txBody>
          <a:bodyPr wrap="square" anchor="t" lIns="0" rIns="0" tIns="0" bIns="0">
            <a:spAutoFit/>
          </a:bodyPr>
          <a:lstStyle/>
          <a:p>
            <a:pPr algn="l">
              <a:lnSpc>
                <a:spcPct val="110000"/>
              </a:lnSpc>
              <a:spcAft>
                <a:spcPts val="500"/>
              </a:spcAft>
            </a:pPr>
            <a:r>
              <a:rPr sz="1600">
                <a:solidFill>
                  <a:srgbClr val="FFFFFF"/>
                </a:solidFill>
                <a:latin typeface="Segoe UI Semibold"/>
              </a:rPr>
              <a:t>Team SRMIST_QueueQueueing</a:t>
            </a:r>
          </a:p>
          <a:p>
            <a:pPr algn="l">
              <a:lnSpc>
                <a:spcPct val="110000"/>
              </a:lnSpc>
              <a:spcAft>
                <a:spcPts val="500"/>
              </a:spcAft>
            </a:pPr>
            <a:r>
              <a:rPr sz="1400">
                <a:solidFill>
                  <a:srgbClr val="C8D2F5"/>
                </a:solidFill>
                <a:latin typeface="Segoe UI"/>
              </a:rPr>
              <a:t>SRM Institute of Science and Technology</a:t>
            </a:r>
          </a:p>
          <a:p>
            <a:pPr algn="l">
              <a:lnSpc>
                <a:spcPct val="110000"/>
              </a:lnSpc>
              <a:spcAft>
                <a:spcPts val="500"/>
              </a:spcAft>
            </a:pPr>
            <a:r>
              <a:rPr sz="1400">
                <a:solidFill>
                  <a:srgbClr val="C8D2F5"/>
                </a:solidFill>
                <a:latin typeface="Segoe UI"/>
              </a:rPr>
              <a:t>Abhinav Kumar  ·  Abhishek Verma  ·  Ayushi Paul  ·  Ketki Gonnade</a:t>
            </a:r>
          </a:p>
        </p:txBody>
      </p:sp>
      <p:pic>
        <p:nvPicPr>
          <p:cNvPr id="7" name="Picture 6" descr="phone_title.png"/>
          <p:cNvPicPr>
            <a:picLocks noChangeAspect="1"/>
          </p:cNvPicPr>
          <p:nvPr/>
        </p:nvPicPr>
        <p:blipFill>
          <a:blip r:embed="rId2"/>
          <a:stretch>
            <a:fillRect/>
          </a:stretch>
        </p:blipFill>
        <p:spPr>
          <a:xfrm>
            <a:off x="7818120" y="685800"/>
            <a:ext cx="3794760" cy="617657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3F5"/>
        </a:solidFill>
        <a:effectLst/>
      </p:bgPr>
    </p:bg>
    <p:spTree>
      <p:nvGrpSpPr>
        <p:cNvPr id="1" name=""/>
        <p:cNvGrpSpPr/>
        <p:nvPr/>
      </p:nvGrpSpPr>
      <p:grpSpPr/>
      <p:sp>
        <p:nvSpPr>
          <p:cNvPr id="2" name="Rounded Rectangle 1"/>
          <p:cNvSpPr/>
          <p:nvPr/>
        </p:nvSpPr>
        <p:spPr>
          <a:xfrm>
            <a:off x="548640" y="384048"/>
            <a:ext cx="2240280" cy="292608"/>
          </a:xfrm>
          <a:prstGeom prst="roundRect">
            <a:avLst>
              <a:gd name="adj" fmla="val 50000"/>
            </a:avLst>
          </a:prstGeom>
          <a:solidFill>
            <a:srgbClr val="E4E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2240280" cy="292608"/>
          </a:xfrm>
          <a:prstGeom prst="rect">
            <a:avLst/>
          </a:prstGeom>
          <a:noFill/>
        </p:spPr>
        <p:txBody>
          <a:bodyPr wrap="square" anchor="ctr" lIns="0" rIns="0" tIns="0" bIns="0">
            <a:spAutoFit/>
          </a:bodyPr>
          <a:lstStyle/>
          <a:p>
            <a:pPr algn="ctr">
              <a:lnSpc>
                <a:spcPct val="110000"/>
              </a:lnSpc>
              <a:spcAft>
                <a:spcPts val="400"/>
              </a:spcAft>
            </a:pPr>
            <a:r>
              <a:rPr sz="1200">
                <a:solidFill>
                  <a:srgbClr val="1F5FD6"/>
                </a:solidFill>
                <a:latin typeface="Segoe UI Semibold"/>
              </a:rPr>
              <a:t>Understanding the problem</a:t>
            </a:r>
          </a:p>
        </p:txBody>
      </p:sp>
      <p:sp>
        <p:nvSpPr>
          <p:cNvPr id="4" name="TextBox 3"/>
          <p:cNvSpPr txBox="1"/>
          <p:nvPr/>
        </p:nvSpPr>
        <p:spPr>
          <a:xfrm>
            <a:off x="548640" y="804672"/>
            <a:ext cx="11064240" cy="640080"/>
          </a:xfrm>
          <a:prstGeom prst="rect">
            <a:avLst/>
          </a:prstGeom>
          <a:noFill/>
        </p:spPr>
        <p:txBody>
          <a:bodyPr wrap="square" anchor="t" lIns="0" rIns="0" tIns="0" bIns="0">
            <a:spAutoFit/>
          </a:bodyPr>
          <a:lstStyle/>
          <a:p>
            <a:pPr algn="l">
              <a:lnSpc>
                <a:spcPct val="100000"/>
              </a:lnSpc>
              <a:spcAft>
                <a:spcPts val="400"/>
              </a:spcAft>
            </a:pPr>
            <a:r>
              <a:rPr sz="3200">
                <a:solidFill>
                  <a:srgbClr val="111318"/>
                </a:solidFill>
                <a:latin typeface="Segoe UI Semibold"/>
              </a:rPr>
              <a:t>Turn a vague complaint into a fix the user can tap</a:t>
            </a:r>
          </a:p>
        </p:txBody>
      </p:sp>
      <p:sp>
        <p:nvSpPr>
          <p:cNvPr id="5" name="TextBox 4"/>
          <p:cNvSpPr txBox="1"/>
          <p:nvPr/>
        </p:nvSpPr>
        <p:spPr>
          <a:xfrm>
            <a:off x="548640" y="6419088"/>
            <a:ext cx="5486400" cy="228600"/>
          </a:xfrm>
          <a:prstGeom prst="rect">
            <a:avLst/>
          </a:prstGeom>
          <a:noFill/>
        </p:spPr>
        <p:txBody>
          <a:bodyPr wrap="square" anchor="t" lIns="0" rIns="0" tIns="0" bIns="0">
            <a:spAutoFit/>
          </a:bodyPr>
          <a:lstStyle/>
          <a:p>
            <a:pPr algn="l">
              <a:lnSpc>
                <a:spcPct val="110000"/>
              </a:lnSpc>
              <a:spcAft>
                <a:spcPts val="400"/>
              </a:spcAft>
            </a:pPr>
            <a:r>
              <a:rPr sz="1000">
                <a:solidFill>
                  <a:srgbClr val="5F6570"/>
                </a:solidFill>
                <a:latin typeface="Segoe UI"/>
              </a:rPr>
              <a:t>FixFlow  ·  Team SRMIST_QueueQueueing</a:t>
            </a:r>
          </a:p>
        </p:txBody>
      </p:sp>
      <p:sp>
        <p:nvSpPr>
          <p:cNvPr id="6" name="TextBox 5"/>
          <p:cNvSpPr txBox="1"/>
          <p:nvPr/>
        </p:nvSpPr>
        <p:spPr>
          <a:xfrm>
            <a:off x="9811512" y="6419088"/>
            <a:ext cx="1828800" cy="228600"/>
          </a:xfrm>
          <a:prstGeom prst="rect">
            <a:avLst/>
          </a:prstGeom>
          <a:noFill/>
        </p:spPr>
        <p:txBody>
          <a:bodyPr wrap="square" anchor="t" lIns="0" rIns="0" tIns="0" bIns="0">
            <a:spAutoFit/>
          </a:bodyPr>
          <a:lstStyle/>
          <a:p>
            <a:pPr algn="r">
              <a:lnSpc>
                <a:spcPct val="110000"/>
              </a:lnSpc>
              <a:spcAft>
                <a:spcPts val="400"/>
              </a:spcAft>
            </a:pPr>
            <a:r>
              <a:rPr sz="1000">
                <a:solidFill>
                  <a:srgbClr val="5F6570"/>
                </a:solidFill>
                <a:latin typeface="Segoe UI"/>
              </a:rPr>
              <a:t>2 / 9</a:t>
            </a:r>
          </a:p>
        </p:txBody>
      </p:sp>
      <p:sp>
        <p:nvSpPr>
          <p:cNvPr id="7" name="Rounded Rectangle 6"/>
          <p:cNvSpPr/>
          <p:nvPr/>
        </p:nvSpPr>
        <p:spPr>
          <a:xfrm>
            <a:off x="548640" y="1691640"/>
            <a:ext cx="3977639" cy="3794760"/>
          </a:xfrm>
          <a:prstGeom prst="roundRect">
            <a:avLst>
              <a:gd name="adj" fmla="val 530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20240"/>
            <a:ext cx="3474720" cy="274320"/>
          </a:xfrm>
          <a:prstGeom prst="rect">
            <a:avLst/>
          </a:prstGeom>
          <a:noFill/>
        </p:spPr>
        <p:txBody>
          <a:bodyPr wrap="square" anchor="t" lIns="0" rIns="0" tIns="0" bIns="0">
            <a:spAutoFit/>
          </a:bodyPr>
          <a:lstStyle/>
          <a:p>
            <a:pPr algn="l">
              <a:lnSpc>
                <a:spcPct val="110000"/>
              </a:lnSpc>
              <a:spcAft>
                <a:spcPts val="400"/>
              </a:spcAft>
            </a:pPr>
            <a:r>
              <a:rPr sz="1100">
                <a:solidFill>
                  <a:srgbClr val="5F6570"/>
                </a:solidFill>
                <a:latin typeface="Segoe UI Semibold"/>
              </a:rPr>
              <a:t>WHAT COMES IN</a:t>
            </a:r>
          </a:p>
        </p:txBody>
      </p:sp>
      <p:sp>
        <p:nvSpPr>
          <p:cNvPr id="9" name="TextBox 8"/>
          <p:cNvSpPr txBox="1"/>
          <p:nvPr/>
        </p:nvSpPr>
        <p:spPr>
          <a:xfrm>
            <a:off x="822960" y="2286000"/>
            <a:ext cx="3474720" cy="1371600"/>
          </a:xfrm>
          <a:prstGeom prst="rect">
            <a:avLst/>
          </a:prstGeom>
          <a:noFill/>
        </p:spPr>
        <p:txBody>
          <a:bodyPr wrap="square" anchor="t" lIns="0" rIns="0" tIns="0" bIns="0">
            <a:spAutoFit/>
          </a:bodyPr>
          <a:lstStyle/>
          <a:p>
            <a:pPr algn="l">
              <a:lnSpc>
                <a:spcPct val="115000"/>
              </a:lnSpc>
              <a:spcAft>
                <a:spcPts val="400"/>
              </a:spcAft>
            </a:pPr>
            <a:r>
              <a:rPr sz="1500">
                <a:solidFill>
                  <a:srgbClr val="111318"/>
                </a:solidFill>
                <a:latin typeface="Segoe UI"/>
              </a:rPr>
              <a:t>“My Nexa X1 screen inputs are delayed and the touch responsiveness is laggy, causing a noticeable delay when I try to interact with the device.”</a:t>
            </a:r>
          </a:p>
        </p:txBody>
      </p:sp>
      <p:sp>
        <p:nvSpPr>
          <p:cNvPr id="10" name="TextBox 9"/>
          <p:cNvSpPr txBox="1"/>
          <p:nvPr/>
        </p:nvSpPr>
        <p:spPr>
          <a:xfrm>
            <a:off x="822960" y="3611880"/>
            <a:ext cx="3474720" cy="274320"/>
          </a:xfrm>
          <a:prstGeom prst="rect">
            <a:avLst/>
          </a:prstGeom>
          <a:noFill/>
        </p:spPr>
        <p:txBody>
          <a:bodyPr wrap="square" anchor="t" lIns="0" rIns="0" tIns="0" bIns="0">
            <a:spAutoFit/>
          </a:bodyPr>
          <a:lstStyle/>
          <a:p>
            <a:pPr algn="l">
              <a:lnSpc>
                <a:spcPct val="110000"/>
              </a:lnSpc>
              <a:spcAft>
                <a:spcPts val="400"/>
              </a:spcAft>
            </a:pPr>
            <a:r>
              <a:rPr sz="1100">
                <a:solidFill>
                  <a:srgbClr val="5F6570"/>
                </a:solidFill>
                <a:latin typeface="Segoe UI"/>
              </a:rPr>
              <a:t>Official kit, complaint 19</a:t>
            </a:r>
          </a:p>
        </p:txBody>
      </p:sp>
      <p:sp>
        <p:nvSpPr>
          <p:cNvPr id="11" name="Rounded Rectangle 10"/>
          <p:cNvSpPr/>
          <p:nvPr/>
        </p:nvSpPr>
        <p:spPr>
          <a:xfrm>
            <a:off x="822960" y="4114800"/>
            <a:ext cx="438912" cy="438912"/>
          </a:xfrm>
          <a:prstGeom prst="roundRect">
            <a:avLst>
              <a:gd name="adj" fmla="val 30000"/>
            </a:avLst>
          </a:prstGeom>
          <a:solidFill>
            <a:srgbClr val="1F5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icle.png"/>
          <p:cNvPicPr>
            <a:picLocks noChangeAspect="1"/>
          </p:cNvPicPr>
          <p:nvPr/>
        </p:nvPicPr>
        <p:blipFill>
          <a:blip r:embed="rId2"/>
          <a:stretch>
            <a:fillRect/>
          </a:stretch>
        </p:blipFill>
        <p:spPr>
          <a:xfrm>
            <a:off x="910742" y="4202582"/>
            <a:ext cx="263347" cy="263347"/>
          </a:xfrm>
          <a:prstGeom prst="rect">
            <a:avLst/>
          </a:prstGeom>
        </p:spPr>
      </p:pic>
      <p:sp>
        <p:nvSpPr>
          <p:cNvPr id="13" name="TextBox 12"/>
          <p:cNvSpPr txBox="1"/>
          <p:nvPr/>
        </p:nvSpPr>
        <p:spPr>
          <a:xfrm>
            <a:off x="1417320" y="4114800"/>
            <a:ext cx="3017520" cy="438912"/>
          </a:xfrm>
          <a:prstGeom prst="rect">
            <a:avLst/>
          </a:prstGeom>
          <a:noFill/>
        </p:spPr>
        <p:txBody>
          <a:bodyPr wrap="square" anchor="ctr" lIns="0" rIns="0" tIns="0" bIns="0">
            <a:spAutoFit/>
          </a:bodyPr>
          <a:lstStyle/>
          <a:p>
            <a:pPr algn="l">
              <a:lnSpc>
                <a:spcPct val="110000"/>
              </a:lnSpc>
              <a:spcAft>
                <a:spcPts val="400"/>
              </a:spcAft>
            </a:pPr>
            <a:r>
              <a:rPr sz="1400">
                <a:solidFill>
                  <a:srgbClr val="111318"/>
                </a:solidFill>
                <a:latin typeface="Segoe UI"/>
              </a:rPr>
              <a:t>Its support article (SIIS text)</a:t>
            </a:r>
          </a:p>
        </p:txBody>
      </p:sp>
      <p:sp>
        <p:nvSpPr>
          <p:cNvPr id="14" name="Rounded Rectangle 13"/>
          <p:cNvSpPr/>
          <p:nvPr/>
        </p:nvSpPr>
        <p:spPr>
          <a:xfrm>
            <a:off x="822960" y="4736592"/>
            <a:ext cx="438912" cy="438912"/>
          </a:xfrm>
          <a:prstGeom prst="roundRect">
            <a:avLst>
              <a:gd name="adj" fmla="val 30000"/>
            </a:avLst>
          </a:prstGeom>
          <a:solidFill>
            <a:srgbClr val="1F5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link.png"/>
          <p:cNvPicPr>
            <a:picLocks noChangeAspect="1"/>
          </p:cNvPicPr>
          <p:nvPr/>
        </p:nvPicPr>
        <p:blipFill>
          <a:blip r:embed="rId3"/>
          <a:stretch>
            <a:fillRect/>
          </a:stretch>
        </p:blipFill>
        <p:spPr>
          <a:xfrm>
            <a:off x="910742" y="4824374"/>
            <a:ext cx="263347" cy="263347"/>
          </a:xfrm>
          <a:prstGeom prst="rect">
            <a:avLst/>
          </a:prstGeom>
        </p:spPr>
      </p:pic>
      <p:sp>
        <p:nvSpPr>
          <p:cNvPr id="16" name="TextBox 15"/>
          <p:cNvSpPr txBox="1"/>
          <p:nvPr/>
        </p:nvSpPr>
        <p:spPr>
          <a:xfrm>
            <a:off x="1417320" y="4736592"/>
            <a:ext cx="3017520" cy="438912"/>
          </a:xfrm>
          <a:prstGeom prst="rect">
            <a:avLst/>
          </a:prstGeom>
          <a:noFill/>
        </p:spPr>
        <p:txBody>
          <a:bodyPr wrap="square" anchor="ctr" lIns="0" rIns="0" tIns="0" bIns="0">
            <a:spAutoFit/>
          </a:bodyPr>
          <a:lstStyle/>
          <a:p>
            <a:pPr algn="l">
              <a:lnSpc>
                <a:spcPct val="110000"/>
              </a:lnSpc>
              <a:spcAft>
                <a:spcPts val="400"/>
              </a:spcAft>
            </a:pPr>
            <a:r>
              <a:rPr sz="1400">
                <a:solidFill>
                  <a:srgbClr val="111318"/>
                </a:solidFill>
                <a:latin typeface="Segoe UI"/>
              </a:rPr>
              <a:t>A catalog of 578 Settings deeplinks</a:t>
            </a:r>
          </a:p>
        </p:txBody>
      </p:sp>
      <p:cxnSp>
        <p:nvCxnSpPr>
          <p:cNvPr id="17" name="Connector 16"/>
          <p:cNvCxnSpPr/>
          <p:nvPr/>
        </p:nvCxnSpPr>
        <p:spPr>
          <a:xfrm>
            <a:off x="4663440" y="3584448"/>
            <a:ext cx="777240" cy="0"/>
          </a:xfrm>
          <a:prstGeom prst="line">
            <a:avLst/>
          </a:prstGeom>
          <a:ln w="28575">
            <a:solidFill>
              <a:srgbClr val="1F5FD6"/>
            </a:solidFill>
            <a:tailEnd type="triangle" w="med" h="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0" y="3200400"/>
            <a:ext cx="1188720" cy="768096"/>
          </a:xfrm>
          <a:prstGeom prst="roundRect">
            <a:avLst>
              <a:gd name="adj" fmla="val 50000"/>
            </a:avLst>
          </a:prstGeom>
          <a:solidFill>
            <a:srgbClr val="1F5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0" y="3200400"/>
            <a:ext cx="1188720" cy="768096"/>
          </a:xfrm>
          <a:prstGeom prst="rect">
            <a:avLst/>
          </a:prstGeom>
          <a:noFill/>
        </p:spPr>
        <p:txBody>
          <a:bodyPr wrap="square" anchor="ctr" lIns="0" rIns="0" tIns="0" bIns="0">
            <a:spAutoFit/>
          </a:bodyPr>
          <a:lstStyle/>
          <a:p>
            <a:pPr algn="ctr">
              <a:lnSpc>
                <a:spcPct val="110000"/>
              </a:lnSpc>
              <a:spcAft>
                <a:spcPts val="400"/>
              </a:spcAft>
            </a:pPr>
            <a:r>
              <a:rPr sz="1600">
                <a:solidFill>
                  <a:srgbClr val="FFFFFF"/>
                </a:solidFill>
                <a:latin typeface="Segoe UI Semibold"/>
              </a:rPr>
              <a:t>FixFlow</a:t>
            </a:r>
          </a:p>
        </p:txBody>
      </p:sp>
      <p:cxnSp>
        <p:nvCxnSpPr>
          <p:cNvPr id="20" name="Connector 19"/>
          <p:cNvCxnSpPr/>
          <p:nvPr/>
        </p:nvCxnSpPr>
        <p:spPr>
          <a:xfrm>
            <a:off x="6720840" y="3584448"/>
            <a:ext cx="777239" cy="0"/>
          </a:xfrm>
          <a:prstGeom prst="line">
            <a:avLst/>
          </a:prstGeom>
          <a:ln w="28575">
            <a:solidFill>
              <a:srgbClr val="1F5FD6"/>
            </a:solidFill>
            <a:tailEnd type="triangle" w="med" h="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589520" y="1691640"/>
            <a:ext cx="4050791" cy="3794760"/>
          </a:xfrm>
          <a:prstGeom prst="roundRect">
            <a:avLst>
              <a:gd name="adj" fmla="val 530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0" y="1920240"/>
            <a:ext cx="3566160" cy="274320"/>
          </a:xfrm>
          <a:prstGeom prst="rect">
            <a:avLst/>
          </a:prstGeom>
          <a:noFill/>
        </p:spPr>
        <p:txBody>
          <a:bodyPr wrap="square" anchor="t" lIns="0" rIns="0" tIns="0" bIns="0">
            <a:spAutoFit/>
          </a:bodyPr>
          <a:lstStyle/>
          <a:p>
            <a:pPr algn="l">
              <a:lnSpc>
                <a:spcPct val="110000"/>
              </a:lnSpc>
              <a:spcAft>
                <a:spcPts val="400"/>
              </a:spcAft>
            </a:pPr>
            <a:r>
              <a:rPr sz="1100">
                <a:solidFill>
                  <a:srgbClr val="5F6570"/>
                </a:solidFill>
                <a:latin typeface="Segoe UI Semibold"/>
              </a:rPr>
              <a:t>WHAT MUST GO OUT</a:t>
            </a:r>
          </a:p>
        </p:txBody>
      </p:sp>
      <p:sp>
        <p:nvSpPr>
          <p:cNvPr id="23" name="TextBox 22"/>
          <p:cNvSpPr txBox="1"/>
          <p:nvPr/>
        </p:nvSpPr>
        <p:spPr>
          <a:xfrm>
            <a:off x="7863840" y="2240280"/>
            <a:ext cx="3566160" cy="365760"/>
          </a:xfrm>
          <a:prstGeom prst="rect">
            <a:avLst/>
          </a:prstGeom>
          <a:noFill/>
        </p:spPr>
        <p:txBody>
          <a:bodyPr wrap="square" anchor="t" lIns="0" rIns="0" tIns="0" bIns="0">
            <a:spAutoFit/>
          </a:bodyPr>
          <a:lstStyle/>
          <a:p>
            <a:pPr algn="l">
              <a:lnSpc>
                <a:spcPct val="110000"/>
              </a:lnSpc>
              <a:spcAft>
                <a:spcPts val="400"/>
              </a:spcAft>
            </a:pPr>
            <a:r>
              <a:rPr sz="1600">
                <a:solidFill>
                  <a:srgbClr val="111318"/>
                </a:solidFill>
                <a:latin typeface="Segoe UI Semibold"/>
              </a:rPr>
              <a:t>Touchscreen response issues</a:t>
            </a:r>
          </a:p>
        </p:txBody>
      </p:sp>
      <p:sp>
        <p:nvSpPr>
          <p:cNvPr id="24" name="TextBox 23"/>
          <p:cNvSpPr txBox="1"/>
          <p:nvPr/>
        </p:nvSpPr>
        <p:spPr>
          <a:xfrm>
            <a:off x="7863840" y="2743200"/>
            <a:ext cx="274320" cy="292608"/>
          </a:xfrm>
          <a:prstGeom prst="rect">
            <a:avLst/>
          </a:prstGeom>
          <a:noFill/>
        </p:spPr>
        <p:txBody>
          <a:bodyPr wrap="square" anchor="ctr" lIns="0" rIns="0" tIns="0" bIns="0">
            <a:spAutoFit/>
          </a:bodyPr>
          <a:lstStyle/>
          <a:p>
            <a:pPr algn="l">
              <a:lnSpc>
                <a:spcPct val="110000"/>
              </a:lnSpc>
              <a:spcAft>
                <a:spcPts val="400"/>
              </a:spcAft>
            </a:pPr>
            <a:r>
              <a:rPr sz="1300">
                <a:solidFill>
                  <a:srgbClr val="5F6570"/>
                </a:solidFill>
                <a:latin typeface="Segoe UI"/>
              </a:rPr>
              <a:t>1</a:t>
            </a:r>
          </a:p>
        </p:txBody>
      </p:sp>
      <p:sp>
        <p:nvSpPr>
          <p:cNvPr id="25" name="TextBox 24"/>
          <p:cNvSpPr txBox="1"/>
          <p:nvPr/>
        </p:nvSpPr>
        <p:spPr>
          <a:xfrm>
            <a:off x="8138160" y="2743200"/>
            <a:ext cx="2377440" cy="292608"/>
          </a:xfrm>
          <a:prstGeom prst="rect">
            <a:avLst/>
          </a:prstGeom>
          <a:noFill/>
        </p:spPr>
        <p:txBody>
          <a:bodyPr wrap="square" anchor="ctr" lIns="0" rIns="0" tIns="0" bIns="0">
            <a:spAutoFit/>
          </a:bodyPr>
          <a:lstStyle/>
          <a:p>
            <a:pPr algn="l">
              <a:lnSpc>
                <a:spcPct val="110000"/>
              </a:lnSpc>
              <a:spcAft>
                <a:spcPts val="400"/>
              </a:spcAft>
            </a:pPr>
            <a:r>
              <a:rPr sz="1300">
                <a:solidFill>
                  <a:srgbClr val="111318"/>
                </a:solidFill>
                <a:latin typeface="Segoe UI"/>
              </a:rPr>
              <a:t>Enable Touch Sensitivity</a:t>
            </a:r>
          </a:p>
        </p:txBody>
      </p:sp>
      <p:sp>
        <p:nvSpPr>
          <p:cNvPr id="26" name="Rounded Rectangle 25"/>
          <p:cNvSpPr/>
          <p:nvPr/>
        </p:nvSpPr>
        <p:spPr>
          <a:xfrm>
            <a:off x="10442448" y="2761488"/>
            <a:ext cx="969264" cy="256032"/>
          </a:xfrm>
          <a:prstGeom prst="roundRect">
            <a:avLst>
              <a:gd name="adj" fmla="val 50000"/>
            </a:avLst>
          </a:prstGeom>
          <a:solidFill>
            <a:srgbClr val="E4E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42448" y="2761488"/>
            <a:ext cx="969264" cy="256032"/>
          </a:xfrm>
          <a:prstGeom prst="rect">
            <a:avLst/>
          </a:prstGeom>
          <a:noFill/>
        </p:spPr>
        <p:txBody>
          <a:bodyPr wrap="square" anchor="ctr" lIns="0" rIns="0" tIns="0" bIns="0">
            <a:spAutoFit/>
          </a:bodyPr>
          <a:lstStyle/>
          <a:p>
            <a:pPr algn="ctr">
              <a:lnSpc>
                <a:spcPct val="110000"/>
              </a:lnSpc>
              <a:spcAft>
                <a:spcPts val="400"/>
              </a:spcAft>
            </a:pPr>
            <a:r>
              <a:rPr sz="1000">
                <a:solidFill>
                  <a:srgbClr val="1F5FD6"/>
                </a:solidFill>
                <a:latin typeface="Segoe UI Semibold"/>
              </a:rPr>
              <a:t>One tap</a:t>
            </a:r>
          </a:p>
        </p:txBody>
      </p:sp>
      <p:sp>
        <p:nvSpPr>
          <p:cNvPr id="28" name="TextBox 27"/>
          <p:cNvSpPr txBox="1"/>
          <p:nvPr/>
        </p:nvSpPr>
        <p:spPr>
          <a:xfrm>
            <a:off x="7863840" y="3172968"/>
            <a:ext cx="274320" cy="292608"/>
          </a:xfrm>
          <a:prstGeom prst="rect">
            <a:avLst/>
          </a:prstGeom>
          <a:noFill/>
        </p:spPr>
        <p:txBody>
          <a:bodyPr wrap="square" anchor="ctr" lIns="0" rIns="0" tIns="0" bIns="0">
            <a:spAutoFit/>
          </a:bodyPr>
          <a:lstStyle/>
          <a:p>
            <a:pPr algn="l">
              <a:lnSpc>
                <a:spcPct val="110000"/>
              </a:lnSpc>
              <a:spcAft>
                <a:spcPts val="400"/>
              </a:spcAft>
            </a:pPr>
            <a:r>
              <a:rPr sz="1300">
                <a:solidFill>
                  <a:srgbClr val="5F6570"/>
                </a:solidFill>
                <a:latin typeface="Segoe UI"/>
              </a:rPr>
              <a:t>2</a:t>
            </a:r>
          </a:p>
        </p:txBody>
      </p:sp>
      <p:sp>
        <p:nvSpPr>
          <p:cNvPr id="29" name="TextBox 28"/>
          <p:cNvSpPr txBox="1"/>
          <p:nvPr/>
        </p:nvSpPr>
        <p:spPr>
          <a:xfrm>
            <a:off x="8138160" y="3172968"/>
            <a:ext cx="2377440" cy="292608"/>
          </a:xfrm>
          <a:prstGeom prst="rect">
            <a:avLst/>
          </a:prstGeom>
          <a:noFill/>
        </p:spPr>
        <p:txBody>
          <a:bodyPr wrap="square" anchor="ctr" lIns="0" rIns="0" tIns="0" bIns="0">
            <a:spAutoFit/>
          </a:bodyPr>
          <a:lstStyle/>
          <a:p>
            <a:pPr algn="l">
              <a:lnSpc>
                <a:spcPct val="110000"/>
              </a:lnSpc>
              <a:spcAft>
                <a:spcPts val="400"/>
              </a:spcAft>
            </a:pPr>
            <a:r>
              <a:rPr sz="1300">
                <a:solidFill>
                  <a:srgbClr val="111318"/>
                </a:solidFill>
                <a:latin typeface="Segoe UI"/>
              </a:rPr>
              <a:t>Open Navigation Bar Settings</a:t>
            </a:r>
          </a:p>
        </p:txBody>
      </p:sp>
      <p:sp>
        <p:nvSpPr>
          <p:cNvPr id="30" name="Rounded Rectangle 29"/>
          <p:cNvSpPr/>
          <p:nvPr/>
        </p:nvSpPr>
        <p:spPr>
          <a:xfrm>
            <a:off x="10442448" y="3191256"/>
            <a:ext cx="969264" cy="256032"/>
          </a:xfrm>
          <a:prstGeom prst="roundRect">
            <a:avLst>
              <a:gd name="adj" fmla="val 50000"/>
            </a:avLst>
          </a:prstGeom>
          <a:solidFill>
            <a:srgbClr val="E4E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42448" y="3191256"/>
            <a:ext cx="969264" cy="256032"/>
          </a:xfrm>
          <a:prstGeom prst="rect">
            <a:avLst/>
          </a:prstGeom>
          <a:noFill/>
        </p:spPr>
        <p:txBody>
          <a:bodyPr wrap="square" anchor="ctr" lIns="0" rIns="0" tIns="0" bIns="0">
            <a:spAutoFit/>
          </a:bodyPr>
          <a:lstStyle/>
          <a:p>
            <a:pPr algn="ctr">
              <a:lnSpc>
                <a:spcPct val="110000"/>
              </a:lnSpc>
              <a:spcAft>
                <a:spcPts val="400"/>
              </a:spcAft>
            </a:pPr>
            <a:r>
              <a:rPr sz="1000">
                <a:solidFill>
                  <a:srgbClr val="1F5FD6"/>
                </a:solidFill>
                <a:latin typeface="Segoe UI Semibold"/>
              </a:rPr>
              <a:t>One tap</a:t>
            </a:r>
          </a:p>
        </p:txBody>
      </p:sp>
      <p:sp>
        <p:nvSpPr>
          <p:cNvPr id="32" name="TextBox 31"/>
          <p:cNvSpPr txBox="1"/>
          <p:nvPr/>
        </p:nvSpPr>
        <p:spPr>
          <a:xfrm>
            <a:off x="7863840" y="3602736"/>
            <a:ext cx="274320" cy="292608"/>
          </a:xfrm>
          <a:prstGeom prst="rect">
            <a:avLst/>
          </a:prstGeom>
          <a:noFill/>
        </p:spPr>
        <p:txBody>
          <a:bodyPr wrap="square" anchor="ctr" lIns="0" rIns="0" tIns="0" bIns="0">
            <a:spAutoFit/>
          </a:bodyPr>
          <a:lstStyle/>
          <a:p>
            <a:pPr algn="l">
              <a:lnSpc>
                <a:spcPct val="110000"/>
              </a:lnSpc>
              <a:spcAft>
                <a:spcPts val="400"/>
              </a:spcAft>
            </a:pPr>
            <a:r>
              <a:rPr sz="1300">
                <a:solidFill>
                  <a:srgbClr val="5F6570"/>
                </a:solidFill>
                <a:latin typeface="Segoe UI"/>
              </a:rPr>
              <a:t>3</a:t>
            </a:r>
          </a:p>
        </p:txBody>
      </p:sp>
      <p:sp>
        <p:nvSpPr>
          <p:cNvPr id="33" name="TextBox 32"/>
          <p:cNvSpPr txBox="1"/>
          <p:nvPr/>
        </p:nvSpPr>
        <p:spPr>
          <a:xfrm>
            <a:off x="8138160" y="3602736"/>
            <a:ext cx="2377440" cy="292608"/>
          </a:xfrm>
          <a:prstGeom prst="rect">
            <a:avLst/>
          </a:prstGeom>
          <a:noFill/>
        </p:spPr>
        <p:txBody>
          <a:bodyPr wrap="square" anchor="ctr" lIns="0" rIns="0" tIns="0" bIns="0">
            <a:spAutoFit/>
          </a:bodyPr>
          <a:lstStyle/>
          <a:p>
            <a:pPr algn="l">
              <a:lnSpc>
                <a:spcPct val="110000"/>
              </a:lnSpc>
              <a:spcAft>
                <a:spcPts val="400"/>
              </a:spcAft>
            </a:pPr>
            <a:r>
              <a:rPr sz="1300">
                <a:solidFill>
                  <a:srgbClr val="111318"/>
                </a:solidFill>
                <a:latin typeface="Segoe UI"/>
              </a:rPr>
              <a:t>Check Screen Protectors</a:t>
            </a:r>
          </a:p>
        </p:txBody>
      </p:sp>
      <p:sp>
        <p:nvSpPr>
          <p:cNvPr id="34" name="Rounded Rectangle 33"/>
          <p:cNvSpPr/>
          <p:nvPr/>
        </p:nvSpPr>
        <p:spPr>
          <a:xfrm>
            <a:off x="10442448" y="3621024"/>
            <a:ext cx="969264" cy="256032"/>
          </a:xfrm>
          <a:prstGeom prst="roundRect">
            <a:avLst>
              <a:gd name="adj" fmla="val 50000"/>
            </a:avLst>
          </a:prstGeom>
          <a:solidFill>
            <a:srgbClr val="F8E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442448" y="3621024"/>
            <a:ext cx="969264" cy="256032"/>
          </a:xfrm>
          <a:prstGeom prst="rect">
            <a:avLst/>
          </a:prstGeom>
          <a:noFill/>
        </p:spPr>
        <p:txBody>
          <a:bodyPr wrap="square" anchor="ctr" lIns="0" rIns="0" tIns="0" bIns="0">
            <a:spAutoFit/>
          </a:bodyPr>
          <a:lstStyle/>
          <a:p>
            <a:pPr algn="ctr">
              <a:lnSpc>
                <a:spcPct val="110000"/>
              </a:lnSpc>
              <a:spcAft>
                <a:spcPts val="400"/>
              </a:spcAft>
            </a:pPr>
            <a:r>
              <a:rPr sz="1000">
                <a:solidFill>
                  <a:srgbClr val="8F5600"/>
                </a:solidFill>
                <a:latin typeface="Segoe UI Semibold"/>
              </a:rPr>
              <a:t>By hand</a:t>
            </a:r>
          </a:p>
        </p:txBody>
      </p:sp>
      <p:sp>
        <p:nvSpPr>
          <p:cNvPr id="36" name="TextBox 35"/>
          <p:cNvSpPr txBox="1"/>
          <p:nvPr/>
        </p:nvSpPr>
        <p:spPr>
          <a:xfrm>
            <a:off x="7863840" y="4032504"/>
            <a:ext cx="274320" cy="292608"/>
          </a:xfrm>
          <a:prstGeom prst="rect">
            <a:avLst/>
          </a:prstGeom>
          <a:noFill/>
        </p:spPr>
        <p:txBody>
          <a:bodyPr wrap="square" anchor="ctr" lIns="0" rIns="0" tIns="0" bIns="0">
            <a:spAutoFit/>
          </a:bodyPr>
          <a:lstStyle/>
          <a:p>
            <a:pPr algn="l">
              <a:lnSpc>
                <a:spcPct val="110000"/>
              </a:lnSpc>
              <a:spcAft>
                <a:spcPts val="400"/>
              </a:spcAft>
            </a:pPr>
            <a:r>
              <a:rPr sz="1300">
                <a:solidFill>
                  <a:srgbClr val="5F6570"/>
                </a:solidFill>
                <a:latin typeface="Segoe UI"/>
              </a:rPr>
              <a:t>4</a:t>
            </a:r>
          </a:p>
        </p:txBody>
      </p:sp>
      <p:sp>
        <p:nvSpPr>
          <p:cNvPr id="37" name="TextBox 36"/>
          <p:cNvSpPr txBox="1"/>
          <p:nvPr/>
        </p:nvSpPr>
        <p:spPr>
          <a:xfrm>
            <a:off x="8138160" y="4032504"/>
            <a:ext cx="2377440" cy="292608"/>
          </a:xfrm>
          <a:prstGeom prst="rect">
            <a:avLst/>
          </a:prstGeom>
          <a:noFill/>
        </p:spPr>
        <p:txBody>
          <a:bodyPr wrap="square" anchor="ctr" lIns="0" rIns="0" tIns="0" bIns="0">
            <a:spAutoFit/>
          </a:bodyPr>
          <a:lstStyle/>
          <a:p>
            <a:pPr algn="l">
              <a:lnSpc>
                <a:spcPct val="110000"/>
              </a:lnSpc>
              <a:spcAft>
                <a:spcPts val="400"/>
              </a:spcAft>
            </a:pPr>
            <a:r>
              <a:rPr sz="1300">
                <a:solidFill>
                  <a:srgbClr val="111318"/>
                </a:solidFill>
                <a:latin typeface="Segoe UI"/>
              </a:rPr>
              <a:t>Check Usage and Moisture</a:t>
            </a:r>
          </a:p>
        </p:txBody>
      </p:sp>
      <p:sp>
        <p:nvSpPr>
          <p:cNvPr id="38" name="Rounded Rectangle 37"/>
          <p:cNvSpPr/>
          <p:nvPr/>
        </p:nvSpPr>
        <p:spPr>
          <a:xfrm>
            <a:off x="10442448" y="4050791"/>
            <a:ext cx="969264" cy="256032"/>
          </a:xfrm>
          <a:prstGeom prst="roundRect">
            <a:avLst>
              <a:gd name="adj" fmla="val 50000"/>
            </a:avLst>
          </a:prstGeom>
          <a:solidFill>
            <a:srgbClr val="F8E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442448" y="4050791"/>
            <a:ext cx="969264" cy="256032"/>
          </a:xfrm>
          <a:prstGeom prst="rect">
            <a:avLst/>
          </a:prstGeom>
          <a:noFill/>
        </p:spPr>
        <p:txBody>
          <a:bodyPr wrap="square" anchor="ctr" lIns="0" rIns="0" tIns="0" bIns="0">
            <a:spAutoFit/>
          </a:bodyPr>
          <a:lstStyle/>
          <a:p>
            <a:pPr algn="ctr">
              <a:lnSpc>
                <a:spcPct val="110000"/>
              </a:lnSpc>
              <a:spcAft>
                <a:spcPts val="400"/>
              </a:spcAft>
            </a:pPr>
            <a:r>
              <a:rPr sz="1000">
                <a:solidFill>
                  <a:srgbClr val="8F5600"/>
                </a:solidFill>
                <a:latin typeface="Segoe UI Semibold"/>
              </a:rPr>
              <a:t>By hand</a:t>
            </a:r>
          </a:p>
        </p:txBody>
      </p:sp>
      <p:sp>
        <p:nvSpPr>
          <p:cNvPr id="40" name="TextBox 39"/>
          <p:cNvSpPr txBox="1"/>
          <p:nvPr/>
        </p:nvSpPr>
        <p:spPr>
          <a:xfrm>
            <a:off x="7863840" y="4462272"/>
            <a:ext cx="274320" cy="292608"/>
          </a:xfrm>
          <a:prstGeom prst="rect">
            <a:avLst/>
          </a:prstGeom>
          <a:noFill/>
        </p:spPr>
        <p:txBody>
          <a:bodyPr wrap="square" anchor="ctr" lIns="0" rIns="0" tIns="0" bIns="0">
            <a:spAutoFit/>
          </a:bodyPr>
          <a:lstStyle/>
          <a:p>
            <a:pPr algn="l">
              <a:lnSpc>
                <a:spcPct val="110000"/>
              </a:lnSpc>
              <a:spcAft>
                <a:spcPts val="400"/>
              </a:spcAft>
            </a:pPr>
            <a:r>
              <a:rPr sz="1300">
                <a:solidFill>
                  <a:srgbClr val="5F6570"/>
                </a:solidFill>
                <a:latin typeface="Segoe UI"/>
              </a:rPr>
              <a:t>5</a:t>
            </a:r>
          </a:p>
        </p:txBody>
      </p:sp>
      <p:sp>
        <p:nvSpPr>
          <p:cNvPr id="41" name="TextBox 40"/>
          <p:cNvSpPr txBox="1"/>
          <p:nvPr/>
        </p:nvSpPr>
        <p:spPr>
          <a:xfrm>
            <a:off x="8138160" y="4462272"/>
            <a:ext cx="2377440" cy="292608"/>
          </a:xfrm>
          <a:prstGeom prst="rect">
            <a:avLst/>
          </a:prstGeom>
          <a:noFill/>
        </p:spPr>
        <p:txBody>
          <a:bodyPr wrap="square" anchor="ctr" lIns="0" rIns="0" tIns="0" bIns="0">
            <a:spAutoFit/>
          </a:bodyPr>
          <a:lstStyle/>
          <a:p>
            <a:pPr algn="l">
              <a:lnSpc>
                <a:spcPct val="110000"/>
              </a:lnSpc>
              <a:spcAft>
                <a:spcPts val="400"/>
              </a:spcAft>
            </a:pPr>
            <a:r>
              <a:rPr sz="1300">
                <a:solidFill>
                  <a:srgbClr val="111318"/>
                </a:solidFill>
                <a:latin typeface="Segoe UI"/>
              </a:rPr>
              <a:t>Check Charger</a:t>
            </a:r>
          </a:p>
        </p:txBody>
      </p:sp>
      <p:sp>
        <p:nvSpPr>
          <p:cNvPr id="42" name="Rounded Rectangle 41"/>
          <p:cNvSpPr/>
          <p:nvPr/>
        </p:nvSpPr>
        <p:spPr>
          <a:xfrm>
            <a:off x="10442448" y="4480559"/>
            <a:ext cx="969264" cy="256032"/>
          </a:xfrm>
          <a:prstGeom prst="roundRect">
            <a:avLst>
              <a:gd name="adj" fmla="val 50000"/>
            </a:avLst>
          </a:prstGeom>
          <a:solidFill>
            <a:srgbClr val="F8E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442448" y="4480559"/>
            <a:ext cx="969264" cy="256032"/>
          </a:xfrm>
          <a:prstGeom prst="rect">
            <a:avLst/>
          </a:prstGeom>
          <a:noFill/>
        </p:spPr>
        <p:txBody>
          <a:bodyPr wrap="square" anchor="ctr" lIns="0" rIns="0" tIns="0" bIns="0">
            <a:spAutoFit/>
          </a:bodyPr>
          <a:lstStyle/>
          <a:p>
            <a:pPr algn="ctr">
              <a:lnSpc>
                <a:spcPct val="110000"/>
              </a:lnSpc>
              <a:spcAft>
                <a:spcPts val="400"/>
              </a:spcAft>
            </a:pPr>
            <a:r>
              <a:rPr sz="1000">
                <a:solidFill>
                  <a:srgbClr val="8F5600"/>
                </a:solidFill>
                <a:latin typeface="Segoe UI Semibold"/>
              </a:rPr>
              <a:t>By hand</a:t>
            </a:r>
          </a:p>
        </p:txBody>
      </p:sp>
      <p:sp>
        <p:nvSpPr>
          <p:cNvPr id="44" name="TextBox 43"/>
          <p:cNvSpPr txBox="1"/>
          <p:nvPr/>
        </p:nvSpPr>
        <p:spPr>
          <a:xfrm>
            <a:off x="7863840" y="4892040"/>
            <a:ext cx="274320" cy="292608"/>
          </a:xfrm>
          <a:prstGeom prst="rect">
            <a:avLst/>
          </a:prstGeom>
          <a:noFill/>
        </p:spPr>
        <p:txBody>
          <a:bodyPr wrap="square" anchor="ctr" lIns="0" rIns="0" tIns="0" bIns="0">
            <a:spAutoFit/>
          </a:bodyPr>
          <a:lstStyle/>
          <a:p>
            <a:pPr algn="l">
              <a:lnSpc>
                <a:spcPct val="110000"/>
              </a:lnSpc>
              <a:spcAft>
                <a:spcPts val="400"/>
              </a:spcAft>
            </a:pPr>
            <a:r>
              <a:rPr sz="1300">
                <a:solidFill>
                  <a:srgbClr val="5F6570"/>
                </a:solidFill>
                <a:latin typeface="Segoe UI"/>
              </a:rPr>
              <a:t>6</a:t>
            </a:r>
          </a:p>
        </p:txBody>
      </p:sp>
      <p:sp>
        <p:nvSpPr>
          <p:cNvPr id="45" name="TextBox 44"/>
          <p:cNvSpPr txBox="1"/>
          <p:nvPr/>
        </p:nvSpPr>
        <p:spPr>
          <a:xfrm>
            <a:off x="8138160" y="4892040"/>
            <a:ext cx="2377440" cy="292608"/>
          </a:xfrm>
          <a:prstGeom prst="rect">
            <a:avLst/>
          </a:prstGeom>
          <a:noFill/>
        </p:spPr>
        <p:txBody>
          <a:bodyPr wrap="square" anchor="ctr" lIns="0" rIns="0" tIns="0" bIns="0">
            <a:spAutoFit/>
          </a:bodyPr>
          <a:lstStyle/>
          <a:p>
            <a:pPr algn="l">
              <a:lnSpc>
                <a:spcPct val="110000"/>
              </a:lnSpc>
              <a:spcAft>
                <a:spcPts val="400"/>
              </a:spcAft>
            </a:pPr>
            <a:r>
              <a:rPr sz="1300">
                <a:solidFill>
                  <a:srgbClr val="111318"/>
                </a:solidFill>
                <a:latin typeface="Segoe UI"/>
              </a:rPr>
              <a:t>Restart Your Device</a:t>
            </a:r>
          </a:p>
        </p:txBody>
      </p:sp>
      <p:sp>
        <p:nvSpPr>
          <p:cNvPr id="46" name="Rounded Rectangle 45"/>
          <p:cNvSpPr/>
          <p:nvPr/>
        </p:nvSpPr>
        <p:spPr>
          <a:xfrm>
            <a:off x="10442448" y="4910327"/>
            <a:ext cx="969264" cy="256032"/>
          </a:xfrm>
          <a:prstGeom prst="roundRect">
            <a:avLst>
              <a:gd name="adj" fmla="val 50000"/>
            </a:avLst>
          </a:prstGeom>
          <a:solidFill>
            <a:srgbClr val="FB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42448" y="4910327"/>
            <a:ext cx="969264" cy="256032"/>
          </a:xfrm>
          <a:prstGeom prst="rect">
            <a:avLst/>
          </a:prstGeom>
          <a:noFill/>
        </p:spPr>
        <p:txBody>
          <a:bodyPr wrap="square" anchor="ctr" lIns="0" rIns="0" tIns="0" bIns="0">
            <a:spAutoFit/>
          </a:bodyPr>
          <a:lstStyle/>
          <a:p>
            <a:pPr algn="ctr">
              <a:lnSpc>
                <a:spcPct val="110000"/>
              </a:lnSpc>
              <a:spcAft>
                <a:spcPts val="400"/>
              </a:spcAft>
            </a:pPr>
            <a:r>
              <a:rPr sz="1000">
                <a:solidFill>
                  <a:srgbClr val="B2261E"/>
                </a:solidFill>
                <a:latin typeface="Segoe UI Semibold"/>
              </a:rPr>
              <a:t>Last resort</a:t>
            </a:r>
          </a:p>
        </p:txBody>
      </p:sp>
      <p:sp>
        <p:nvSpPr>
          <p:cNvPr id="48" name="Rounded Rectangle 47"/>
          <p:cNvSpPr/>
          <p:nvPr/>
        </p:nvSpPr>
        <p:spPr>
          <a:xfrm>
            <a:off x="548640" y="5760720"/>
            <a:ext cx="2130552" cy="36576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 y="5760720"/>
            <a:ext cx="2130552" cy="365760"/>
          </a:xfrm>
          <a:prstGeom prst="rect">
            <a:avLst/>
          </a:prstGeom>
          <a:noFill/>
        </p:spPr>
        <p:txBody>
          <a:bodyPr wrap="square" anchor="ctr" lIns="0" rIns="0" tIns="0" bIns="0">
            <a:spAutoFit/>
          </a:bodyPr>
          <a:lstStyle/>
          <a:p>
            <a:pPr algn="ctr">
              <a:lnSpc>
                <a:spcPct val="110000"/>
              </a:lnSpc>
              <a:spcAft>
                <a:spcPts val="400"/>
              </a:spcAft>
            </a:pPr>
            <a:r>
              <a:rPr sz="1150">
                <a:solidFill>
                  <a:srgbClr val="111318"/>
                </a:solidFill>
                <a:latin typeface="Segoe UI Semibold"/>
              </a:rPr>
              <a:t>Pure JSON, official schema</a:t>
            </a:r>
          </a:p>
        </p:txBody>
      </p:sp>
      <p:sp>
        <p:nvSpPr>
          <p:cNvPr id="50" name="Rounded Rectangle 49"/>
          <p:cNvSpPr/>
          <p:nvPr/>
        </p:nvSpPr>
        <p:spPr>
          <a:xfrm>
            <a:off x="2792577" y="5760720"/>
            <a:ext cx="2130552" cy="36576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92577" y="5760720"/>
            <a:ext cx="2130552" cy="365760"/>
          </a:xfrm>
          <a:prstGeom prst="rect">
            <a:avLst/>
          </a:prstGeom>
          <a:noFill/>
        </p:spPr>
        <p:txBody>
          <a:bodyPr wrap="square" anchor="ctr" lIns="0" rIns="0" tIns="0" bIns="0">
            <a:spAutoFit/>
          </a:bodyPr>
          <a:lstStyle/>
          <a:p>
            <a:pPr algn="ctr">
              <a:lnSpc>
                <a:spcPct val="110000"/>
              </a:lnSpc>
              <a:spcAft>
                <a:spcPts val="400"/>
              </a:spcAft>
            </a:pPr>
            <a:r>
              <a:rPr sz="1150">
                <a:solidFill>
                  <a:srgbClr val="111318"/>
                </a:solidFill>
                <a:latin typeface="Segoe UI Semibold"/>
              </a:rPr>
              <a:t>Catalog deeplinks only</a:t>
            </a:r>
          </a:p>
        </p:txBody>
      </p:sp>
      <p:sp>
        <p:nvSpPr>
          <p:cNvPr id="52" name="Rounded Rectangle 51"/>
          <p:cNvSpPr/>
          <p:nvPr/>
        </p:nvSpPr>
        <p:spPr>
          <a:xfrm>
            <a:off x="5036515" y="5760720"/>
            <a:ext cx="2130552" cy="36576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36515" y="5760720"/>
            <a:ext cx="2130552" cy="365760"/>
          </a:xfrm>
          <a:prstGeom prst="rect">
            <a:avLst/>
          </a:prstGeom>
          <a:noFill/>
        </p:spPr>
        <p:txBody>
          <a:bodyPr wrap="square" anchor="ctr" lIns="0" rIns="0" tIns="0" bIns="0">
            <a:spAutoFit/>
          </a:bodyPr>
          <a:lstStyle/>
          <a:p>
            <a:pPr algn="ctr">
              <a:lnSpc>
                <a:spcPct val="110000"/>
              </a:lnSpc>
              <a:spcAft>
                <a:spcPts val="400"/>
              </a:spcAft>
            </a:pPr>
            <a:r>
              <a:rPr sz="1150">
                <a:solidFill>
                  <a:srgbClr val="111318"/>
                </a:solidFill>
                <a:latin typeface="Segoe UI Semibold"/>
              </a:rPr>
              <a:t>Restart and reset always last</a:t>
            </a:r>
          </a:p>
        </p:txBody>
      </p:sp>
      <p:sp>
        <p:nvSpPr>
          <p:cNvPr id="54" name="Rounded Rectangle 53"/>
          <p:cNvSpPr/>
          <p:nvPr/>
        </p:nvSpPr>
        <p:spPr>
          <a:xfrm>
            <a:off x="7280452" y="5760720"/>
            <a:ext cx="2130552" cy="36576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280452" y="5760720"/>
            <a:ext cx="2130552" cy="365760"/>
          </a:xfrm>
          <a:prstGeom prst="rect">
            <a:avLst/>
          </a:prstGeom>
          <a:noFill/>
        </p:spPr>
        <p:txBody>
          <a:bodyPr wrap="square" anchor="ctr" lIns="0" rIns="0" tIns="0" bIns="0">
            <a:spAutoFit/>
          </a:bodyPr>
          <a:lstStyle/>
          <a:p>
            <a:pPr algn="ctr">
              <a:lnSpc>
                <a:spcPct val="110000"/>
              </a:lnSpc>
              <a:spcAft>
                <a:spcPts val="400"/>
              </a:spcAft>
            </a:pPr>
            <a:r>
              <a:rPr sz="1150">
                <a:solidFill>
                  <a:srgbClr val="111318"/>
                </a:solidFill>
                <a:latin typeface="Segoe UI Semibold"/>
              </a:rPr>
              <a:t>No fix in the article: no_match</a:t>
            </a:r>
          </a:p>
        </p:txBody>
      </p:sp>
      <p:sp>
        <p:nvSpPr>
          <p:cNvPr id="56" name="Rounded Rectangle 55"/>
          <p:cNvSpPr/>
          <p:nvPr/>
        </p:nvSpPr>
        <p:spPr>
          <a:xfrm>
            <a:off x="9524390" y="5760720"/>
            <a:ext cx="2130552" cy="36576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524390" y="5760720"/>
            <a:ext cx="2130552" cy="365760"/>
          </a:xfrm>
          <a:prstGeom prst="rect">
            <a:avLst/>
          </a:prstGeom>
          <a:noFill/>
        </p:spPr>
        <p:txBody>
          <a:bodyPr wrap="square" anchor="ctr" lIns="0" rIns="0" tIns="0" bIns="0">
            <a:spAutoFit/>
          </a:bodyPr>
          <a:lstStyle/>
          <a:p>
            <a:pPr algn="ctr">
              <a:lnSpc>
                <a:spcPct val="110000"/>
              </a:lnSpc>
              <a:spcAft>
                <a:spcPts val="400"/>
              </a:spcAft>
            </a:pPr>
            <a:r>
              <a:rPr sz="1150">
                <a:solidFill>
                  <a:srgbClr val="111318"/>
                </a:solidFill>
                <a:latin typeface="Segoe UI Semibold"/>
              </a:rPr>
              <a:t>Repeat &lt; 300 ms, new &lt; 8 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3F5"/>
        </a:solidFill>
        <a:effectLst/>
      </p:bgPr>
    </p:bg>
    <p:spTree>
      <p:nvGrpSpPr>
        <p:cNvPr id="1" name=""/>
        <p:cNvGrpSpPr/>
        <p:nvPr/>
      </p:nvGrpSpPr>
      <p:grpSpPr/>
      <p:sp>
        <p:nvSpPr>
          <p:cNvPr id="2" name="Rounded Rectangle 1"/>
          <p:cNvSpPr/>
          <p:nvPr/>
        </p:nvSpPr>
        <p:spPr>
          <a:xfrm>
            <a:off x="548640" y="384048"/>
            <a:ext cx="1694931" cy="292608"/>
          </a:xfrm>
          <a:prstGeom prst="roundRect">
            <a:avLst>
              <a:gd name="adj" fmla="val 50000"/>
            </a:avLst>
          </a:prstGeom>
          <a:solidFill>
            <a:srgbClr val="E4E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694931" cy="292608"/>
          </a:xfrm>
          <a:prstGeom prst="rect">
            <a:avLst/>
          </a:prstGeom>
          <a:noFill/>
        </p:spPr>
        <p:txBody>
          <a:bodyPr wrap="square" anchor="ctr" lIns="0" rIns="0" tIns="0" bIns="0">
            <a:spAutoFit/>
          </a:bodyPr>
          <a:lstStyle/>
          <a:p>
            <a:pPr algn="ctr">
              <a:lnSpc>
                <a:spcPct val="110000"/>
              </a:lnSpc>
              <a:spcAft>
                <a:spcPts val="400"/>
              </a:spcAft>
            </a:pPr>
            <a:r>
              <a:rPr sz="1200">
                <a:solidFill>
                  <a:srgbClr val="1F5FD6"/>
                </a:solidFill>
                <a:latin typeface="Segoe UI Semibold"/>
              </a:rPr>
              <a:t>Caveats identified</a:t>
            </a:r>
          </a:p>
        </p:txBody>
      </p:sp>
      <p:sp>
        <p:nvSpPr>
          <p:cNvPr id="4" name="TextBox 3"/>
          <p:cNvSpPr txBox="1"/>
          <p:nvPr/>
        </p:nvSpPr>
        <p:spPr>
          <a:xfrm>
            <a:off x="548640" y="804672"/>
            <a:ext cx="11064240" cy="640080"/>
          </a:xfrm>
          <a:prstGeom prst="rect">
            <a:avLst/>
          </a:prstGeom>
          <a:noFill/>
        </p:spPr>
        <p:txBody>
          <a:bodyPr wrap="square" anchor="t" lIns="0" rIns="0" tIns="0" bIns="0">
            <a:spAutoFit/>
          </a:bodyPr>
          <a:lstStyle/>
          <a:p>
            <a:pPr algn="l">
              <a:lnSpc>
                <a:spcPct val="100000"/>
              </a:lnSpc>
              <a:spcAft>
                <a:spcPts val="400"/>
              </a:spcAft>
            </a:pPr>
            <a:r>
              <a:rPr sz="3200">
                <a:solidFill>
                  <a:srgbClr val="111318"/>
                </a:solidFill>
                <a:latin typeface="Segoe UI Semibold"/>
              </a:rPr>
              <a:t>Six catches we found in the official kit</a:t>
            </a:r>
          </a:p>
        </p:txBody>
      </p:sp>
      <p:sp>
        <p:nvSpPr>
          <p:cNvPr id="5" name="TextBox 4"/>
          <p:cNvSpPr txBox="1"/>
          <p:nvPr/>
        </p:nvSpPr>
        <p:spPr>
          <a:xfrm>
            <a:off x="548640" y="6419088"/>
            <a:ext cx="5486400" cy="228600"/>
          </a:xfrm>
          <a:prstGeom prst="rect">
            <a:avLst/>
          </a:prstGeom>
          <a:noFill/>
        </p:spPr>
        <p:txBody>
          <a:bodyPr wrap="square" anchor="t" lIns="0" rIns="0" tIns="0" bIns="0">
            <a:spAutoFit/>
          </a:bodyPr>
          <a:lstStyle/>
          <a:p>
            <a:pPr algn="l">
              <a:lnSpc>
                <a:spcPct val="110000"/>
              </a:lnSpc>
              <a:spcAft>
                <a:spcPts val="400"/>
              </a:spcAft>
            </a:pPr>
            <a:r>
              <a:rPr sz="1000">
                <a:solidFill>
                  <a:srgbClr val="5F6570"/>
                </a:solidFill>
                <a:latin typeface="Segoe UI"/>
              </a:rPr>
              <a:t>FixFlow  ·  Team SRMIST_QueueQueueing</a:t>
            </a:r>
          </a:p>
        </p:txBody>
      </p:sp>
      <p:sp>
        <p:nvSpPr>
          <p:cNvPr id="6" name="TextBox 5"/>
          <p:cNvSpPr txBox="1"/>
          <p:nvPr/>
        </p:nvSpPr>
        <p:spPr>
          <a:xfrm>
            <a:off x="9811512" y="6419088"/>
            <a:ext cx="1828800" cy="228600"/>
          </a:xfrm>
          <a:prstGeom prst="rect">
            <a:avLst/>
          </a:prstGeom>
          <a:noFill/>
        </p:spPr>
        <p:txBody>
          <a:bodyPr wrap="square" anchor="t" lIns="0" rIns="0" tIns="0" bIns="0">
            <a:spAutoFit/>
          </a:bodyPr>
          <a:lstStyle/>
          <a:p>
            <a:pPr algn="r">
              <a:lnSpc>
                <a:spcPct val="110000"/>
              </a:lnSpc>
              <a:spcAft>
                <a:spcPts val="400"/>
              </a:spcAft>
            </a:pPr>
            <a:r>
              <a:rPr sz="1000">
                <a:solidFill>
                  <a:srgbClr val="5F6570"/>
                </a:solidFill>
                <a:latin typeface="Segoe UI"/>
              </a:rPr>
              <a:t>3 / 9</a:t>
            </a:r>
          </a:p>
        </p:txBody>
      </p:sp>
      <p:sp>
        <p:nvSpPr>
          <p:cNvPr id="7" name="Rounded Rectangle 6"/>
          <p:cNvSpPr/>
          <p:nvPr/>
        </p:nvSpPr>
        <p:spPr>
          <a:xfrm>
            <a:off x="548640" y="1691640"/>
            <a:ext cx="3547872" cy="2103120"/>
          </a:xfrm>
          <a:prstGeom prst="roundRect">
            <a:avLst>
              <a:gd name="adj" fmla="val 95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4672" y="1947672"/>
            <a:ext cx="384048" cy="384048"/>
          </a:xfrm>
          <a:prstGeom prst="roundRect">
            <a:avLst>
              <a:gd name="adj" fmla="val 50000"/>
            </a:avLst>
          </a:prstGeom>
          <a:solidFill>
            <a:srgbClr val="E4E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947672"/>
            <a:ext cx="384048" cy="384048"/>
          </a:xfrm>
          <a:prstGeom prst="rect">
            <a:avLst/>
          </a:prstGeom>
          <a:noFill/>
        </p:spPr>
        <p:txBody>
          <a:bodyPr wrap="square" anchor="ctr" lIns="0" rIns="0" tIns="0" bIns="0">
            <a:spAutoFit/>
          </a:bodyPr>
          <a:lstStyle/>
          <a:p>
            <a:pPr algn="ctr">
              <a:lnSpc>
                <a:spcPct val="110000"/>
              </a:lnSpc>
              <a:spcAft>
                <a:spcPts val="400"/>
              </a:spcAft>
            </a:pPr>
            <a:r>
              <a:rPr sz="1400">
                <a:solidFill>
                  <a:srgbClr val="1F5FD6"/>
                </a:solidFill>
                <a:latin typeface="Segoe UI Semibold"/>
              </a:rPr>
              <a:t>1</a:t>
            </a:r>
          </a:p>
        </p:txBody>
      </p:sp>
      <p:sp>
        <p:nvSpPr>
          <p:cNvPr id="10" name="TextBox 9"/>
          <p:cNvSpPr txBox="1"/>
          <p:nvPr/>
        </p:nvSpPr>
        <p:spPr>
          <a:xfrm>
            <a:off x="1325880" y="1965960"/>
            <a:ext cx="2606040" cy="365760"/>
          </a:xfrm>
          <a:prstGeom prst="rect">
            <a:avLst/>
          </a:prstGeom>
          <a:noFill/>
        </p:spPr>
        <p:txBody>
          <a:bodyPr wrap="square" anchor="ctr" lIns="0" rIns="0" tIns="0" bIns="0">
            <a:spAutoFit/>
          </a:bodyPr>
          <a:lstStyle/>
          <a:p>
            <a:pPr algn="l">
              <a:lnSpc>
                <a:spcPct val="110000"/>
              </a:lnSpc>
              <a:spcAft>
                <a:spcPts val="400"/>
              </a:spcAft>
            </a:pPr>
            <a:r>
              <a:rPr sz="1600">
                <a:solidFill>
                  <a:srgbClr val="111318"/>
                </a:solidFill>
                <a:latin typeface="Segoe UI Semibold"/>
              </a:rPr>
              <a:t>The article may not fit</a:t>
            </a:r>
          </a:p>
        </p:txBody>
      </p:sp>
      <p:sp>
        <p:nvSpPr>
          <p:cNvPr id="11" name="TextBox 10"/>
          <p:cNvSpPr txBox="1"/>
          <p:nvPr/>
        </p:nvSpPr>
        <p:spPr>
          <a:xfrm>
            <a:off x="804672" y="2496312"/>
            <a:ext cx="3063240" cy="822960"/>
          </a:xfrm>
          <a:prstGeom prst="rect">
            <a:avLst/>
          </a:prstGeom>
          <a:noFill/>
        </p:spPr>
        <p:txBody>
          <a:bodyPr wrap="square" anchor="t" lIns="0" rIns="0" tIns="0" bIns="0">
            <a:spAutoFit/>
          </a:bodyPr>
          <a:lstStyle/>
          <a:p>
            <a:pPr algn="l">
              <a:lnSpc>
                <a:spcPct val="112000"/>
              </a:lnSpc>
              <a:spcAft>
                <a:spcPts val="400"/>
              </a:spcAft>
            </a:pPr>
            <a:r>
              <a:rPr sz="1300">
                <a:solidFill>
                  <a:srgbClr val="5F6570"/>
                </a:solidFill>
                <a:latin typeface="Segoe UI"/>
              </a:rPr>
              <a:t>Complaint 6 is about a tablet's dark screen; its article is about multi-window. A plan here would be invented.</a:t>
            </a:r>
          </a:p>
        </p:txBody>
      </p:sp>
      <p:sp>
        <p:nvSpPr>
          <p:cNvPr id="12" name="Rounded Rectangle 11"/>
          <p:cNvSpPr/>
          <p:nvPr/>
        </p:nvSpPr>
        <p:spPr>
          <a:xfrm>
            <a:off x="804672" y="3337560"/>
            <a:ext cx="1873788" cy="256032"/>
          </a:xfrm>
          <a:prstGeom prst="roundRect">
            <a:avLst>
              <a:gd name="adj" fmla="val 50000"/>
            </a:avLst>
          </a:prstGeom>
          <a:solidFill>
            <a:srgbClr val="DF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3337560"/>
            <a:ext cx="1873788" cy="256032"/>
          </a:xfrm>
          <a:prstGeom prst="rect">
            <a:avLst/>
          </a:prstGeom>
          <a:noFill/>
        </p:spPr>
        <p:txBody>
          <a:bodyPr wrap="square" anchor="ctr" lIns="0" rIns="0" tIns="0" bIns="0">
            <a:spAutoFit/>
          </a:bodyPr>
          <a:lstStyle/>
          <a:p>
            <a:pPr algn="ctr">
              <a:lnSpc>
                <a:spcPct val="110000"/>
              </a:lnSpc>
              <a:spcAft>
                <a:spcPts val="400"/>
              </a:spcAft>
            </a:pPr>
            <a:r>
              <a:rPr sz="1050">
                <a:solidFill>
                  <a:srgbClr val="13805B"/>
                </a:solidFill>
                <a:latin typeface="Segoe UI Semibold"/>
              </a:rPr>
              <a:t>Extract: relevance check</a:t>
            </a:r>
          </a:p>
        </p:txBody>
      </p:sp>
      <p:sp>
        <p:nvSpPr>
          <p:cNvPr id="14" name="Rounded Rectangle 13"/>
          <p:cNvSpPr/>
          <p:nvPr/>
        </p:nvSpPr>
        <p:spPr>
          <a:xfrm>
            <a:off x="4297679" y="1691640"/>
            <a:ext cx="3547872" cy="2103120"/>
          </a:xfrm>
          <a:prstGeom prst="roundRect">
            <a:avLst>
              <a:gd name="adj" fmla="val 95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53712" y="1947672"/>
            <a:ext cx="384048" cy="384048"/>
          </a:xfrm>
          <a:prstGeom prst="roundRect">
            <a:avLst>
              <a:gd name="adj" fmla="val 50000"/>
            </a:avLst>
          </a:prstGeom>
          <a:solidFill>
            <a:srgbClr val="E4E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53712" y="1947672"/>
            <a:ext cx="384048" cy="384048"/>
          </a:xfrm>
          <a:prstGeom prst="rect">
            <a:avLst/>
          </a:prstGeom>
          <a:noFill/>
        </p:spPr>
        <p:txBody>
          <a:bodyPr wrap="square" anchor="ctr" lIns="0" rIns="0" tIns="0" bIns="0">
            <a:spAutoFit/>
          </a:bodyPr>
          <a:lstStyle/>
          <a:p>
            <a:pPr algn="ctr">
              <a:lnSpc>
                <a:spcPct val="110000"/>
              </a:lnSpc>
              <a:spcAft>
                <a:spcPts val="400"/>
              </a:spcAft>
            </a:pPr>
            <a:r>
              <a:rPr sz="1400">
                <a:solidFill>
                  <a:srgbClr val="1F5FD6"/>
                </a:solidFill>
                <a:latin typeface="Segoe UI Semibold"/>
              </a:rPr>
              <a:t>2</a:t>
            </a:r>
          </a:p>
        </p:txBody>
      </p:sp>
      <p:sp>
        <p:nvSpPr>
          <p:cNvPr id="17" name="TextBox 16"/>
          <p:cNvSpPr txBox="1"/>
          <p:nvPr/>
        </p:nvSpPr>
        <p:spPr>
          <a:xfrm>
            <a:off x="5074919" y="1965960"/>
            <a:ext cx="2606040" cy="365760"/>
          </a:xfrm>
          <a:prstGeom prst="rect">
            <a:avLst/>
          </a:prstGeom>
          <a:noFill/>
        </p:spPr>
        <p:txBody>
          <a:bodyPr wrap="square" anchor="ctr" lIns="0" rIns="0" tIns="0" bIns="0">
            <a:spAutoFit/>
          </a:bodyPr>
          <a:lstStyle/>
          <a:p>
            <a:pPr algn="l">
              <a:lnSpc>
                <a:spcPct val="110000"/>
              </a:lnSpc>
              <a:spcAft>
                <a:spcPts val="400"/>
              </a:spcAft>
            </a:pPr>
            <a:r>
              <a:rPr sz="1600">
                <a:solidFill>
                  <a:srgbClr val="111318"/>
                </a:solidFill>
                <a:latin typeface="Segoe UI Semibold"/>
              </a:rPr>
              <a:t>AI models invent steps</a:t>
            </a:r>
          </a:p>
        </p:txBody>
      </p:sp>
      <p:sp>
        <p:nvSpPr>
          <p:cNvPr id="18" name="TextBox 17"/>
          <p:cNvSpPr txBox="1"/>
          <p:nvPr/>
        </p:nvSpPr>
        <p:spPr>
          <a:xfrm>
            <a:off x="4553712" y="2496312"/>
            <a:ext cx="3063240" cy="822960"/>
          </a:xfrm>
          <a:prstGeom prst="rect">
            <a:avLst/>
          </a:prstGeom>
          <a:noFill/>
        </p:spPr>
        <p:txBody>
          <a:bodyPr wrap="square" anchor="t" lIns="0" rIns="0" tIns="0" bIns="0">
            <a:spAutoFit/>
          </a:bodyPr>
          <a:lstStyle/>
          <a:p>
            <a:pPr algn="l">
              <a:lnSpc>
                <a:spcPct val="112000"/>
              </a:lnSpc>
              <a:spcAft>
                <a:spcPts val="400"/>
              </a:spcAft>
            </a:pPr>
            <a:r>
              <a:rPr sz="1300">
                <a:solidFill>
                  <a:srgbClr val="5F6570"/>
                </a:solidFill>
                <a:latin typeface="Segoe UI"/>
              </a:rPr>
              <a:t>An LLM adds tips, settings and web links that the article never mentions.</a:t>
            </a:r>
          </a:p>
        </p:txBody>
      </p:sp>
      <p:sp>
        <p:nvSpPr>
          <p:cNvPr id="19" name="Rounded Rectangle 18"/>
          <p:cNvSpPr/>
          <p:nvPr/>
        </p:nvSpPr>
        <p:spPr>
          <a:xfrm>
            <a:off x="4553712" y="3337560"/>
            <a:ext cx="1805619" cy="256032"/>
          </a:xfrm>
          <a:prstGeom prst="roundRect">
            <a:avLst>
              <a:gd name="adj" fmla="val 50000"/>
            </a:avLst>
          </a:prstGeom>
          <a:solidFill>
            <a:srgbClr val="DF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53712" y="3337560"/>
            <a:ext cx="1805619" cy="256032"/>
          </a:xfrm>
          <a:prstGeom prst="rect">
            <a:avLst/>
          </a:prstGeom>
          <a:noFill/>
        </p:spPr>
        <p:txBody>
          <a:bodyPr wrap="square" anchor="ctr" lIns="0" rIns="0" tIns="0" bIns="0">
            <a:spAutoFit/>
          </a:bodyPr>
          <a:lstStyle/>
          <a:p>
            <a:pPr algn="ctr">
              <a:lnSpc>
                <a:spcPct val="110000"/>
              </a:lnSpc>
              <a:spcAft>
                <a:spcPts val="400"/>
              </a:spcAft>
            </a:pPr>
            <a:r>
              <a:rPr sz="1050">
                <a:solidFill>
                  <a:srgbClr val="13805B"/>
                </a:solidFill>
                <a:latin typeface="Segoe UI Semibold"/>
              </a:rPr>
              <a:t>Extract: citation check</a:t>
            </a:r>
          </a:p>
        </p:txBody>
      </p:sp>
      <p:sp>
        <p:nvSpPr>
          <p:cNvPr id="21" name="Rounded Rectangle 20"/>
          <p:cNvSpPr/>
          <p:nvPr/>
        </p:nvSpPr>
        <p:spPr>
          <a:xfrm>
            <a:off x="8046719" y="1691640"/>
            <a:ext cx="3547872" cy="2103120"/>
          </a:xfrm>
          <a:prstGeom prst="roundRect">
            <a:avLst>
              <a:gd name="adj" fmla="val 95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302751" y="1947672"/>
            <a:ext cx="384048" cy="384048"/>
          </a:xfrm>
          <a:prstGeom prst="roundRect">
            <a:avLst>
              <a:gd name="adj" fmla="val 50000"/>
            </a:avLst>
          </a:prstGeom>
          <a:solidFill>
            <a:srgbClr val="E4E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02751" y="1947672"/>
            <a:ext cx="384048" cy="384048"/>
          </a:xfrm>
          <a:prstGeom prst="rect">
            <a:avLst/>
          </a:prstGeom>
          <a:noFill/>
        </p:spPr>
        <p:txBody>
          <a:bodyPr wrap="square" anchor="ctr" lIns="0" rIns="0" tIns="0" bIns="0">
            <a:spAutoFit/>
          </a:bodyPr>
          <a:lstStyle/>
          <a:p>
            <a:pPr algn="ctr">
              <a:lnSpc>
                <a:spcPct val="110000"/>
              </a:lnSpc>
              <a:spcAft>
                <a:spcPts val="400"/>
              </a:spcAft>
            </a:pPr>
            <a:r>
              <a:rPr sz="1400">
                <a:solidFill>
                  <a:srgbClr val="1F5FD6"/>
                </a:solidFill>
                <a:latin typeface="Segoe UI Semibold"/>
              </a:rPr>
              <a:t>3</a:t>
            </a:r>
          </a:p>
        </p:txBody>
      </p:sp>
      <p:sp>
        <p:nvSpPr>
          <p:cNvPr id="24" name="TextBox 23"/>
          <p:cNvSpPr txBox="1"/>
          <p:nvPr/>
        </p:nvSpPr>
        <p:spPr>
          <a:xfrm>
            <a:off x="8823959" y="1965960"/>
            <a:ext cx="2606040" cy="365760"/>
          </a:xfrm>
          <a:prstGeom prst="rect">
            <a:avLst/>
          </a:prstGeom>
          <a:noFill/>
        </p:spPr>
        <p:txBody>
          <a:bodyPr wrap="square" anchor="ctr" lIns="0" rIns="0" tIns="0" bIns="0">
            <a:spAutoFit/>
          </a:bodyPr>
          <a:lstStyle/>
          <a:p>
            <a:pPr algn="l">
              <a:lnSpc>
                <a:spcPct val="110000"/>
              </a:lnSpc>
              <a:spcAft>
                <a:spcPts val="400"/>
              </a:spcAft>
            </a:pPr>
            <a:r>
              <a:rPr sz="1600">
                <a:solidFill>
                  <a:srgbClr val="111318"/>
                </a:solidFill>
                <a:latin typeface="Segoe UI Semibold"/>
              </a:rPr>
              <a:t>Deeplinks are masked codes</a:t>
            </a:r>
          </a:p>
        </p:txBody>
      </p:sp>
      <p:sp>
        <p:nvSpPr>
          <p:cNvPr id="25" name="TextBox 24"/>
          <p:cNvSpPr txBox="1"/>
          <p:nvPr/>
        </p:nvSpPr>
        <p:spPr>
          <a:xfrm>
            <a:off x="8302751" y="2496312"/>
            <a:ext cx="3063240" cy="822960"/>
          </a:xfrm>
          <a:prstGeom prst="rect">
            <a:avLst/>
          </a:prstGeom>
          <a:noFill/>
        </p:spPr>
        <p:txBody>
          <a:bodyPr wrap="square" anchor="t" lIns="0" rIns="0" tIns="0" bIns="0">
            <a:spAutoFit/>
          </a:bodyPr>
          <a:lstStyle/>
          <a:p>
            <a:pPr algn="l">
              <a:lnSpc>
                <a:spcPct val="112000"/>
              </a:lnSpc>
              <a:spcAft>
                <a:spcPts val="400"/>
              </a:spcAft>
            </a:pPr>
            <a:r>
              <a:rPr sz="1300">
                <a:solidFill>
                  <a:srgbClr val="5F6570"/>
                </a:solidFill>
                <a:latin typeface="Segoe UI"/>
              </a:rPr>
              <a:t>Only the descriptions can be matched, and 138 switches come as on/off twins. The wrong twin undoes the fix.</a:t>
            </a:r>
          </a:p>
        </p:txBody>
      </p:sp>
      <p:sp>
        <p:nvSpPr>
          <p:cNvPr id="26" name="Rounded Rectangle 25"/>
          <p:cNvSpPr/>
          <p:nvPr/>
        </p:nvSpPr>
        <p:spPr>
          <a:xfrm>
            <a:off x="8302751" y="3337560"/>
            <a:ext cx="2282799" cy="256032"/>
          </a:xfrm>
          <a:prstGeom prst="roundRect">
            <a:avLst>
              <a:gd name="adj" fmla="val 50000"/>
            </a:avLst>
          </a:prstGeom>
          <a:solidFill>
            <a:srgbClr val="DF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02751" y="3337560"/>
            <a:ext cx="2282799" cy="256032"/>
          </a:xfrm>
          <a:prstGeom prst="rect">
            <a:avLst/>
          </a:prstGeom>
          <a:noFill/>
        </p:spPr>
        <p:txBody>
          <a:bodyPr wrap="square" anchor="ctr" lIns="0" rIns="0" tIns="0" bIns="0">
            <a:spAutoFit/>
          </a:bodyPr>
          <a:lstStyle/>
          <a:p>
            <a:pPr algn="ctr">
              <a:lnSpc>
                <a:spcPct val="110000"/>
              </a:lnSpc>
              <a:spcAft>
                <a:spcPts val="400"/>
              </a:spcAft>
            </a:pPr>
            <a:r>
              <a:rPr sz="1050">
                <a:solidFill>
                  <a:srgbClr val="13805B"/>
                </a:solidFill>
                <a:latin typeface="Segoe UI Semibold"/>
              </a:rPr>
              <a:t>Deeplinks: action-aware search</a:t>
            </a:r>
          </a:p>
        </p:txBody>
      </p:sp>
      <p:sp>
        <p:nvSpPr>
          <p:cNvPr id="28" name="Rounded Rectangle 27"/>
          <p:cNvSpPr/>
          <p:nvPr/>
        </p:nvSpPr>
        <p:spPr>
          <a:xfrm>
            <a:off x="548640" y="3977639"/>
            <a:ext cx="3547872" cy="2103120"/>
          </a:xfrm>
          <a:prstGeom prst="roundRect">
            <a:avLst>
              <a:gd name="adj" fmla="val 95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04672" y="4233672"/>
            <a:ext cx="384048" cy="384048"/>
          </a:xfrm>
          <a:prstGeom prst="roundRect">
            <a:avLst>
              <a:gd name="adj" fmla="val 50000"/>
            </a:avLst>
          </a:prstGeom>
          <a:solidFill>
            <a:srgbClr val="E4E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4233672"/>
            <a:ext cx="384048" cy="384048"/>
          </a:xfrm>
          <a:prstGeom prst="rect">
            <a:avLst/>
          </a:prstGeom>
          <a:noFill/>
        </p:spPr>
        <p:txBody>
          <a:bodyPr wrap="square" anchor="ctr" lIns="0" rIns="0" tIns="0" bIns="0">
            <a:spAutoFit/>
          </a:bodyPr>
          <a:lstStyle/>
          <a:p>
            <a:pPr algn="ctr">
              <a:lnSpc>
                <a:spcPct val="110000"/>
              </a:lnSpc>
              <a:spcAft>
                <a:spcPts val="400"/>
              </a:spcAft>
            </a:pPr>
            <a:r>
              <a:rPr sz="1400">
                <a:solidFill>
                  <a:srgbClr val="1F5FD6"/>
                </a:solidFill>
                <a:latin typeface="Segoe UI Semibold"/>
              </a:rPr>
              <a:t>4</a:t>
            </a:r>
          </a:p>
        </p:txBody>
      </p:sp>
      <p:sp>
        <p:nvSpPr>
          <p:cNvPr id="31" name="TextBox 30"/>
          <p:cNvSpPr txBox="1"/>
          <p:nvPr/>
        </p:nvSpPr>
        <p:spPr>
          <a:xfrm>
            <a:off x="1325880" y="4251959"/>
            <a:ext cx="2606040" cy="365760"/>
          </a:xfrm>
          <a:prstGeom prst="rect">
            <a:avLst/>
          </a:prstGeom>
          <a:noFill/>
        </p:spPr>
        <p:txBody>
          <a:bodyPr wrap="square" anchor="ctr" lIns="0" rIns="0" tIns="0" bIns="0">
            <a:spAutoFit/>
          </a:bodyPr>
          <a:lstStyle/>
          <a:p>
            <a:pPr algn="l">
              <a:lnSpc>
                <a:spcPct val="110000"/>
              </a:lnSpc>
              <a:spcAft>
                <a:spcPts val="400"/>
              </a:spcAft>
            </a:pPr>
            <a:r>
              <a:rPr sz="1600">
                <a:solidFill>
                  <a:srgbClr val="111318"/>
                </a:solidFill>
                <a:latin typeface="Segoe UI Semibold"/>
              </a:rPr>
              <a:t>One line, several problems</a:t>
            </a:r>
          </a:p>
        </p:txBody>
      </p:sp>
      <p:sp>
        <p:nvSpPr>
          <p:cNvPr id="32" name="TextBox 31"/>
          <p:cNvSpPr txBox="1"/>
          <p:nvPr/>
        </p:nvSpPr>
        <p:spPr>
          <a:xfrm>
            <a:off x="804672" y="4782312"/>
            <a:ext cx="3063240" cy="822960"/>
          </a:xfrm>
          <a:prstGeom prst="rect">
            <a:avLst/>
          </a:prstGeom>
          <a:noFill/>
        </p:spPr>
        <p:txBody>
          <a:bodyPr wrap="square" anchor="t" lIns="0" rIns="0" tIns="0" bIns="0">
            <a:spAutoFit/>
          </a:bodyPr>
          <a:lstStyle/>
          <a:p>
            <a:pPr algn="l">
              <a:lnSpc>
                <a:spcPct val="112000"/>
              </a:lnSpc>
              <a:spcAft>
                <a:spcPts val="400"/>
              </a:spcAft>
            </a:pPr>
            <a:r>
              <a:rPr sz="1300">
                <a:solidFill>
                  <a:srgbClr val="5F6570"/>
                </a:solidFill>
                <a:latin typeface="Segoe UI"/>
              </a:rPr>
              <a:t>Complaint 17 holds three complaints in one line. Each needs its own plan.</a:t>
            </a:r>
          </a:p>
        </p:txBody>
      </p:sp>
      <p:sp>
        <p:nvSpPr>
          <p:cNvPr id="33" name="Rounded Rectangle 32"/>
          <p:cNvSpPr/>
          <p:nvPr/>
        </p:nvSpPr>
        <p:spPr>
          <a:xfrm>
            <a:off x="804672" y="5623559"/>
            <a:ext cx="1941957" cy="256032"/>
          </a:xfrm>
          <a:prstGeom prst="roundRect">
            <a:avLst>
              <a:gd name="adj" fmla="val 50000"/>
            </a:avLst>
          </a:prstGeom>
          <a:solidFill>
            <a:srgbClr val="DF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4672" y="5623559"/>
            <a:ext cx="1941957" cy="256032"/>
          </a:xfrm>
          <a:prstGeom prst="rect">
            <a:avLst/>
          </a:prstGeom>
          <a:noFill/>
        </p:spPr>
        <p:txBody>
          <a:bodyPr wrap="square" anchor="ctr" lIns="0" rIns="0" tIns="0" bIns="0">
            <a:spAutoFit/>
          </a:bodyPr>
          <a:lstStyle/>
          <a:p>
            <a:pPr algn="ctr">
              <a:lnSpc>
                <a:spcPct val="110000"/>
              </a:lnSpc>
              <a:spcAft>
                <a:spcPts val="400"/>
              </a:spcAft>
            </a:pPr>
            <a:r>
              <a:rPr sz="1050">
                <a:solidFill>
                  <a:srgbClr val="13805B"/>
                </a:solidFill>
                <a:latin typeface="Segoe UI Semibold"/>
              </a:rPr>
              <a:t>Understand: problem split</a:t>
            </a:r>
          </a:p>
        </p:txBody>
      </p:sp>
      <p:sp>
        <p:nvSpPr>
          <p:cNvPr id="35" name="Rounded Rectangle 34"/>
          <p:cNvSpPr/>
          <p:nvPr/>
        </p:nvSpPr>
        <p:spPr>
          <a:xfrm>
            <a:off x="4297679" y="3977639"/>
            <a:ext cx="3547872" cy="2103120"/>
          </a:xfrm>
          <a:prstGeom prst="roundRect">
            <a:avLst>
              <a:gd name="adj" fmla="val 95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553712" y="4233672"/>
            <a:ext cx="384048" cy="384048"/>
          </a:xfrm>
          <a:prstGeom prst="roundRect">
            <a:avLst>
              <a:gd name="adj" fmla="val 50000"/>
            </a:avLst>
          </a:prstGeom>
          <a:solidFill>
            <a:srgbClr val="E4E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53712" y="4233672"/>
            <a:ext cx="384048" cy="384048"/>
          </a:xfrm>
          <a:prstGeom prst="rect">
            <a:avLst/>
          </a:prstGeom>
          <a:noFill/>
        </p:spPr>
        <p:txBody>
          <a:bodyPr wrap="square" anchor="ctr" lIns="0" rIns="0" tIns="0" bIns="0">
            <a:spAutoFit/>
          </a:bodyPr>
          <a:lstStyle/>
          <a:p>
            <a:pPr algn="ctr">
              <a:lnSpc>
                <a:spcPct val="110000"/>
              </a:lnSpc>
              <a:spcAft>
                <a:spcPts val="400"/>
              </a:spcAft>
            </a:pPr>
            <a:r>
              <a:rPr sz="1400">
                <a:solidFill>
                  <a:srgbClr val="1F5FD6"/>
                </a:solidFill>
                <a:latin typeface="Segoe UI Semibold"/>
              </a:rPr>
              <a:t>5</a:t>
            </a:r>
          </a:p>
        </p:txBody>
      </p:sp>
      <p:sp>
        <p:nvSpPr>
          <p:cNvPr id="38" name="TextBox 37"/>
          <p:cNvSpPr txBox="1"/>
          <p:nvPr/>
        </p:nvSpPr>
        <p:spPr>
          <a:xfrm>
            <a:off x="5074919" y="4251959"/>
            <a:ext cx="2606040" cy="365760"/>
          </a:xfrm>
          <a:prstGeom prst="rect">
            <a:avLst/>
          </a:prstGeom>
          <a:noFill/>
        </p:spPr>
        <p:txBody>
          <a:bodyPr wrap="square" anchor="ctr" lIns="0" rIns="0" tIns="0" bIns="0">
            <a:spAutoFit/>
          </a:bodyPr>
          <a:lstStyle/>
          <a:p>
            <a:pPr algn="l">
              <a:lnSpc>
                <a:spcPct val="110000"/>
              </a:lnSpc>
              <a:spcAft>
                <a:spcPts val="400"/>
              </a:spcAft>
            </a:pPr>
            <a:r>
              <a:rPr sz="1600">
                <a:solidFill>
                  <a:srgbClr val="111318"/>
                </a:solidFill>
                <a:latin typeface="Segoe UI Semibold"/>
              </a:rPr>
              <a:t>Many wordings, one plan</a:t>
            </a:r>
          </a:p>
        </p:txBody>
      </p:sp>
      <p:sp>
        <p:nvSpPr>
          <p:cNvPr id="39" name="TextBox 38"/>
          <p:cNvSpPr txBox="1"/>
          <p:nvPr/>
        </p:nvSpPr>
        <p:spPr>
          <a:xfrm>
            <a:off x="4553712" y="4782312"/>
            <a:ext cx="3063240" cy="822960"/>
          </a:xfrm>
          <a:prstGeom prst="rect">
            <a:avLst/>
          </a:prstGeom>
          <a:noFill/>
        </p:spPr>
        <p:txBody>
          <a:bodyPr wrap="square" anchor="t" lIns="0" rIns="0" tIns="0" bIns="0">
            <a:spAutoFit/>
          </a:bodyPr>
          <a:lstStyle/>
          <a:p>
            <a:pPr algn="l">
              <a:lnSpc>
                <a:spcPct val="112000"/>
              </a:lnSpc>
              <a:spcAft>
                <a:spcPts val="400"/>
              </a:spcAft>
            </a:pPr>
            <a:r>
              <a:rPr sz="1300">
                <a:solidFill>
                  <a:srgbClr val="5F6570"/>
                </a:solidFill>
                <a:latin typeface="Segoe UI"/>
              </a:rPr>
              <a:t>Rewordings and Hinglish must get the same plan, and a repeat must answer in under 300 ms.</a:t>
            </a:r>
          </a:p>
        </p:txBody>
      </p:sp>
      <p:sp>
        <p:nvSpPr>
          <p:cNvPr id="40" name="Rounded Rectangle 39"/>
          <p:cNvSpPr/>
          <p:nvPr/>
        </p:nvSpPr>
        <p:spPr>
          <a:xfrm>
            <a:off x="4553712" y="5623559"/>
            <a:ext cx="1396608" cy="256032"/>
          </a:xfrm>
          <a:prstGeom prst="roundRect">
            <a:avLst>
              <a:gd name="adj" fmla="val 50000"/>
            </a:avLst>
          </a:prstGeom>
          <a:solidFill>
            <a:srgbClr val="DF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53712" y="5623559"/>
            <a:ext cx="1396608" cy="256032"/>
          </a:xfrm>
          <a:prstGeom prst="rect">
            <a:avLst/>
          </a:prstGeom>
          <a:noFill/>
        </p:spPr>
        <p:txBody>
          <a:bodyPr wrap="square" anchor="ctr" lIns="0" rIns="0" tIns="0" bIns="0">
            <a:spAutoFit/>
          </a:bodyPr>
          <a:lstStyle/>
          <a:p>
            <a:pPr algn="ctr">
              <a:lnSpc>
                <a:spcPct val="110000"/>
              </a:lnSpc>
              <a:spcAft>
                <a:spcPts val="400"/>
              </a:spcAft>
            </a:pPr>
            <a:r>
              <a:rPr sz="1050">
                <a:solidFill>
                  <a:srgbClr val="13805B"/>
                </a:solidFill>
                <a:latin typeface="Segoe UI Semibold"/>
              </a:rPr>
              <a:t>Language + Memory</a:t>
            </a:r>
          </a:p>
        </p:txBody>
      </p:sp>
      <p:sp>
        <p:nvSpPr>
          <p:cNvPr id="42" name="Rounded Rectangle 41"/>
          <p:cNvSpPr/>
          <p:nvPr/>
        </p:nvSpPr>
        <p:spPr>
          <a:xfrm>
            <a:off x="8046719" y="3977639"/>
            <a:ext cx="3547872" cy="2103120"/>
          </a:xfrm>
          <a:prstGeom prst="roundRect">
            <a:avLst>
              <a:gd name="adj" fmla="val 95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8302751" y="4233672"/>
            <a:ext cx="384048" cy="384048"/>
          </a:xfrm>
          <a:prstGeom prst="roundRect">
            <a:avLst>
              <a:gd name="adj" fmla="val 50000"/>
            </a:avLst>
          </a:prstGeom>
          <a:solidFill>
            <a:srgbClr val="E4E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02751" y="4233672"/>
            <a:ext cx="384048" cy="384048"/>
          </a:xfrm>
          <a:prstGeom prst="rect">
            <a:avLst/>
          </a:prstGeom>
          <a:noFill/>
        </p:spPr>
        <p:txBody>
          <a:bodyPr wrap="square" anchor="ctr" lIns="0" rIns="0" tIns="0" bIns="0">
            <a:spAutoFit/>
          </a:bodyPr>
          <a:lstStyle/>
          <a:p>
            <a:pPr algn="ctr">
              <a:lnSpc>
                <a:spcPct val="110000"/>
              </a:lnSpc>
              <a:spcAft>
                <a:spcPts val="400"/>
              </a:spcAft>
            </a:pPr>
            <a:r>
              <a:rPr sz="1400">
                <a:solidFill>
                  <a:srgbClr val="1F5FD6"/>
                </a:solidFill>
                <a:latin typeface="Segoe UI Semibold"/>
              </a:rPr>
              <a:t>6</a:t>
            </a:r>
          </a:p>
        </p:txBody>
      </p:sp>
      <p:sp>
        <p:nvSpPr>
          <p:cNvPr id="45" name="TextBox 44"/>
          <p:cNvSpPr txBox="1"/>
          <p:nvPr/>
        </p:nvSpPr>
        <p:spPr>
          <a:xfrm>
            <a:off x="8823959" y="4251959"/>
            <a:ext cx="2606040" cy="365760"/>
          </a:xfrm>
          <a:prstGeom prst="rect">
            <a:avLst/>
          </a:prstGeom>
          <a:noFill/>
        </p:spPr>
        <p:txBody>
          <a:bodyPr wrap="square" anchor="ctr" lIns="0" rIns="0" tIns="0" bIns="0">
            <a:spAutoFit/>
          </a:bodyPr>
          <a:lstStyle/>
          <a:p>
            <a:pPr algn="l">
              <a:lnSpc>
                <a:spcPct val="110000"/>
              </a:lnSpc>
              <a:spcAft>
                <a:spcPts val="400"/>
              </a:spcAft>
            </a:pPr>
            <a:r>
              <a:rPr sz="1600">
                <a:solidFill>
                  <a:srgbClr val="111318"/>
                </a:solidFill>
                <a:latin typeface="Segoe UI Semibold"/>
              </a:rPr>
              <a:t>The sample breaks the spec</a:t>
            </a:r>
          </a:p>
        </p:txBody>
      </p:sp>
      <p:sp>
        <p:nvSpPr>
          <p:cNvPr id="46" name="TextBox 45"/>
          <p:cNvSpPr txBox="1"/>
          <p:nvPr/>
        </p:nvSpPr>
        <p:spPr>
          <a:xfrm>
            <a:off x="8302751" y="4782312"/>
            <a:ext cx="3063240" cy="822960"/>
          </a:xfrm>
          <a:prstGeom prst="rect">
            <a:avLst/>
          </a:prstGeom>
          <a:noFill/>
        </p:spPr>
        <p:txBody>
          <a:bodyPr wrap="square" anchor="t" lIns="0" rIns="0" tIns="0" bIns="0">
            <a:spAutoFit/>
          </a:bodyPr>
          <a:lstStyle/>
          <a:p>
            <a:pPr algn="l">
              <a:lnSpc>
                <a:spcPct val="112000"/>
              </a:lnSpc>
              <a:spcAft>
                <a:spcPts val="400"/>
              </a:spcAft>
            </a:pPr>
            <a:r>
              <a:rPr sz="1300">
                <a:solidFill>
                  <a:srgbClr val="5F6570"/>
                </a:solidFill>
                <a:latin typeface="Segoe UI"/>
              </a:rPr>
              <a:t>The kit's sample output has 8- and 12-word descriptions; the spec says 5 to 7, starting “It will”.</a:t>
            </a:r>
          </a:p>
        </p:txBody>
      </p:sp>
      <p:sp>
        <p:nvSpPr>
          <p:cNvPr id="47" name="Rounded Rectangle 46"/>
          <p:cNvSpPr/>
          <p:nvPr/>
        </p:nvSpPr>
        <p:spPr>
          <a:xfrm>
            <a:off x="8302751" y="5623559"/>
            <a:ext cx="2487305" cy="256032"/>
          </a:xfrm>
          <a:prstGeom prst="roundRect">
            <a:avLst>
              <a:gd name="adj" fmla="val 50000"/>
            </a:avLst>
          </a:prstGeom>
          <a:solidFill>
            <a:srgbClr val="DF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302751" y="5623559"/>
            <a:ext cx="2487305" cy="256032"/>
          </a:xfrm>
          <a:prstGeom prst="rect">
            <a:avLst/>
          </a:prstGeom>
          <a:noFill/>
        </p:spPr>
        <p:txBody>
          <a:bodyPr wrap="square" anchor="ctr" lIns="0" rIns="0" tIns="0" bIns="0">
            <a:spAutoFit/>
          </a:bodyPr>
          <a:lstStyle/>
          <a:p>
            <a:pPr algn="ctr">
              <a:lnSpc>
                <a:spcPct val="110000"/>
              </a:lnSpc>
              <a:spcAft>
                <a:spcPts val="400"/>
              </a:spcAft>
            </a:pPr>
            <a:r>
              <a:rPr sz="1050">
                <a:solidFill>
                  <a:srgbClr val="13805B"/>
                </a:solidFill>
                <a:latin typeface="Segoe UI Semibold"/>
              </a:rPr>
              <a:t>Contract gate: we follow the spec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3F5"/>
        </a:solidFill>
        <a:effectLst/>
      </p:bgPr>
    </p:bg>
    <p:spTree>
      <p:nvGrpSpPr>
        <p:cNvPr id="1" name=""/>
        <p:cNvGrpSpPr/>
        <p:nvPr/>
      </p:nvGrpSpPr>
      <p:grpSpPr/>
      <p:sp>
        <p:nvSpPr>
          <p:cNvPr id="2" name="Rounded Rectangle 1"/>
          <p:cNvSpPr/>
          <p:nvPr/>
        </p:nvSpPr>
        <p:spPr>
          <a:xfrm>
            <a:off x="548640" y="384048"/>
            <a:ext cx="1617024" cy="292608"/>
          </a:xfrm>
          <a:prstGeom prst="roundRect">
            <a:avLst>
              <a:gd name="adj" fmla="val 50000"/>
            </a:avLst>
          </a:prstGeom>
          <a:solidFill>
            <a:srgbClr val="E4E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617024" cy="292608"/>
          </a:xfrm>
          <a:prstGeom prst="rect">
            <a:avLst/>
          </a:prstGeom>
          <a:noFill/>
        </p:spPr>
        <p:txBody>
          <a:bodyPr wrap="square" anchor="ctr" lIns="0" rIns="0" tIns="0" bIns="0">
            <a:spAutoFit/>
          </a:bodyPr>
          <a:lstStyle/>
          <a:p>
            <a:pPr algn="ctr">
              <a:lnSpc>
                <a:spcPct val="110000"/>
              </a:lnSpc>
              <a:spcAft>
                <a:spcPts val="400"/>
              </a:spcAft>
            </a:pPr>
            <a:r>
              <a:rPr sz="1200">
                <a:solidFill>
                  <a:srgbClr val="1F5FD6"/>
                </a:solidFill>
                <a:latin typeface="Segoe UI Semibold"/>
              </a:rPr>
              <a:t>Core architecture</a:t>
            </a:r>
          </a:p>
        </p:txBody>
      </p:sp>
      <p:sp>
        <p:nvSpPr>
          <p:cNvPr id="4" name="TextBox 3"/>
          <p:cNvSpPr txBox="1"/>
          <p:nvPr/>
        </p:nvSpPr>
        <p:spPr>
          <a:xfrm>
            <a:off x="548640" y="804672"/>
            <a:ext cx="11064240" cy="640080"/>
          </a:xfrm>
          <a:prstGeom prst="rect">
            <a:avLst/>
          </a:prstGeom>
          <a:noFill/>
        </p:spPr>
        <p:txBody>
          <a:bodyPr wrap="square" anchor="t" lIns="0" rIns="0" tIns="0" bIns="0">
            <a:spAutoFit/>
          </a:bodyPr>
          <a:lstStyle/>
          <a:p>
            <a:pPr algn="l">
              <a:lnSpc>
                <a:spcPct val="100000"/>
              </a:lnSpc>
              <a:spcAft>
                <a:spcPts val="400"/>
              </a:spcAft>
            </a:pPr>
            <a:r>
              <a:rPr sz="3200">
                <a:solidFill>
                  <a:srgbClr val="111318"/>
                </a:solidFill>
                <a:latin typeface="Segoe UI Semibold"/>
              </a:rPr>
              <a:t>Memory first. A new problem passes four checked stages</a:t>
            </a:r>
          </a:p>
        </p:txBody>
      </p:sp>
      <p:sp>
        <p:nvSpPr>
          <p:cNvPr id="5" name="TextBox 4"/>
          <p:cNvSpPr txBox="1"/>
          <p:nvPr/>
        </p:nvSpPr>
        <p:spPr>
          <a:xfrm>
            <a:off x="548640" y="6419088"/>
            <a:ext cx="5486400" cy="228600"/>
          </a:xfrm>
          <a:prstGeom prst="rect">
            <a:avLst/>
          </a:prstGeom>
          <a:noFill/>
        </p:spPr>
        <p:txBody>
          <a:bodyPr wrap="square" anchor="t" lIns="0" rIns="0" tIns="0" bIns="0">
            <a:spAutoFit/>
          </a:bodyPr>
          <a:lstStyle/>
          <a:p>
            <a:pPr algn="l">
              <a:lnSpc>
                <a:spcPct val="110000"/>
              </a:lnSpc>
              <a:spcAft>
                <a:spcPts val="400"/>
              </a:spcAft>
            </a:pPr>
            <a:r>
              <a:rPr sz="1000">
                <a:solidFill>
                  <a:srgbClr val="5F6570"/>
                </a:solidFill>
                <a:latin typeface="Segoe UI"/>
              </a:rPr>
              <a:t>FixFlow  ·  Team SRMIST_QueueQueueing</a:t>
            </a:r>
          </a:p>
        </p:txBody>
      </p:sp>
      <p:sp>
        <p:nvSpPr>
          <p:cNvPr id="6" name="TextBox 5"/>
          <p:cNvSpPr txBox="1"/>
          <p:nvPr/>
        </p:nvSpPr>
        <p:spPr>
          <a:xfrm>
            <a:off x="9811512" y="6419088"/>
            <a:ext cx="1828800" cy="228600"/>
          </a:xfrm>
          <a:prstGeom prst="rect">
            <a:avLst/>
          </a:prstGeom>
          <a:noFill/>
        </p:spPr>
        <p:txBody>
          <a:bodyPr wrap="square" anchor="t" lIns="0" rIns="0" tIns="0" bIns="0">
            <a:spAutoFit/>
          </a:bodyPr>
          <a:lstStyle/>
          <a:p>
            <a:pPr algn="r">
              <a:lnSpc>
                <a:spcPct val="110000"/>
              </a:lnSpc>
              <a:spcAft>
                <a:spcPts val="400"/>
              </a:spcAft>
            </a:pPr>
            <a:r>
              <a:rPr sz="1000">
                <a:solidFill>
                  <a:srgbClr val="5F6570"/>
                </a:solidFill>
                <a:latin typeface="Segoe UI"/>
              </a:rPr>
              <a:t>4 / 9</a:t>
            </a:r>
          </a:p>
        </p:txBody>
      </p:sp>
      <p:sp>
        <p:nvSpPr>
          <p:cNvPr id="7" name="Rounded Rectangle 6"/>
          <p:cNvSpPr/>
          <p:nvPr/>
        </p:nvSpPr>
        <p:spPr>
          <a:xfrm>
            <a:off x="548640" y="1737360"/>
            <a:ext cx="2011680" cy="1280160"/>
          </a:xfrm>
          <a:prstGeom prst="roundRect">
            <a:avLst>
              <a:gd name="adj" fmla="val 1571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83664"/>
            <a:ext cx="1645920" cy="292608"/>
          </a:xfrm>
          <a:prstGeom prst="rect">
            <a:avLst/>
          </a:prstGeom>
          <a:noFill/>
        </p:spPr>
        <p:txBody>
          <a:bodyPr wrap="square" anchor="t" lIns="0" rIns="0" tIns="0" bIns="0">
            <a:spAutoFit/>
          </a:bodyPr>
          <a:lstStyle/>
          <a:p>
            <a:pPr algn="l">
              <a:lnSpc>
                <a:spcPct val="110000"/>
              </a:lnSpc>
              <a:spcAft>
                <a:spcPts val="400"/>
              </a:spcAft>
            </a:pPr>
            <a:r>
              <a:rPr sz="1500">
                <a:solidFill>
                  <a:srgbClr val="111318"/>
                </a:solidFill>
                <a:latin typeface="Segoe UI Semibold"/>
              </a:rPr>
              <a:t>Complaint</a:t>
            </a:r>
          </a:p>
        </p:txBody>
      </p:sp>
      <p:sp>
        <p:nvSpPr>
          <p:cNvPr id="9" name="TextBox 8"/>
          <p:cNvSpPr txBox="1"/>
          <p:nvPr/>
        </p:nvSpPr>
        <p:spPr>
          <a:xfrm>
            <a:off x="731520" y="2194560"/>
            <a:ext cx="1645920" cy="411480"/>
          </a:xfrm>
          <a:prstGeom prst="rect">
            <a:avLst/>
          </a:prstGeom>
          <a:noFill/>
        </p:spPr>
        <p:txBody>
          <a:bodyPr wrap="square" anchor="t" lIns="0" rIns="0" tIns="0" bIns="0">
            <a:spAutoFit/>
          </a:bodyPr>
          <a:lstStyle/>
          <a:p>
            <a:pPr algn="l">
              <a:lnSpc>
                <a:spcPct val="105000"/>
              </a:lnSpc>
              <a:spcAft>
                <a:spcPts val="400"/>
              </a:spcAft>
            </a:pPr>
            <a:r>
              <a:rPr sz="1150">
                <a:solidFill>
                  <a:srgbClr val="5F6570"/>
                </a:solidFill>
                <a:latin typeface="Segoe UI"/>
              </a:rPr>
              <a:t>typed or spoken, English or Hinglish</a:t>
            </a:r>
          </a:p>
        </p:txBody>
      </p:sp>
      <p:sp>
        <p:nvSpPr>
          <p:cNvPr id="10" name="Rounded Rectangle 9"/>
          <p:cNvSpPr/>
          <p:nvPr/>
        </p:nvSpPr>
        <p:spPr>
          <a:xfrm>
            <a:off x="731520" y="2651760"/>
            <a:ext cx="509549" cy="228600"/>
          </a:xfrm>
          <a:prstGeom prst="roundRect">
            <a:avLst>
              <a:gd name="adj" fmla="val 50000"/>
            </a:avLst>
          </a:prstGeom>
          <a:solidFill>
            <a:srgbClr val="E4E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651760"/>
            <a:ext cx="509549" cy="228600"/>
          </a:xfrm>
          <a:prstGeom prst="rect">
            <a:avLst/>
          </a:prstGeom>
          <a:noFill/>
        </p:spPr>
        <p:txBody>
          <a:bodyPr wrap="square" anchor="ctr" lIns="0" rIns="0" tIns="0" bIns="0">
            <a:spAutoFit/>
          </a:bodyPr>
          <a:lstStyle/>
          <a:p>
            <a:pPr algn="ctr">
              <a:lnSpc>
                <a:spcPct val="110000"/>
              </a:lnSpc>
              <a:spcAft>
                <a:spcPts val="400"/>
              </a:spcAft>
            </a:pPr>
            <a:r>
              <a:rPr sz="950">
                <a:solidFill>
                  <a:srgbClr val="1F5FD6"/>
                </a:solidFill>
                <a:latin typeface="Segoe UI Semibold"/>
              </a:rPr>
              <a:t>input</a:t>
            </a:r>
          </a:p>
        </p:txBody>
      </p:sp>
      <p:sp>
        <p:nvSpPr>
          <p:cNvPr id="12" name="Rounded Rectangle 11"/>
          <p:cNvSpPr/>
          <p:nvPr/>
        </p:nvSpPr>
        <p:spPr>
          <a:xfrm>
            <a:off x="2898648" y="1737360"/>
            <a:ext cx="2011680" cy="1280160"/>
          </a:xfrm>
          <a:prstGeom prst="roundRect">
            <a:avLst>
              <a:gd name="adj" fmla="val 1571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81528" y="1883664"/>
            <a:ext cx="1645920" cy="292608"/>
          </a:xfrm>
          <a:prstGeom prst="rect">
            <a:avLst/>
          </a:prstGeom>
          <a:noFill/>
        </p:spPr>
        <p:txBody>
          <a:bodyPr wrap="square" anchor="t" lIns="0" rIns="0" tIns="0" bIns="0">
            <a:spAutoFit/>
          </a:bodyPr>
          <a:lstStyle/>
          <a:p>
            <a:pPr algn="l">
              <a:lnSpc>
                <a:spcPct val="110000"/>
              </a:lnSpc>
              <a:spcAft>
                <a:spcPts val="400"/>
              </a:spcAft>
            </a:pPr>
            <a:r>
              <a:rPr sz="1500">
                <a:solidFill>
                  <a:srgbClr val="111318"/>
                </a:solidFill>
                <a:latin typeface="Segoe UI Semibold"/>
              </a:rPr>
              <a:t>Language</a:t>
            </a:r>
          </a:p>
        </p:txBody>
      </p:sp>
      <p:sp>
        <p:nvSpPr>
          <p:cNvPr id="14" name="TextBox 13"/>
          <p:cNvSpPr txBox="1"/>
          <p:nvPr/>
        </p:nvSpPr>
        <p:spPr>
          <a:xfrm>
            <a:off x="3081528" y="2194560"/>
            <a:ext cx="1645920" cy="411480"/>
          </a:xfrm>
          <a:prstGeom prst="rect">
            <a:avLst/>
          </a:prstGeom>
          <a:noFill/>
        </p:spPr>
        <p:txBody>
          <a:bodyPr wrap="square" anchor="t" lIns="0" rIns="0" tIns="0" bIns="0">
            <a:spAutoFit/>
          </a:bodyPr>
          <a:lstStyle/>
          <a:p>
            <a:pPr algn="l">
              <a:lnSpc>
                <a:spcPct val="105000"/>
              </a:lnSpc>
              <a:spcAft>
                <a:spcPts val="400"/>
              </a:spcAft>
            </a:pPr>
            <a:r>
              <a:rPr sz="1150">
                <a:solidFill>
                  <a:srgbClr val="5F6570"/>
                </a:solidFill>
                <a:latin typeface="Segoe UI"/>
              </a:rPr>
              <a:t>Hinglish to English, offline rules</a:t>
            </a:r>
          </a:p>
        </p:txBody>
      </p:sp>
      <p:sp>
        <p:nvSpPr>
          <p:cNvPr id="15" name="Rounded Rectangle 14"/>
          <p:cNvSpPr/>
          <p:nvPr/>
        </p:nvSpPr>
        <p:spPr>
          <a:xfrm>
            <a:off x="3081528" y="2651760"/>
            <a:ext cx="941283" cy="228600"/>
          </a:xfrm>
          <a:prstGeom prst="roundRect">
            <a:avLst>
              <a:gd name="adj" fmla="val 50000"/>
            </a:avLst>
          </a:prstGeom>
          <a:solidFill>
            <a:srgbClr val="E6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81528" y="2651760"/>
            <a:ext cx="941283" cy="228600"/>
          </a:xfrm>
          <a:prstGeom prst="rect">
            <a:avLst/>
          </a:prstGeom>
          <a:noFill/>
        </p:spPr>
        <p:txBody>
          <a:bodyPr wrap="square" anchor="ctr" lIns="0" rIns="0" tIns="0" bIns="0">
            <a:spAutoFit/>
          </a:bodyPr>
          <a:lstStyle/>
          <a:p>
            <a:pPr algn="ctr">
              <a:lnSpc>
                <a:spcPct val="110000"/>
              </a:lnSpc>
              <a:spcAft>
                <a:spcPts val="400"/>
              </a:spcAft>
            </a:pPr>
            <a:r>
              <a:rPr sz="950">
                <a:solidFill>
                  <a:srgbClr val="5F6570"/>
                </a:solidFill>
                <a:latin typeface="Segoe UI Semibold"/>
              </a:rPr>
              <a:t>code, no LLM</a:t>
            </a:r>
          </a:p>
        </p:txBody>
      </p:sp>
      <p:sp>
        <p:nvSpPr>
          <p:cNvPr id="17" name="Rounded Rectangle 16"/>
          <p:cNvSpPr/>
          <p:nvPr/>
        </p:nvSpPr>
        <p:spPr>
          <a:xfrm>
            <a:off x="5248656" y="1737360"/>
            <a:ext cx="2011680" cy="1280160"/>
          </a:xfrm>
          <a:prstGeom prst="roundRect">
            <a:avLst>
              <a:gd name="adj" fmla="val 1571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31536" y="1883664"/>
            <a:ext cx="1645920" cy="292608"/>
          </a:xfrm>
          <a:prstGeom prst="rect">
            <a:avLst/>
          </a:prstGeom>
          <a:noFill/>
        </p:spPr>
        <p:txBody>
          <a:bodyPr wrap="square" anchor="t" lIns="0" rIns="0" tIns="0" bIns="0">
            <a:spAutoFit/>
          </a:bodyPr>
          <a:lstStyle/>
          <a:p>
            <a:pPr algn="l">
              <a:lnSpc>
                <a:spcPct val="110000"/>
              </a:lnSpc>
              <a:spcAft>
                <a:spcPts val="400"/>
              </a:spcAft>
            </a:pPr>
            <a:r>
              <a:rPr sz="1500">
                <a:solidFill>
                  <a:srgbClr val="111318"/>
                </a:solidFill>
                <a:latin typeface="Segoe UI Semibold"/>
              </a:rPr>
              <a:t>Memory</a:t>
            </a:r>
          </a:p>
        </p:txBody>
      </p:sp>
      <p:sp>
        <p:nvSpPr>
          <p:cNvPr id="19" name="TextBox 18"/>
          <p:cNvSpPr txBox="1"/>
          <p:nvPr/>
        </p:nvSpPr>
        <p:spPr>
          <a:xfrm>
            <a:off x="5431536" y="2194560"/>
            <a:ext cx="1645920" cy="411480"/>
          </a:xfrm>
          <a:prstGeom prst="rect">
            <a:avLst/>
          </a:prstGeom>
          <a:noFill/>
        </p:spPr>
        <p:txBody>
          <a:bodyPr wrap="square" anchor="t" lIns="0" rIns="0" tIns="0" bIns="0">
            <a:spAutoFit/>
          </a:bodyPr>
          <a:lstStyle/>
          <a:p>
            <a:pPr algn="l">
              <a:lnSpc>
                <a:spcPct val="105000"/>
              </a:lnSpc>
              <a:spcAft>
                <a:spcPts val="400"/>
              </a:spcAft>
            </a:pPr>
            <a:r>
              <a:rPr sz="1150">
                <a:solidFill>
                  <a:srgbClr val="5F6570"/>
                </a:solidFill>
                <a:latin typeface="Segoe UI"/>
              </a:rPr>
              <a:t>exact or same-meaning match, symptom guard</a:t>
            </a:r>
          </a:p>
        </p:txBody>
      </p:sp>
      <p:sp>
        <p:nvSpPr>
          <p:cNvPr id="20" name="Rounded Rectangle 19"/>
          <p:cNvSpPr/>
          <p:nvPr/>
        </p:nvSpPr>
        <p:spPr>
          <a:xfrm>
            <a:off x="5431536" y="2651760"/>
            <a:ext cx="941283" cy="228600"/>
          </a:xfrm>
          <a:prstGeom prst="roundRect">
            <a:avLst>
              <a:gd name="adj" fmla="val 50000"/>
            </a:avLst>
          </a:prstGeom>
          <a:solidFill>
            <a:srgbClr val="E6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31536" y="2651760"/>
            <a:ext cx="941283" cy="228600"/>
          </a:xfrm>
          <a:prstGeom prst="rect">
            <a:avLst/>
          </a:prstGeom>
          <a:noFill/>
        </p:spPr>
        <p:txBody>
          <a:bodyPr wrap="square" anchor="ctr" lIns="0" rIns="0" tIns="0" bIns="0">
            <a:spAutoFit/>
          </a:bodyPr>
          <a:lstStyle/>
          <a:p>
            <a:pPr algn="ctr">
              <a:lnSpc>
                <a:spcPct val="110000"/>
              </a:lnSpc>
              <a:spcAft>
                <a:spcPts val="400"/>
              </a:spcAft>
            </a:pPr>
            <a:r>
              <a:rPr sz="950">
                <a:solidFill>
                  <a:srgbClr val="5F6570"/>
                </a:solidFill>
                <a:latin typeface="Segoe UI Semibold"/>
              </a:rPr>
              <a:t>code, no LLM</a:t>
            </a:r>
          </a:p>
        </p:txBody>
      </p:sp>
      <p:sp>
        <p:nvSpPr>
          <p:cNvPr id="22" name="Rounded Rectangle 21"/>
          <p:cNvSpPr/>
          <p:nvPr/>
        </p:nvSpPr>
        <p:spPr>
          <a:xfrm>
            <a:off x="9628632" y="1737360"/>
            <a:ext cx="2011680" cy="1280160"/>
          </a:xfrm>
          <a:prstGeom prst="roundRect">
            <a:avLst>
              <a:gd name="adj" fmla="val 15714"/>
            </a:avLst>
          </a:prstGeom>
          <a:solidFill>
            <a:srgbClr val="DF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11511" y="1883664"/>
            <a:ext cx="1645920" cy="292608"/>
          </a:xfrm>
          <a:prstGeom prst="rect">
            <a:avLst/>
          </a:prstGeom>
          <a:noFill/>
        </p:spPr>
        <p:txBody>
          <a:bodyPr wrap="square" anchor="t" lIns="0" rIns="0" tIns="0" bIns="0">
            <a:spAutoFit/>
          </a:bodyPr>
          <a:lstStyle/>
          <a:p>
            <a:pPr algn="l">
              <a:lnSpc>
                <a:spcPct val="110000"/>
              </a:lnSpc>
              <a:spcAft>
                <a:spcPts val="400"/>
              </a:spcAft>
            </a:pPr>
            <a:r>
              <a:rPr sz="1500">
                <a:solidFill>
                  <a:srgbClr val="13805B"/>
                </a:solidFill>
                <a:latin typeface="Segoe UI Semibold"/>
              </a:rPr>
              <a:t>Answer</a:t>
            </a:r>
          </a:p>
        </p:txBody>
      </p:sp>
      <p:sp>
        <p:nvSpPr>
          <p:cNvPr id="24" name="TextBox 23"/>
          <p:cNvSpPr txBox="1"/>
          <p:nvPr/>
        </p:nvSpPr>
        <p:spPr>
          <a:xfrm>
            <a:off x="9811511" y="2194560"/>
            <a:ext cx="1645920" cy="640080"/>
          </a:xfrm>
          <a:prstGeom prst="rect">
            <a:avLst/>
          </a:prstGeom>
          <a:noFill/>
        </p:spPr>
        <p:txBody>
          <a:bodyPr wrap="square" anchor="t" lIns="0" rIns="0" tIns="0" bIns="0">
            <a:spAutoFit/>
          </a:bodyPr>
          <a:lstStyle/>
          <a:p>
            <a:pPr algn="l">
              <a:lnSpc>
                <a:spcPct val="105000"/>
              </a:lnSpc>
              <a:spcAft>
                <a:spcPts val="400"/>
              </a:spcAft>
            </a:pPr>
            <a:r>
              <a:rPr sz="1150">
                <a:solidFill>
                  <a:srgbClr val="111318"/>
                </a:solidFill>
                <a:latin typeface="Segoe UI"/>
              </a:rPr>
              <a:t>pure JSON plan, then saved to memory</a:t>
            </a:r>
          </a:p>
        </p:txBody>
      </p:sp>
      <p:sp>
        <p:nvSpPr>
          <p:cNvPr id="25" name="Rounded Rectangle 24"/>
          <p:cNvSpPr/>
          <p:nvPr/>
        </p:nvSpPr>
        <p:spPr>
          <a:xfrm>
            <a:off x="548640" y="3840480"/>
            <a:ext cx="2011680" cy="1280160"/>
          </a:xfrm>
          <a:prstGeom prst="roundRect">
            <a:avLst>
              <a:gd name="adj" fmla="val 1571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986784"/>
            <a:ext cx="1645920" cy="292608"/>
          </a:xfrm>
          <a:prstGeom prst="rect">
            <a:avLst/>
          </a:prstGeom>
          <a:noFill/>
        </p:spPr>
        <p:txBody>
          <a:bodyPr wrap="square" anchor="t" lIns="0" rIns="0" tIns="0" bIns="0">
            <a:spAutoFit/>
          </a:bodyPr>
          <a:lstStyle/>
          <a:p>
            <a:pPr algn="l">
              <a:lnSpc>
                <a:spcPct val="110000"/>
              </a:lnSpc>
              <a:spcAft>
                <a:spcPts val="400"/>
              </a:spcAft>
            </a:pPr>
            <a:r>
              <a:rPr sz="1500">
                <a:solidFill>
                  <a:srgbClr val="111318"/>
                </a:solidFill>
                <a:latin typeface="Segoe UI Semibold"/>
              </a:rPr>
              <a:t>1  Understand</a:t>
            </a:r>
          </a:p>
        </p:txBody>
      </p:sp>
      <p:sp>
        <p:nvSpPr>
          <p:cNvPr id="27" name="TextBox 26"/>
          <p:cNvSpPr txBox="1"/>
          <p:nvPr/>
        </p:nvSpPr>
        <p:spPr>
          <a:xfrm>
            <a:off x="731520" y="4297680"/>
            <a:ext cx="1645920" cy="411480"/>
          </a:xfrm>
          <a:prstGeom prst="rect">
            <a:avLst/>
          </a:prstGeom>
          <a:noFill/>
        </p:spPr>
        <p:txBody>
          <a:bodyPr wrap="square" anchor="t" lIns="0" rIns="0" tIns="0" bIns="0">
            <a:spAutoFit/>
          </a:bodyPr>
          <a:lstStyle/>
          <a:p>
            <a:pPr algn="l">
              <a:lnSpc>
                <a:spcPct val="105000"/>
              </a:lnSpc>
              <a:spcAft>
                <a:spcPts val="400"/>
              </a:spcAft>
            </a:pPr>
            <a:r>
              <a:rPr sz="1150">
                <a:solidFill>
                  <a:srgbClr val="5F6570"/>
                </a:solidFill>
                <a:latin typeface="Segoe UI"/>
              </a:rPr>
              <a:t>normalise, split problems, 8 to 10 rewordings</a:t>
            </a:r>
          </a:p>
        </p:txBody>
      </p:sp>
      <p:sp>
        <p:nvSpPr>
          <p:cNvPr id="28" name="Rounded Rectangle 27"/>
          <p:cNvSpPr/>
          <p:nvPr/>
        </p:nvSpPr>
        <p:spPr>
          <a:xfrm>
            <a:off x="731520" y="4754879"/>
            <a:ext cx="941283" cy="228600"/>
          </a:xfrm>
          <a:prstGeom prst="roundRect">
            <a:avLst>
              <a:gd name="adj" fmla="val 50000"/>
            </a:avLst>
          </a:prstGeom>
          <a:solidFill>
            <a:srgbClr val="EE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754879"/>
            <a:ext cx="941283" cy="228600"/>
          </a:xfrm>
          <a:prstGeom prst="rect">
            <a:avLst/>
          </a:prstGeom>
          <a:noFill/>
        </p:spPr>
        <p:txBody>
          <a:bodyPr wrap="square" anchor="ctr" lIns="0" rIns="0" tIns="0" bIns="0">
            <a:spAutoFit/>
          </a:bodyPr>
          <a:lstStyle/>
          <a:p>
            <a:pPr algn="ctr">
              <a:lnSpc>
                <a:spcPct val="110000"/>
              </a:lnSpc>
              <a:spcAft>
                <a:spcPts val="400"/>
              </a:spcAft>
            </a:pPr>
            <a:r>
              <a:rPr sz="950">
                <a:solidFill>
                  <a:srgbClr val="5B3DB8"/>
                </a:solidFill>
                <a:latin typeface="Segoe UI Semibold"/>
              </a:rPr>
              <a:t>LLM or rules</a:t>
            </a:r>
          </a:p>
        </p:txBody>
      </p:sp>
      <p:sp>
        <p:nvSpPr>
          <p:cNvPr id="30" name="Rounded Rectangle 29"/>
          <p:cNvSpPr/>
          <p:nvPr/>
        </p:nvSpPr>
        <p:spPr>
          <a:xfrm>
            <a:off x="2898648" y="3840480"/>
            <a:ext cx="2011680" cy="1280160"/>
          </a:xfrm>
          <a:prstGeom prst="roundRect">
            <a:avLst>
              <a:gd name="adj" fmla="val 1571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81528" y="3986784"/>
            <a:ext cx="1645920" cy="292608"/>
          </a:xfrm>
          <a:prstGeom prst="rect">
            <a:avLst/>
          </a:prstGeom>
          <a:noFill/>
        </p:spPr>
        <p:txBody>
          <a:bodyPr wrap="square" anchor="t" lIns="0" rIns="0" tIns="0" bIns="0">
            <a:spAutoFit/>
          </a:bodyPr>
          <a:lstStyle/>
          <a:p>
            <a:pPr algn="l">
              <a:lnSpc>
                <a:spcPct val="110000"/>
              </a:lnSpc>
              <a:spcAft>
                <a:spcPts val="400"/>
              </a:spcAft>
            </a:pPr>
            <a:r>
              <a:rPr sz="1500">
                <a:solidFill>
                  <a:srgbClr val="111318"/>
                </a:solidFill>
                <a:latin typeface="Segoe UI Semibold"/>
              </a:rPr>
              <a:t>2  Extract</a:t>
            </a:r>
          </a:p>
        </p:txBody>
      </p:sp>
      <p:sp>
        <p:nvSpPr>
          <p:cNvPr id="32" name="TextBox 31"/>
          <p:cNvSpPr txBox="1"/>
          <p:nvPr/>
        </p:nvSpPr>
        <p:spPr>
          <a:xfrm>
            <a:off x="3081528" y="4297680"/>
            <a:ext cx="1645920" cy="411480"/>
          </a:xfrm>
          <a:prstGeom prst="rect">
            <a:avLst/>
          </a:prstGeom>
          <a:noFill/>
        </p:spPr>
        <p:txBody>
          <a:bodyPr wrap="square" anchor="t" lIns="0" rIns="0" tIns="0" bIns="0">
            <a:spAutoFit/>
          </a:bodyPr>
          <a:lstStyle/>
          <a:p>
            <a:pPr algn="l">
              <a:lnSpc>
                <a:spcPct val="105000"/>
              </a:lnSpc>
              <a:spcAft>
                <a:spcPts val="400"/>
              </a:spcAft>
            </a:pPr>
            <a:r>
              <a:rPr sz="1150">
                <a:solidFill>
                  <a:srgbClr val="5F6570"/>
                </a:solidFill>
                <a:latin typeface="Segoe UI"/>
              </a:rPr>
              <a:t>steps from the article, each citing its sentence</a:t>
            </a:r>
          </a:p>
        </p:txBody>
      </p:sp>
      <p:sp>
        <p:nvSpPr>
          <p:cNvPr id="33" name="Rounded Rectangle 32"/>
          <p:cNvSpPr/>
          <p:nvPr/>
        </p:nvSpPr>
        <p:spPr>
          <a:xfrm>
            <a:off x="3081528" y="4754879"/>
            <a:ext cx="941283" cy="228600"/>
          </a:xfrm>
          <a:prstGeom prst="roundRect">
            <a:avLst>
              <a:gd name="adj" fmla="val 50000"/>
            </a:avLst>
          </a:prstGeom>
          <a:solidFill>
            <a:srgbClr val="EE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81528" y="4754879"/>
            <a:ext cx="941283" cy="228600"/>
          </a:xfrm>
          <a:prstGeom prst="rect">
            <a:avLst/>
          </a:prstGeom>
          <a:noFill/>
        </p:spPr>
        <p:txBody>
          <a:bodyPr wrap="square" anchor="ctr" lIns="0" rIns="0" tIns="0" bIns="0">
            <a:spAutoFit/>
          </a:bodyPr>
          <a:lstStyle/>
          <a:p>
            <a:pPr algn="ctr">
              <a:lnSpc>
                <a:spcPct val="110000"/>
              </a:lnSpc>
              <a:spcAft>
                <a:spcPts val="400"/>
              </a:spcAft>
            </a:pPr>
            <a:r>
              <a:rPr sz="950">
                <a:solidFill>
                  <a:srgbClr val="5B3DB8"/>
                </a:solidFill>
                <a:latin typeface="Segoe UI Semibold"/>
              </a:rPr>
              <a:t>LLM or rules</a:t>
            </a:r>
          </a:p>
        </p:txBody>
      </p:sp>
      <p:sp>
        <p:nvSpPr>
          <p:cNvPr id="35" name="Rounded Rectangle 34"/>
          <p:cNvSpPr/>
          <p:nvPr/>
        </p:nvSpPr>
        <p:spPr>
          <a:xfrm>
            <a:off x="5248656" y="3840480"/>
            <a:ext cx="2011680" cy="1280160"/>
          </a:xfrm>
          <a:prstGeom prst="roundRect">
            <a:avLst>
              <a:gd name="adj" fmla="val 1571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31536" y="3986784"/>
            <a:ext cx="1645920" cy="292608"/>
          </a:xfrm>
          <a:prstGeom prst="rect">
            <a:avLst/>
          </a:prstGeom>
          <a:noFill/>
        </p:spPr>
        <p:txBody>
          <a:bodyPr wrap="square" anchor="t" lIns="0" rIns="0" tIns="0" bIns="0">
            <a:spAutoFit/>
          </a:bodyPr>
          <a:lstStyle/>
          <a:p>
            <a:pPr algn="l">
              <a:lnSpc>
                <a:spcPct val="110000"/>
              </a:lnSpc>
              <a:spcAft>
                <a:spcPts val="400"/>
              </a:spcAft>
            </a:pPr>
            <a:r>
              <a:rPr sz="1500">
                <a:solidFill>
                  <a:srgbClr val="111318"/>
                </a:solidFill>
                <a:latin typeface="Segoe UI Semibold"/>
              </a:rPr>
              <a:t>3  Deeplinks</a:t>
            </a:r>
          </a:p>
        </p:txBody>
      </p:sp>
      <p:sp>
        <p:nvSpPr>
          <p:cNvPr id="37" name="TextBox 36"/>
          <p:cNvSpPr txBox="1"/>
          <p:nvPr/>
        </p:nvSpPr>
        <p:spPr>
          <a:xfrm>
            <a:off x="5431536" y="4297680"/>
            <a:ext cx="1645920" cy="411480"/>
          </a:xfrm>
          <a:prstGeom prst="rect">
            <a:avLst/>
          </a:prstGeom>
          <a:noFill/>
        </p:spPr>
        <p:txBody>
          <a:bodyPr wrap="square" anchor="t" lIns="0" rIns="0" tIns="0" bIns="0">
            <a:spAutoFit/>
          </a:bodyPr>
          <a:lstStyle/>
          <a:p>
            <a:pPr algn="l">
              <a:lnSpc>
                <a:spcPct val="105000"/>
              </a:lnSpc>
              <a:spcAft>
                <a:spcPts val="400"/>
              </a:spcAft>
            </a:pPr>
            <a:r>
              <a:rPr sz="1150">
                <a:solidFill>
                  <a:srgbClr val="5F6570"/>
                </a:solidFill>
                <a:latin typeface="Segoe UI"/>
              </a:rPr>
              <a:t>hybrid search over the 578-entry catalog</a:t>
            </a:r>
          </a:p>
        </p:txBody>
      </p:sp>
      <p:sp>
        <p:nvSpPr>
          <p:cNvPr id="38" name="Rounded Rectangle 37"/>
          <p:cNvSpPr/>
          <p:nvPr/>
        </p:nvSpPr>
        <p:spPr>
          <a:xfrm>
            <a:off x="5431536" y="4754879"/>
            <a:ext cx="941283" cy="228600"/>
          </a:xfrm>
          <a:prstGeom prst="roundRect">
            <a:avLst>
              <a:gd name="adj" fmla="val 50000"/>
            </a:avLst>
          </a:prstGeom>
          <a:solidFill>
            <a:srgbClr val="E6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31536" y="4754879"/>
            <a:ext cx="941283" cy="228600"/>
          </a:xfrm>
          <a:prstGeom prst="rect">
            <a:avLst/>
          </a:prstGeom>
          <a:noFill/>
        </p:spPr>
        <p:txBody>
          <a:bodyPr wrap="square" anchor="ctr" lIns="0" rIns="0" tIns="0" bIns="0">
            <a:spAutoFit/>
          </a:bodyPr>
          <a:lstStyle/>
          <a:p>
            <a:pPr algn="ctr">
              <a:lnSpc>
                <a:spcPct val="110000"/>
              </a:lnSpc>
              <a:spcAft>
                <a:spcPts val="400"/>
              </a:spcAft>
            </a:pPr>
            <a:r>
              <a:rPr sz="950">
                <a:solidFill>
                  <a:srgbClr val="5F6570"/>
                </a:solidFill>
                <a:latin typeface="Segoe UI Semibold"/>
              </a:rPr>
              <a:t>code, no LLM</a:t>
            </a:r>
          </a:p>
        </p:txBody>
      </p:sp>
      <p:sp>
        <p:nvSpPr>
          <p:cNvPr id="40" name="Rounded Rectangle 39"/>
          <p:cNvSpPr/>
          <p:nvPr/>
        </p:nvSpPr>
        <p:spPr>
          <a:xfrm>
            <a:off x="7461504" y="3840480"/>
            <a:ext cx="2148840" cy="1280160"/>
          </a:xfrm>
          <a:prstGeom prst="roundRect">
            <a:avLst>
              <a:gd name="adj" fmla="val 1571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44383" y="3986784"/>
            <a:ext cx="1783080" cy="292608"/>
          </a:xfrm>
          <a:prstGeom prst="rect">
            <a:avLst/>
          </a:prstGeom>
          <a:noFill/>
        </p:spPr>
        <p:txBody>
          <a:bodyPr wrap="square" anchor="t" lIns="0" rIns="0" tIns="0" bIns="0">
            <a:spAutoFit/>
          </a:bodyPr>
          <a:lstStyle/>
          <a:p>
            <a:pPr algn="l">
              <a:lnSpc>
                <a:spcPct val="110000"/>
              </a:lnSpc>
              <a:spcAft>
                <a:spcPts val="400"/>
              </a:spcAft>
            </a:pPr>
            <a:r>
              <a:rPr sz="1500">
                <a:solidFill>
                  <a:srgbClr val="111318"/>
                </a:solidFill>
                <a:latin typeface="Segoe UI Semibold"/>
              </a:rPr>
              <a:t>4  Contract gate</a:t>
            </a:r>
          </a:p>
        </p:txBody>
      </p:sp>
      <p:sp>
        <p:nvSpPr>
          <p:cNvPr id="42" name="TextBox 41"/>
          <p:cNvSpPr txBox="1"/>
          <p:nvPr/>
        </p:nvSpPr>
        <p:spPr>
          <a:xfrm>
            <a:off x="7644383" y="4297680"/>
            <a:ext cx="1783080" cy="411480"/>
          </a:xfrm>
          <a:prstGeom prst="rect">
            <a:avLst/>
          </a:prstGeom>
          <a:noFill/>
        </p:spPr>
        <p:txBody>
          <a:bodyPr wrap="square" anchor="t" lIns="0" rIns="0" tIns="0" bIns="0">
            <a:spAutoFit/>
          </a:bodyPr>
          <a:lstStyle/>
          <a:p>
            <a:pPr algn="l">
              <a:lnSpc>
                <a:spcPct val="105000"/>
              </a:lnSpc>
              <a:spcAft>
                <a:spcPts val="400"/>
              </a:spcAft>
            </a:pPr>
            <a:r>
              <a:rPr sz="1150">
                <a:solidFill>
                  <a:srgbClr val="5F6570"/>
                </a:solidFill>
                <a:latin typeface="Segoe UI"/>
              </a:rPr>
              <a:t>every rule checked in code</a:t>
            </a:r>
          </a:p>
        </p:txBody>
      </p:sp>
      <p:sp>
        <p:nvSpPr>
          <p:cNvPr id="43" name="Rounded Rectangle 42"/>
          <p:cNvSpPr/>
          <p:nvPr/>
        </p:nvSpPr>
        <p:spPr>
          <a:xfrm>
            <a:off x="7644383" y="4754879"/>
            <a:ext cx="941283" cy="228600"/>
          </a:xfrm>
          <a:prstGeom prst="roundRect">
            <a:avLst>
              <a:gd name="adj" fmla="val 50000"/>
            </a:avLst>
          </a:prstGeom>
          <a:solidFill>
            <a:srgbClr val="E6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44383" y="4754879"/>
            <a:ext cx="941283" cy="228600"/>
          </a:xfrm>
          <a:prstGeom prst="rect">
            <a:avLst/>
          </a:prstGeom>
          <a:noFill/>
        </p:spPr>
        <p:txBody>
          <a:bodyPr wrap="square" anchor="ctr" lIns="0" rIns="0" tIns="0" bIns="0">
            <a:spAutoFit/>
          </a:bodyPr>
          <a:lstStyle/>
          <a:p>
            <a:pPr algn="ctr">
              <a:lnSpc>
                <a:spcPct val="110000"/>
              </a:lnSpc>
              <a:spcAft>
                <a:spcPts val="400"/>
              </a:spcAft>
            </a:pPr>
            <a:r>
              <a:rPr sz="950">
                <a:solidFill>
                  <a:srgbClr val="5F6570"/>
                </a:solidFill>
                <a:latin typeface="Segoe UI Semibold"/>
              </a:rPr>
              <a:t>code, no LLM</a:t>
            </a:r>
          </a:p>
        </p:txBody>
      </p:sp>
      <p:cxnSp>
        <p:nvCxnSpPr>
          <p:cNvPr id="45" name="Connector 44"/>
          <p:cNvCxnSpPr/>
          <p:nvPr/>
        </p:nvCxnSpPr>
        <p:spPr>
          <a:xfrm>
            <a:off x="2560320" y="2377439"/>
            <a:ext cx="338328" cy="0"/>
          </a:xfrm>
          <a:prstGeom prst="line">
            <a:avLst/>
          </a:prstGeom>
          <a:ln w="22225">
            <a:solidFill>
              <a:srgbClr val="5F657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910328" y="2377439"/>
            <a:ext cx="338328" cy="0"/>
          </a:xfrm>
          <a:prstGeom prst="line">
            <a:avLst/>
          </a:prstGeom>
          <a:ln w="22225">
            <a:solidFill>
              <a:srgbClr val="5F657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7260336" y="2377439"/>
            <a:ext cx="2368296" cy="0"/>
          </a:xfrm>
          <a:prstGeom prst="line">
            <a:avLst/>
          </a:prstGeom>
          <a:ln w="31750">
            <a:solidFill>
              <a:srgbClr val="1F5FD6"/>
            </a:solidFill>
            <a:tailEnd type="triangle" w="med" h="med"/>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443216" y="1828800"/>
            <a:ext cx="2103120" cy="502920"/>
          </a:xfrm>
          <a:prstGeom prst="rect">
            <a:avLst/>
          </a:prstGeom>
          <a:noFill/>
        </p:spPr>
        <p:txBody>
          <a:bodyPr wrap="square" anchor="t" lIns="0" rIns="0" tIns="0" bIns="0">
            <a:spAutoFit/>
          </a:bodyPr>
          <a:lstStyle/>
          <a:p>
            <a:pPr algn="l">
              <a:lnSpc>
                <a:spcPct val="110000"/>
              </a:lnSpc>
              <a:spcAft>
                <a:spcPts val="0"/>
              </a:spcAft>
            </a:pPr>
            <a:r>
              <a:rPr sz="1300">
                <a:solidFill>
                  <a:srgbClr val="1F5FD6"/>
                </a:solidFill>
                <a:latin typeface="Segoe UI Semibold"/>
              </a:rPr>
              <a:t>Seen before</a:t>
            </a:r>
          </a:p>
          <a:p>
            <a:pPr algn="l">
              <a:lnSpc>
                <a:spcPct val="110000"/>
              </a:lnSpc>
              <a:spcAft>
                <a:spcPts val="0"/>
              </a:spcAft>
            </a:pPr>
            <a:r>
              <a:rPr sz="1200">
                <a:solidFill>
                  <a:srgbClr val="1F5FD6"/>
                </a:solidFill>
                <a:latin typeface="Segoe UI"/>
              </a:rPr>
              <a:t>1 to 82 ms, $0, no LLM</a:t>
            </a:r>
          </a:p>
        </p:txBody>
      </p:sp>
      <p:cxnSp>
        <p:nvCxnSpPr>
          <p:cNvPr id="49" name="Connector 48"/>
          <p:cNvCxnSpPr/>
          <p:nvPr/>
        </p:nvCxnSpPr>
        <p:spPr>
          <a:xfrm>
            <a:off x="6254496" y="3017520"/>
            <a:ext cx="0" cy="411480"/>
          </a:xfrm>
          <a:prstGeom prst="line">
            <a:avLst/>
          </a:prstGeom>
          <a:ln w="22225">
            <a:solidFill>
              <a:srgbClr val="5F6570"/>
            </a:solidFill>
            <a:tailEnd type="triangle" w="med" h="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364224" y="3090672"/>
            <a:ext cx="1463040" cy="274320"/>
          </a:xfrm>
          <a:prstGeom prst="rect">
            <a:avLst/>
          </a:prstGeom>
          <a:noFill/>
        </p:spPr>
        <p:txBody>
          <a:bodyPr wrap="square" anchor="t" lIns="0" rIns="0" tIns="0" bIns="0">
            <a:spAutoFit/>
          </a:bodyPr>
          <a:lstStyle/>
          <a:p>
            <a:pPr algn="l">
              <a:lnSpc>
                <a:spcPct val="110000"/>
              </a:lnSpc>
              <a:spcAft>
                <a:spcPts val="400"/>
              </a:spcAft>
            </a:pPr>
            <a:r>
              <a:rPr sz="1200">
                <a:solidFill>
                  <a:srgbClr val="5F6570"/>
                </a:solidFill>
                <a:latin typeface="Segoe UI"/>
              </a:rPr>
              <a:t>new problem</a:t>
            </a:r>
          </a:p>
        </p:txBody>
      </p:sp>
      <p:cxnSp>
        <p:nvCxnSpPr>
          <p:cNvPr id="51" name="Connector 50"/>
          <p:cNvCxnSpPr/>
          <p:nvPr/>
        </p:nvCxnSpPr>
        <p:spPr>
          <a:xfrm>
            <a:off x="1554480" y="3429000"/>
            <a:ext cx="4700016" cy="0"/>
          </a:xfrm>
          <a:prstGeom prst="line">
            <a:avLst/>
          </a:prstGeom>
          <a:ln w="22225">
            <a:solidFill>
              <a:srgbClr val="5F657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554480" y="3429000"/>
            <a:ext cx="0" cy="411480"/>
          </a:xfrm>
          <a:prstGeom prst="line">
            <a:avLst/>
          </a:prstGeom>
          <a:ln w="22225">
            <a:solidFill>
              <a:srgbClr val="5F657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2560320" y="4480560"/>
            <a:ext cx="338328" cy="0"/>
          </a:xfrm>
          <a:prstGeom prst="line">
            <a:avLst/>
          </a:prstGeom>
          <a:ln w="22225">
            <a:solidFill>
              <a:srgbClr val="5F657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4910328" y="4480560"/>
            <a:ext cx="338328" cy="0"/>
          </a:xfrm>
          <a:prstGeom prst="line">
            <a:avLst/>
          </a:prstGeom>
          <a:ln w="22225">
            <a:solidFill>
              <a:srgbClr val="5F657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260336" y="4480560"/>
            <a:ext cx="201168" cy="0"/>
          </a:xfrm>
          <a:prstGeom prst="line">
            <a:avLst/>
          </a:prstGeom>
          <a:ln w="22225">
            <a:solidFill>
              <a:srgbClr val="5F657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610344" y="4480560"/>
            <a:ext cx="1024128" cy="0"/>
          </a:xfrm>
          <a:prstGeom prst="line">
            <a:avLst/>
          </a:prstGeom>
          <a:ln w="22225">
            <a:solidFill>
              <a:srgbClr val="5F657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10634472" y="3017520"/>
            <a:ext cx="0" cy="1463040"/>
          </a:xfrm>
          <a:prstGeom prst="line">
            <a:avLst/>
          </a:prstGeom>
          <a:ln w="22225">
            <a:solidFill>
              <a:srgbClr val="5F6570"/>
            </a:solidFill>
            <a:tailEnd type="triangle" w="med" h="med"/>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548640" y="5440680"/>
            <a:ext cx="512064" cy="512064"/>
          </a:xfrm>
          <a:prstGeom prst="roundRect">
            <a:avLst>
              <a:gd name="adj" fmla="val 30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Picture 58" descr="offline.png"/>
          <p:cNvPicPr>
            <a:picLocks noChangeAspect="1"/>
          </p:cNvPicPr>
          <p:nvPr/>
        </p:nvPicPr>
        <p:blipFill>
          <a:blip r:embed="rId2"/>
          <a:stretch>
            <a:fillRect/>
          </a:stretch>
        </p:blipFill>
        <p:spPr>
          <a:xfrm>
            <a:off x="651052" y="5543092"/>
            <a:ext cx="307238" cy="307238"/>
          </a:xfrm>
          <a:prstGeom prst="rect">
            <a:avLst/>
          </a:prstGeom>
        </p:spPr>
      </p:pic>
      <p:sp>
        <p:nvSpPr>
          <p:cNvPr id="60" name="TextBox 59"/>
          <p:cNvSpPr txBox="1"/>
          <p:nvPr/>
        </p:nvSpPr>
        <p:spPr>
          <a:xfrm>
            <a:off x="1234440" y="5394960"/>
            <a:ext cx="2926080" cy="822960"/>
          </a:xfrm>
          <a:prstGeom prst="rect">
            <a:avLst/>
          </a:prstGeom>
          <a:noFill/>
        </p:spPr>
        <p:txBody>
          <a:bodyPr wrap="square" anchor="t" lIns="0" rIns="0" tIns="0" bIns="0">
            <a:spAutoFit/>
          </a:bodyPr>
          <a:lstStyle/>
          <a:p>
            <a:pPr algn="l">
              <a:lnSpc>
                <a:spcPct val="108000"/>
              </a:lnSpc>
              <a:spcAft>
                <a:spcPts val="200"/>
              </a:spcAft>
            </a:pPr>
            <a:r>
              <a:rPr sz="1450">
                <a:solidFill>
                  <a:srgbClr val="111318"/>
                </a:solidFill>
                <a:latin typeface="Segoe UI Semibold"/>
              </a:rPr>
              <a:t>Runs with no AI key</a:t>
            </a:r>
          </a:p>
          <a:p>
            <a:pPr algn="l">
              <a:lnSpc>
                <a:spcPct val="108000"/>
              </a:lnSpc>
              <a:spcAft>
                <a:spcPts val="200"/>
              </a:spcAft>
            </a:pPr>
            <a:r>
              <a:rPr sz="1200">
                <a:solidFill>
                  <a:srgbClr val="5F6570"/>
                </a:solidFill>
                <a:latin typeface="Segoe UI"/>
              </a:rPr>
              <a:t>Every LLM stage has a rules path. CPU only, one Docker image.</a:t>
            </a:r>
          </a:p>
        </p:txBody>
      </p:sp>
      <p:sp>
        <p:nvSpPr>
          <p:cNvPr id="61" name="Rounded Rectangle 60"/>
          <p:cNvSpPr/>
          <p:nvPr/>
        </p:nvSpPr>
        <p:spPr>
          <a:xfrm>
            <a:off x="4297679" y="5440680"/>
            <a:ext cx="512064" cy="512064"/>
          </a:xfrm>
          <a:prstGeom prst="roundRect">
            <a:avLst>
              <a:gd name="adj" fmla="val 30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2" name="Picture 61" descr="bolt.png"/>
          <p:cNvPicPr>
            <a:picLocks noChangeAspect="1"/>
          </p:cNvPicPr>
          <p:nvPr/>
        </p:nvPicPr>
        <p:blipFill>
          <a:blip r:embed="rId3"/>
          <a:stretch>
            <a:fillRect/>
          </a:stretch>
        </p:blipFill>
        <p:spPr>
          <a:xfrm>
            <a:off x="4400092" y="5543092"/>
            <a:ext cx="307238" cy="307238"/>
          </a:xfrm>
          <a:prstGeom prst="rect">
            <a:avLst/>
          </a:prstGeom>
        </p:spPr>
      </p:pic>
      <p:sp>
        <p:nvSpPr>
          <p:cNvPr id="63" name="TextBox 62"/>
          <p:cNvSpPr txBox="1"/>
          <p:nvPr/>
        </p:nvSpPr>
        <p:spPr>
          <a:xfrm>
            <a:off x="4983479" y="5394960"/>
            <a:ext cx="2926080" cy="822960"/>
          </a:xfrm>
          <a:prstGeom prst="rect">
            <a:avLst/>
          </a:prstGeom>
          <a:noFill/>
        </p:spPr>
        <p:txBody>
          <a:bodyPr wrap="square" anchor="t" lIns="0" rIns="0" tIns="0" bIns="0">
            <a:spAutoFit/>
          </a:bodyPr>
          <a:lstStyle/>
          <a:p>
            <a:pPr algn="l">
              <a:lnSpc>
                <a:spcPct val="108000"/>
              </a:lnSpc>
              <a:spcAft>
                <a:spcPts val="200"/>
              </a:spcAft>
            </a:pPr>
            <a:r>
              <a:rPr sz="1450">
                <a:solidFill>
                  <a:srgbClr val="111318"/>
                </a:solidFill>
                <a:latin typeface="Segoe UI Semibold"/>
              </a:rPr>
              <a:t>Gemini is optional</a:t>
            </a:r>
          </a:p>
          <a:p>
            <a:pPr algn="l">
              <a:lnSpc>
                <a:spcPct val="108000"/>
              </a:lnSpc>
              <a:spcAft>
                <a:spcPts val="200"/>
              </a:spcAft>
            </a:pPr>
            <a:r>
              <a:rPr sz="1200">
                <a:solidFill>
                  <a:srgbClr val="5F6570"/>
                </a:solidFill>
                <a:latin typeface="Segoe UI"/>
              </a:rPr>
              <a:t>Flash-Lite with a model fallback chain and a 7 s budget per call, then rules.</a:t>
            </a:r>
          </a:p>
        </p:txBody>
      </p:sp>
      <p:sp>
        <p:nvSpPr>
          <p:cNvPr id="64" name="Rounded Rectangle 63"/>
          <p:cNvSpPr/>
          <p:nvPr/>
        </p:nvSpPr>
        <p:spPr>
          <a:xfrm>
            <a:off x="8046719" y="5440680"/>
            <a:ext cx="512064" cy="512064"/>
          </a:xfrm>
          <a:prstGeom prst="roundRect">
            <a:avLst>
              <a:gd name="adj" fmla="val 30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rule.png"/>
          <p:cNvPicPr>
            <a:picLocks noChangeAspect="1"/>
          </p:cNvPicPr>
          <p:nvPr/>
        </p:nvPicPr>
        <p:blipFill>
          <a:blip r:embed="rId4"/>
          <a:stretch>
            <a:fillRect/>
          </a:stretch>
        </p:blipFill>
        <p:spPr>
          <a:xfrm>
            <a:off x="8149132" y="5543092"/>
            <a:ext cx="307238" cy="307238"/>
          </a:xfrm>
          <a:prstGeom prst="rect">
            <a:avLst/>
          </a:prstGeom>
        </p:spPr>
      </p:pic>
      <p:sp>
        <p:nvSpPr>
          <p:cNvPr id="66" name="TextBox 65"/>
          <p:cNvSpPr txBox="1"/>
          <p:nvPr/>
        </p:nvSpPr>
        <p:spPr>
          <a:xfrm>
            <a:off x="8732519" y="5394960"/>
            <a:ext cx="2926080" cy="822960"/>
          </a:xfrm>
          <a:prstGeom prst="rect">
            <a:avLst/>
          </a:prstGeom>
          <a:noFill/>
        </p:spPr>
        <p:txBody>
          <a:bodyPr wrap="square" anchor="t" lIns="0" rIns="0" tIns="0" bIns="0">
            <a:spAutoFit/>
          </a:bodyPr>
          <a:lstStyle/>
          <a:p>
            <a:pPr algn="l">
              <a:lnSpc>
                <a:spcPct val="108000"/>
              </a:lnSpc>
              <a:spcAft>
                <a:spcPts val="200"/>
              </a:spcAft>
            </a:pPr>
            <a:r>
              <a:rPr sz="1450">
                <a:solidFill>
                  <a:srgbClr val="111318"/>
                </a:solidFill>
                <a:latin typeface="Segoe UI Semibold"/>
              </a:rPr>
              <a:t>Same meaning, same plan</a:t>
            </a:r>
          </a:p>
          <a:p>
            <a:pPr algn="l">
              <a:lnSpc>
                <a:spcPct val="108000"/>
              </a:lnSpc>
              <a:spcAft>
                <a:spcPts val="200"/>
              </a:spcAft>
            </a:pPr>
            <a:r>
              <a:rPr sz="1200">
                <a:solidFill>
                  <a:srgbClr val="5F6570"/>
                </a:solidFill>
                <a:latin typeface="Segoe UI"/>
              </a:rPr>
              <a:t>Temperature 0, fixed seed, and memory return identical plans.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3F5"/>
        </a:solidFill>
        <a:effectLst/>
      </p:bgPr>
    </p:bg>
    <p:spTree>
      <p:nvGrpSpPr>
        <p:cNvPr id="1" name=""/>
        <p:cNvGrpSpPr/>
        <p:nvPr/>
      </p:nvGrpSpPr>
      <p:grpSpPr/>
      <p:sp>
        <p:nvSpPr>
          <p:cNvPr id="2" name="Rounded Rectangle 1"/>
          <p:cNvSpPr/>
          <p:nvPr/>
        </p:nvSpPr>
        <p:spPr>
          <a:xfrm>
            <a:off x="548640" y="384048"/>
            <a:ext cx="2084466" cy="292608"/>
          </a:xfrm>
          <a:prstGeom prst="roundRect">
            <a:avLst>
              <a:gd name="adj" fmla="val 50000"/>
            </a:avLst>
          </a:prstGeom>
          <a:solidFill>
            <a:srgbClr val="E4E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2084466" cy="292608"/>
          </a:xfrm>
          <a:prstGeom prst="rect">
            <a:avLst/>
          </a:prstGeom>
          <a:noFill/>
        </p:spPr>
        <p:txBody>
          <a:bodyPr wrap="square" anchor="ctr" lIns="0" rIns="0" tIns="0" bIns="0">
            <a:spAutoFit/>
          </a:bodyPr>
          <a:lstStyle/>
          <a:p>
            <a:pPr algn="ctr">
              <a:lnSpc>
                <a:spcPct val="110000"/>
              </a:lnSpc>
              <a:spcAft>
                <a:spcPts val="400"/>
              </a:spcAft>
            </a:pPr>
            <a:r>
              <a:rPr sz="1200">
                <a:solidFill>
                  <a:srgbClr val="1F5FD6"/>
                </a:solidFill>
                <a:latin typeface="Segoe UI Semibold"/>
              </a:rPr>
              <a:t>Core technology modules</a:t>
            </a:r>
          </a:p>
        </p:txBody>
      </p:sp>
      <p:sp>
        <p:nvSpPr>
          <p:cNvPr id="4" name="TextBox 3"/>
          <p:cNvSpPr txBox="1"/>
          <p:nvPr/>
        </p:nvSpPr>
        <p:spPr>
          <a:xfrm>
            <a:off x="548640" y="804672"/>
            <a:ext cx="11064240" cy="640080"/>
          </a:xfrm>
          <a:prstGeom prst="rect">
            <a:avLst/>
          </a:prstGeom>
          <a:noFill/>
        </p:spPr>
        <p:txBody>
          <a:bodyPr wrap="square" anchor="t" lIns="0" rIns="0" tIns="0" bIns="0">
            <a:spAutoFit/>
          </a:bodyPr>
          <a:lstStyle/>
          <a:p>
            <a:pPr algn="l">
              <a:lnSpc>
                <a:spcPct val="100000"/>
              </a:lnSpc>
              <a:spcAft>
                <a:spcPts val="400"/>
              </a:spcAft>
            </a:pPr>
            <a:r>
              <a:rPr sz="3200">
                <a:solidFill>
                  <a:srgbClr val="111318"/>
                </a:solidFill>
                <a:latin typeface="Segoe UI Semibold"/>
              </a:rPr>
              <a:t>Three core modules keep every answer grounded</a:t>
            </a:r>
          </a:p>
        </p:txBody>
      </p:sp>
      <p:sp>
        <p:nvSpPr>
          <p:cNvPr id="5" name="TextBox 4"/>
          <p:cNvSpPr txBox="1"/>
          <p:nvPr/>
        </p:nvSpPr>
        <p:spPr>
          <a:xfrm>
            <a:off x="548640" y="6419088"/>
            <a:ext cx="5486400" cy="228600"/>
          </a:xfrm>
          <a:prstGeom prst="rect">
            <a:avLst/>
          </a:prstGeom>
          <a:noFill/>
        </p:spPr>
        <p:txBody>
          <a:bodyPr wrap="square" anchor="t" lIns="0" rIns="0" tIns="0" bIns="0">
            <a:spAutoFit/>
          </a:bodyPr>
          <a:lstStyle/>
          <a:p>
            <a:pPr algn="l">
              <a:lnSpc>
                <a:spcPct val="110000"/>
              </a:lnSpc>
              <a:spcAft>
                <a:spcPts val="400"/>
              </a:spcAft>
            </a:pPr>
            <a:r>
              <a:rPr sz="1000">
                <a:solidFill>
                  <a:srgbClr val="5F6570"/>
                </a:solidFill>
                <a:latin typeface="Segoe UI"/>
              </a:rPr>
              <a:t>FixFlow  ·  Team SRMIST_QueueQueueing</a:t>
            </a:r>
          </a:p>
        </p:txBody>
      </p:sp>
      <p:sp>
        <p:nvSpPr>
          <p:cNvPr id="6" name="TextBox 5"/>
          <p:cNvSpPr txBox="1"/>
          <p:nvPr/>
        </p:nvSpPr>
        <p:spPr>
          <a:xfrm>
            <a:off x="9811512" y="6419088"/>
            <a:ext cx="1828800" cy="228600"/>
          </a:xfrm>
          <a:prstGeom prst="rect">
            <a:avLst/>
          </a:prstGeom>
          <a:noFill/>
        </p:spPr>
        <p:txBody>
          <a:bodyPr wrap="square" anchor="t" lIns="0" rIns="0" tIns="0" bIns="0">
            <a:spAutoFit/>
          </a:bodyPr>
          <a:lstStyle/>
          <a:p>
            <a:pPr algn="r">
              <a:lnSpc>
                <a:spcPct val="110000"/>
              </a:lnSpc>
              <a:spcAft>
                <a:spcPts val="400"/>
              </a:spcAft>
            </a:pPr>
            <a:r>
              <a:rPr sz="1000">
                <a:solidFill>
                  <a:srgbClr val="5F6570"/>
                </a:solidFill>
                <a:latin typeface="Segoe UI"/>
              </a:rPr>
              <a:t>5 / 9</a:t>
            </a:r>
          </a:p>
        </p:txBody>
      </p:sp>
      <p:sp>
        <p:nvSpPr>
          <p:cNvPr id="7" name="Rounded Rectangle 6"/>
          <p:cNvSpPr/>
          <p:nvPr/>
        </p:nvSpPr>
        <p:spPr>
          <a:xfrm>
            <a:off x="548640" y="1691640"/>
            <a:ext cx="11091672" cy="1207008"/>
          </a:xfrm>
          <a:prstGeom prst="roundRect">
            <a:avLst>
              <a:gd name="adj" fmla="val 1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4672" y="2011680"/>
            <a:ext cx="566928" cy="566928"/>
          </a:xfrm>
          <a:prstGeom prst="roundRect">
            <a:avLst>
              <a:gd name="adj" fmla="val 30000"/>
            </a:avLst>
          </a:prstGeom>
          <a:solidFill>
            <a:srgbClr val="1F5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rticle.png"/>
          <p:cNvPicPr>
            <a:picLocks noChangeAspect="1"/>
          </p:cNvPicPr>
          <p:nvPr/>
        </p:nvPicPr>
        <p:blipFill>
          <a:blip r:embed="rId2"/>
          <a:stretch>
            <a:fillRect/>
          </a:stretch>
        </p:blipFill>
        <p:spPr>
          <a:xfrm>
            <a:off x="918057" y="2125065"/>
            <a:ext cx="340156" cy="340156"/>
          </a:xfrm>
          <a:prstGeom prst="rect">
            <a:avLst/>
          </a:prstGeom>
        </p:spPr>
      </p:pic>
      <p:sp>
        <p:nvSpPr>
          <p:cNvPr id="10" name="TextBox 9"/>
          <p:cNvSpPr txBox="1"/>
          <p:nvPr/>
        </p:nvSpPr>
        <p:spPr>
          <a:xfrm>
            <a:off x="1645920" y="1874520"/>
            <a:ext cx="2377440" cy="822960"/>
          </a:xfrm>
          <a:prstGeom prst="rect">
            <a:avLst/>
          </a:prstGeom>
          <a:noFill/>
        </p:spPr>
        <p:txBody>
          <a:bodyPr wrap="square" anchor="ctr" lIns="0" rIns="0" tIns="0" bIns="0">
            <a:spAutoFit/>
          </a:bodyPr>
          <a:lstStyle/>
          <a:p>
            <a:pPr algn="l">
              <a:lnSpc>
                <a:spcPct val="110000"/>
              </a:lnSpc>
              <a:spcAft>
                <a:spcPts val="400"/>
              </a:spcAft>
            </a:pPr>
            <a:r>
              <a:rPr sz="1700">
                <a:solidFill>
                  <a:srgbClr val="111318"/>
                </a:solidFill>
                <a:latin typeface="Segoe UI Semibold"/>
              </a:rPr>
              <a:t>Grounded extraction</a:t>
            </a:r>
          </a:p>
        </p:txBody>
      </p:sp>
      <p:sp>
        <p:nvSpPr>
          <p:cNvPr id="11" name="TextBox 10"/>
          <p:cNvSpPr txBox="1"/>
          <p:nvPr/>
        </p:nvSpPr>
        <p:spPr>
          <a:xfrm>
            <a:off x="3977639" y="1874520"/>
            <a:ext cx="4480560" cy="868680"/>
          </a:xfrm>
          <a:prstGeom prst="rect">
            <a:avLst/>
          </a:prstGeom>
          <a:noFill/>
        </p:spPr>
        <p:txBody>
          <a:bodyPr wrap="square" anchor="ctr" lIns="0" rIns="0" tIns="0" bIns="0">
            <a:spAutoFit/>
          </a:bodyPr>
          <a:lstStyle/>
          <a:p>
            <a:pPr algn="l">
              <a:lnSpc>
                <a:spcPct val="112000"/>
              </a:lnSpc>
              <a:spcAft>
                <a:spcPts val="400"/>
              </a:spcAft>
            </a:pPr>
            <a:r>
              <a:rPr sz="1300">
                <a:solidFill>
                  <a:srgbClr val="5F6570"/>
                </a:solidFill>
                <a:latin typeface="Segoe UI"/>
              </a:rPr>
              <a:t>The article is split into numbered sentences. Every step must cite them, and code deletes any step whose words are not in the sentences it cites.</a:t>
            </a:r>
          </a:p>
        </p:txBody>
      </p:sp>
      <p:sp>
        <p:nvSpPr>
          <p:cNvPr id="12" name="TextBox 11"/>
          <p:cNvSpPr txBox="1"/>
          <p:nvPr/>
        </p:nvSpPr>
        <p:spPr>
          <a:xfrm>
            <a:off x="8732520" y="1819656"/>
            <a:ext cx="2697480" cy="548640"/>
          </a:xfrm>
          <a:prstGeom prst="rect">
            <a:avLst/>
          </a:prstGeom>
          <a:noFill/>
        </p:spPr>
        <p:txBody>
          <a:bodyPr wrap="square" anchor="t" lIns="0" rIns="0" tIns="0" bIns="0">
            <a:spAutoFit/>
          </a:bodyPr>
          <a:lstStyle/>
          <a:p>
            <a:pPr algn="l">
              <a:lnSpc>
                <a:spcPct val="110000"/>
              </a:lnSpc>
              <a:spcAft>
                <a:spcPts val="400"/>
              </a:spcAft>
            </a:pPr>
            <a:r>
              <a:rPr sz="3000">
                <a:solidFill>
                  <a:srgbClr val="1F5FD6"/>
                </a:solidFill>
                <a:latin typeface="Segoe UI Bold"/>
              </a:rPr>
              <a:t>2.60 / 3</a:t>
            </a:r>
          </a:p>
        </p:txBody>
      </p:sp>
      <p:sp>
        <p:nvSpPr>
          <p:cNvPr id="13" name="TextBox 12"/>
          <p:cNvSpPr txBox="1"/>
          <p:nvPr/>
        </p:nvSpPr>
        <p:spPr>
          <a:xfrm>
            <a:off x="8732520" y="2368296"/>
            <a:ext cx="2743200" cy="457200"/>
          </a:xfrm>
          <a:prstGeom prst="rect">
            <a:avLst/>
          </a:prstGeom>
          <a:noFill/>
        </p:spPr>
        <p:txBody>
          <a:bodyPr wrap="square" anchor="t" lIns="0" rIns="0" tIns="0" bIns="0">
            <a:spAutoFit/>
          </a:bodyPr>
          <a:lstStyle/>
          <a:p>
            <a:pPr algn="l">
              <a:lnSpc>
                <a:spcPct val="105000"/>
              </a:lnSpc>
              <a:spcAft>
                <a:spcPts val="400"/>
              </a:spcAft>
            </a:pPr>
            <a:r>
              <a:rPr sz="1150">
                <a:solidFill>
                  <a:srgbClr val="111318"/>
                </a:solidFill>
                <a:latin typeface="Segoe UI"/>
              </a:rPr>
              <a:t>step accuracy on the official lines; 2.73 on held-out scenarios</a:t>
            </a:r>
          </a:p>
        </p:txBody>
      </p:sp>
      <p:sp>
        <p:nvSpPr>
          <p:cNvPr id="14" name="Rounded Rectangle 13"/>
          <p:cNvSpPr/>
          <p:nvPr/>
        </p:nvSpPr>
        <p:spPr>
          <a:xfrm>
            <a:off x="548640" y="3063240"/>
            <a:ext cx="11091672" cy="1207008"/>
          </a:xfrm>
          <a:prstGeom prst="roundRect">
            <a:avLst>
              <a:gd name="adj" fmla="val 1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3383280"/>
            <a:ext cx="566928" cy="566928"/>
          </a:xfrm>
          <a:prstGeom prst="roundRect">
            <a:avLst>
              <a:gd name="adj" fmla="val 30000"/>
            </a:avLst>
          </a:prstGeom>
          <a:solidFill>
            <a:srgbClr val="138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ink.png"/>
          <p:cNvPicPr>
            <a:picLocks noChangeAspect="1"/>
          </p:cNvPicPr>
          <p:nvPr/>
        </p:nvPicPr>
        <p:blipFill>
          <a:blip r:embed="rId3"/>
          <a:stretch>
            <a:fillRect/>
          </a:stretch>
        </p:blipFill>
        <p:spPr>
          <a:xfrm>
            <a:off x="918057" y="3496665"/>
            <a:ext cx="340156" cy="340156"/>
          </a:xfrm>
          <a:prstGeom prst="rect">
            <a:avLst/>
          </a:prstGeom>
        </p:spPr>
      </p:pic>
      <p:sp>
        <p:nvSpPr>
          <p:cNvPr id="17" name="TextBox 16"/>
          <p:cNvSpPr txBox="1"/>
          <p:nvPr/>
        </p:nvSpPr>
        <p:spPr>
          <a:xfrm>
            <a:off x="1645920" y="3246120"/>
            <a:ext cx="2377440" cy="822960"/>
          </a:xfrm>
          <a:prstGeom prst="rect">
            <a:avLst/>
          </a:prstGeom>
          <a:noFill/>
        </p:spPr>
        <p:txBody>
          <a:bodyPr wrap="square" anchor="ctr" lIns="0" rIns="0" tIns="0" bIns="0">
            <a:spAutoFit/>
          </a:bodyPr>
          <a:lstStyle/>
          <a:p>
            <a:pPr algn="l">
              <a:lnSpc>
                <a:spcPct val="110000"/>
              </a:lnSpc>
              <a:spcAft>
                <a:spcPts val="400"/>
              </a:spcAft>
            </a:pPr>
            <a:r>
              <a:rPr sz="1700">
                <a:solidFill>
                  <a:srgbClr val="111318"/>
                </a:solidFill>
                <a:latin typeface="Segoe UI Semibold"/>
              </a:rPr>
              <a:t>Deeplink mapper</a:t>
            </a:r>
          </a:p>
        </p:txBody>
      </p:sp>
      <p:sp>
        <p:nvSpPr>
          <p:cNvPr id="18" name="TextBox 17"/>
          <p:cNvSpPr txBox="1"/>
          <p:nvPr/>
        </p:nvSpPr>
        <p:spPr>
          <a:xfrm>
            <a:off x="3977639" y="3246120"/>
            <a:ext cx="4480560" cy="868680"/>
          </a:xfrm>
          <a:prstGeom prst="rect">
            <a:avLst/>
          </a:prstGeom>
          <a:noFill/>
        </p:spPr>
        <p:txBody>
          <a:bodyPr wrap="square" anchor="ctr" lIns="0" rIns="0" tIns="0" bIns="0">
            <a:spAutoFit/>
          </a:bodyPr>
          <a:lstStyle/>
          <a:p>
            <a:pPr algn="l">
              <a:lnSpc>
                <a:spcPct val="112000"/>
              </a:lnSpc>
              <a:spcAft>
                <a:spcPts val="400"/>
              </a:spcAft>
            </a:pPr>
            <a:r>
              <a:rPr sz="1300">
                <a:solidFill>
                  <a:srgbClr val="5F6570"/>
                </a:solidFill>
                <a:latin typeface="Segoe UI"/>
              </a:rPr>
              <a:t>Keyword (BM25) plus meaning search over catalog descriptions, never the masked code. It picks on vs off and the exact screen, then copies the entry verbatim.</a:t>
            </a:r>
          </a:p>
        </p:txBody>
      </p:sp>
      <p:sp>
        <p:nvSpPr>
          <p:cNvPr id="19" name="TextBox 18"/>
          <p:cNvSpPr txBox="1"/>
          <p:nvPr/>
        </p:nvSpPr>
        <p:spPr>
          <a:xfrm>
            <a:off x="8732520" y="3191256"/>
            <a:ext cx="2697480" cy="548640"/>
          </a:xfrm>
          <a:prstGeom prst="rect">
            <a:avLst/>
          </a:prstGeom>
          <a:noFill/>
        </p:spPr>
        <p:txBody>
          <a:bodyPr wrap="square" anchor="t" lIns="0" rIns="0" tIns="0" bIns="0">
            <a:spAutoFit/>
          </a:bodyPr>
          <a:lstStyle/>
          <a:p>
            <a:pPr algn="l">
              <a:lnSpc>
                <a:spcPct val="110000"/>
              </a:lnSpc>
              <a:spcAft>
                <a:spcPts val="400"/>
              </a:spcAft>
            </a:pPr>
            <a:r>
              <a:rPr sz="3000">
                <a:solidFill>
                  <a:srgbClr val="13805B"/>
                </a:solidFill>
                <a:latin typeface="Segoe UI Bold"/>
              </a:rPr>
              <a:t>100%</a:t>
            </a:r>
          </a:p>
        </p:txBody>
      </p:sp>
      <p:sp>
        <p:nvSpPr>
          <p:cNvPr id="20" name="TextBox 19"/>
          <p:cNvSpPr txBox="1"/>
          <p:nvPr/>
        </p:nvSpPr>
        <p:spPr>
          <a:xfrm>
            <a:off x="8732520" y="3739896"/>
            <a:ext cx="2743200" cy="457200"/>
          </a:xfrm>
          <a:prstGeom prst="rect">
            <a:avLst/>
          </a:prstGeom>
          <a:noFill/>
        </p:spPr>
        <p:txBody>
          <a:bodyPr wrap="square" anchor="t" lIns="0" rIns="0" tIns="0" bIns="0">
            <a:spAutoFit/>
          </a:bodyPr>
          <a:lstStyle/>
          <a:p>
            <a:pPr algn="l">
              <a:lnSpc>
                <a:spcPct val="105000"/>
              </a:lnSpc>
              <a:spcAft>
                <a:spcPts val="400"/>
              </a:spcAft>
            </a:pPr>
            <a:r>
              <a:rPr sz="1150">
                <a:solidFill>
                  <a:srgbClr val="111318"/>
                </a:solidFill>
                <a:latin typeface="Segoe UI"/>
              </a:rPr>
              <a:t>link precision. LLM picking links: 75%, keyword rules: 58%</a:t>
            </a:r>
          </a:p>
        </p:txBody>
      </p:sp>
      <p:sp>
        <p:nvSpPr>
          <p:cNvPr id="21" name="Rounded Rectangle 20"/>
          <p:cNvSpPr/>
          <p:nvPr/>
        </p:nvSpPr>
        <p:spPr>
          <a:xfrm>
            <a:off x="548640" y="4434840"/>
            <a:ext cx="11091672" cy="1207008"/>
          </a:xfrm>
          <a:prstGeom prst="roundRect">
            <a:avLst>
              <a:gd name="adj" fmla="val 1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4672" y="4754879"/>
            <a:ext cx="566928" cy="566928"/>
          </a:xfrm>
          <a:prstGeom prst="roundRect">
            <a:avLst>
              <a:gd name="adj" fmla="val 30000"/>
            </a:avLst>
          </a:prstGeom>
          <a:solidFill>
            <a:srgbClr val="8F5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memory.png"/>
          <p:cNvPicPr>
            <a:picLocks noChangeAspect="1"/>
          </p:cNvPicPr>
          <p:nvPr/>
        </p:nvPicPr>
        <p:blipFill>
          <a:blip r:embed="rId4"/>
          <a:stretch>
            <a:fillRect/>
          </a:stretch>
        </p:blipFill>
        <p:spPr>
          <a:xfrm>
            <a:off x="918057" y="4868265"/>
            <a:ext cx="340156" cy="340156"/>
          </a:xfrm>
          <a:prstGeom prst="rect">
            <a:avLst/>
          </a:prstGeom>
        </p:spPr>
      </p:pic>
      <p:sp>
        <p:nvSpPr>
          <p:cNvPr id="24" name="TextBox 23"/>
          <p:cNvSpPr txBox="1"/>
          <p:nvPr/>
        </p:nvSpPr>
        <p:spPr>
          <a:xfrm>
            <a:off x="1645920" y="4617720"/>
            <a:ext cx="2377440" cy="822960"/>
          </a:xfrm>
          <a:prstGeom prst="rect">
            <a:avLst/>
          </a:prstGeom>
          <a:noFill/>
        </p:spPr>
        <p:txBody>
          <a:bodyPr wrap="square" anchor="ctr" lIns="0" rIns="0" tIns="0" bIns="0">
            <a:spAutoFit/>
          </a:bodyPr>
          <a:lstStyle/>
          <a:p>
            <a:pPr algn="l">
              <a:lnSpc>
                <a:spcPct val="110000"/>
              </a:lnSpc>
              <a:spcAft>
                <a:spcPts val="400"/>
              </a:spcAft>
            </a:pPr>
            <a:r>
              <a:rPr sz="1700">
                <a:solidFill>
                  <a:srgbClr val="111318"/>
                </a:solidFill>
                <a:latin typeface="Segoe UI Semibold"/>
              </a:rPr>
              <a:t>Guarded memory</a:t>
            </a:r>
          </a:p>
        </p:txBody>
      </p:sp>
      <p:sp>
        <p:nvSpPr>
          <p:cNvPr id="25" name="TextBox 24"/>
          <p:cNvSpPr txBox="1"/>
          <p:nvPr/>
        </p:nvSpPr>
        <p:spPr>
          <a:xfrm>
            <a:off x="3977639" y="4617720"/>
            <a:ext cx="4480560" cy="868680"/>
          </a:xfrm>
          <a:prstGeom prst="rect">
            <a:avLst/>
          </a:prstGeom>
          <a:noFill/>
        </p:spPr>
        <p:txBody>
          <a:bodyPr wrap="square" anchor="ctr" lIns="0" rIns="0" tIns="0" bIns="0">
            <a:spAutoFit/>
          </a:bodyPr>
          <a:lstStyle/>
          <a:p>
            <a:pPr algn="l">
              <a:lnSpc>
                <a:spcPct val="112000"/>
              </a:lnSpc>
              <a:spcAft>
                <a:spcPts val="400"/>
              </a:spcAft>
            </a:pPr>
            <a:r>
              <a:rPr sz="1300">
                <a:solidFill>
                  <a:srgbClr val="5F6570"/>
                </a:solidFill>
                <a:latin typeface="Segoe UI"/>
              </a:rPr>
              <a:t>Each plan is stored with its complaint and 8 to 10 rewordings. A hit needs close meaning and the same symptom, so a flicker complaint never gets the cracked-screen plan.</a:t>
            </a:r>
          </a:p>
        </p:txBody>
      </p:sp>
      <p:sp>
        <p:nvSpPr>
          <p:cNvPr id="26" name="TextBox 25"/>
          <p:cNvSpPr txBox="1"/>
          <p:nvPr/>
        </p:nvSpPr>
        <p:spPr>
          <a:xfrm>
            <a:off x="8732520" y="4562855"/>
            <a:ext cx="2697480" cy="548640"/>
          </a:xfrm>
          <a:prstGeom prst="rect">
            <a:avLst/>
          </a:prstGeom>
          <a:noFill/>
        </p:spPr>
        <p:txBody>
          <a:bodyPr wrap="square" anchor="t" lIns="0" rIns="0" tIns="0" bIns="0">
            <a:spAutoFit/>
          </a:bodyPr>
          <a:lstStyle/>
          <a:p>
            <a:pPr algn="l">
              <a:lnSpc>
                <a:spcPct val="110000"/>
              </a:lnSpc>
              <a:spcAft>
                <a:spcPts val="400"/>
              </a:spcAft>
            </a:pPr>
            <a:r>
              <a:rPr sz="3000">
                <a:solidFill>
                  <a:srgbClr val="8F5600"/>
                </a:solidFill>
                <a:latin typeface="Segoe UI Bold"/>
              </a:rPr>
              <a:t>87.5%</a:t>
            </a:r>
          </a:p>
        </p:txBody>
      </p:sp>
      <p:sp>
        <p:nvSpPr>
          <p:cNvPr id="27" name="TextBox 26"/>
          <p:cNvSpPr txBox="1"/>
          <p:nvPr/>
        </p:nvSpPr>
        <p:spPr>
          <a:xfrm>
            <a:off x="8732520" y="5111496"/>
            <a:ext cx="2743200" cy="457200"/>
          </a:xfrm>
          <a:prstGeom prst="rect">
            <a:avLst/>
          </a:prstGeom>
          <a:noFill/>
        </p:spPr>
        <p:txBody>
          <a:bodyPr wrap="square" anchor="t" lIns="0" rIns="0" tIns="0" bIns="0">
            <a:spAutoFit/>
          </a:bodyPr>
          <a:lstStyle/>
          <a:p>
            <a:pPr algn="l">
              <a:lnSpc>
                <a:spcPct val="105000"/>
              </a:lnSpc>
              <a:spcAft>
                <a:spcPts val="400"/>
              </a:spcAft>
            </a:pPr>
            <a:r>
              <a:rPr sz="1150">
                <a:solidFill>
                  <a:srgbClr val="111318"/>
                </a:solidFill>
                <a:latin typeface="Segoe UI"/>
              </a:rPr>
              <a:t>of held-out rewordings get the same plan; 0 wrong hits</a:t>
            </a:r>
          </a:p>
        </p:txBody>
      </p:sp>
      <p:sp>
        <p:nvSpPr>
          <p:cNvPr id="28" name="Rounded Rectangle 27"/>
          <p:cNvSpPr/>
          <p:nvPr/>
        </p:nvSpPr>
        <p:spPr>
          <a:xfrm>
            <a:off x="548640" y="5788152"/>
            <a:ext cx="11091672" cy="457200"/>
          </a:xfrm>
          <a:prstGeom prst="roundRect">
            <a:avLst>
              <a:gd name="adj" fmla="val 50000"/>
            </a:avLst>
          </a:prstGeom>
          <a:solidFill>
            <a:srgbClr val="E4E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788152"/>
            <a:ext cx="10607040" cy="457200"/>
          </a:xfrm>
          <a:prstGeom prst="rect">
            <a:avLst/>
          </a:prstGeom>
          <a:noFill/>
        </p:spPr>
        <p:txBody>
          <a:bodyPr wrap="square" anchor="ctr" lIns="0" rIns="0" tIns="0" bIns="0">
            <a:spAutoFit/>
          </a:bodyPr>
          <a:lstStyle/>
          <a:p>
            <a:pPr algn="l">
              <a:lnSpc>
                <a:spcPct val="110000"/>
              </a:lnSpc>
              <a:spcAft>
                <a:spcPts val="400"/>
              </a:spcAft>
            </a:pPr>
            <a:r>
              <a:rPr sz="1350">
                <a:solidFill>
                  <a:srgbClr val="1F5FD6"/>
                </a:solidFill>
                <a:latin typeface="Segoe UI Semibold"/>
              </a:rPr>
              <a:t>Contract gate in code:  </a:t>
            </a:r>
            <a:r>
              <a:rPr sz="1350">
                <a:solidFill>
                  <a:srgbClr val="111318"/>
                </a:solidFill>
                <a:latin typeface="Segoe UI"/>
              </a:rPr>
              <a:t>100% schema-valid, 100% rule compliance and 0 web links on the official, dev and held-out sets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28A0"/>
        </a:solidFill>
        <a:effectLst/>
      </p:bgPr>
    </p:bg>
    <p:spTree>
      <p:nvGrpSpPr>
        <p:cNvPr id="1" name=""/>
        <p:cNvGrpSpPr/>
        <p:nvPr/>
      </p:nvGrpSpPr>
      <p:grpSpPr/>
      <p:sp>
        <p:nvSpPr>
          <p:cNvPr id="2" name="TextBox 1"/>
          <p:cNvSpPr txBox="1"/>
          <p:nvPr/>
        </p:nvSpPr>
        <p:spPr>
          <a:xfrm>
            <a:off x="548640" y="384048"/>
            <a:ext cx="5486400" cy="274320"/>
          </a:xfrm>
          <a:prstGeom prst="rect">
            <a:avLst/>
          </a:prstGeom>
          <a:noFill/>
        </p:spPr>
        <p:txBody>
          <a:bodyPr wrap="square" anchor="t" lIns="0" rIns="0" tIns="0" bIns="0">
            <a:spAutoFit/>
          </a:bodyPr>
          <a:lstStyle/>
          <a:p>
            <a:pPr algn="l">
              <a:lnSpc>
                <a:spcPct val="110000"/>
              </a:lnSpc>
              <a:spcAft>
                <a:spcPts val="400"/>
              </a:spcAft>
            </a:pPr>
            <a:r>
              <a:rPr sz="1300">
                <a:solidFill>
                  <a:srgbClr val="C8D2F5"/>
                </a:solidFill>
                <a:latin typeface="Segoe UI Semibold"/>
              </a:rPr>
              <a:t>Demo video</a:t>
            </a:r>
          </a:p>
        </p:txBody>
      </p:sp>
      <p:sp>
        <p:nvSpPr>
          <p:cNvPr id="3" name="TextBox 2"/>
          <p:cNvSpPr txBox="1"/>
          <p:nvPr/>
        </p:nvSpPr>
        <p:spPr>
          <a:xfrm>
            <a:off x="548640" y="777240"/>
            <a:ext cx="10972800" cy="640080"/>
          </a:xfrm>
          <a:prstGeom prst="rect">
            <a:avLst/>
          </a:prstGeom>
          <a:noFill/>
        </p:spPr>
        <p:txBody>
          <a:bodyPr wrap="square" anchor="t" lIns="0" rIns="0" tIns="0" bIns="0">
            <a:spAutoFit/>
          </a:bodyPr>
          <a:lstStyle/>
          <a:p>
            <a:pPr algn="l">
              <a:lnSpc>
                <a:spcPct val="110000"/>
              </a:lnSpc>
              <a:spcAft>
                <a:spcPts val="400"/>
              </a:spcAft>
            </a:pPr>
            <a:r>
              <a:rPr sz="3200">
                <a:solidFill>
                  <a:srgbClr val="FFFFFF"/>
                </a:solidFill>
                <a:latin typeface="Segoe UI Semibold"/>
              </a:rPr>
              <a:t>FixFlow in under two minutes</a:t>
            </a:r>
          </a:p>
        </p:txBody>
      </p:sp>
      <p:sp>
        <p:nvSpPr>
          <p:cNvPr id="4" name="Rounded Rectangle 3"/>
          <p:cNvSpPr/>
          <p:nvPr/>
        </p:nvSpPr>
        <p:spPr>
          <a:xfrm>
            <a:off x="548640" y="1691640"/>
            <a:ext cx="7150608" cy="4023360"/>
          </a:xfrm>
          <a:prstGeom prst="roundRect">
            <a:avLst>
              <a:gd name="adj" fmla="val 5000"/>
            </a:avLst>
          </a:prstGeom>
          <a:solidFill>
            <a:srgbClr val="0B15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849624" y="3310128"/>
            <a:ext cx="777240" cy="777240"/>
          </a:xfrm>
          <a:prstGeom prst="roundRect">
            <a:avLst>
              <a:gd name="adj" fmla="val 30000"/>
            </a:avLst>
          </a:prstGeom>
          <a:solidFill>
            <a:srgbClr val="2E4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lay.png"/>
          <p:cNvPicPr>
            <a:picLocks noChangeAspect="1"/>
          </p:cNvPicPr>
          <p:nvPr/>
        </p:nvPicPr>
        <p:blipFill>
          <a:blip r:embed="rId2"/>
          <a:stretch>
            <a:fillRect/>
          </a:stretch>
        </p:blipFill>
        <p:spPr>
          <a:xfrm>
            <a:off x="4005072" y="3465576"/>
            <a:ext cx="466344" cy="466344"/>
          </a:xfrm>
          <a:prstGeom prst="rect">
            <a:avLst/>
          </a:prstGeom>
        </p:spPr>
      </p:pic>
      <p:sp>
        <p:nvSpPr>
          <p:cNvPr id="7" name="TextBox 6"/>
          <p:cNvSpPr txBox="1"/>
          <p:nvPr/>
        </p:nvSpPr>
        <p:spPr>
          <a:xfrm>
            <a:off x="548640" y="4206240"/>
            <a:ext cx="7150608" cy="365760"/>
          </a:xfrm>
          <a:prstGeom prst="rect">
            <a:avLst/>
          </a:prstGeom>
          <a:noFill/>
        </p:spPr>
        <p:txBody>
          <a:bodyPr wrap="square" anchor="t" lIns="0" rIns="0" tIns="0" bIns="0">
            <a:spAutoFit/>
          </a:bodyPr>
          <a:lstStyle/>
          <a:p>
            <a:pPr algn="ctr">
              <a:lnSpc>
                <a:spcPct val="110000"/>
              </a:lnSpc>
              <a:spcAft>
                <a:spcPts val="400"/>
              </a:spcAft>
            </a:pPr>
            <a:r>
              <a:rPr sz="1300">
                <a:solidFill>
                  <a:srgbClr val="C8D2F5"/>
                </a:solidFill>
                <a:latin typeface="Segoe UI"/>
              </a:rPr>
              <a:t>Demo video plays here</a:t>
            </a:r>
          </a:p>
        </p:txBody>
      </p:sp>
      <p:sp>
        <p:nvSpPr>
          <p:cNvPr id="8" name="TextBox 7"/>
          <p:cNvSpPr txBox="1"/>
          <p:nvPr/>
        </p:nvSpPr>
        <p:spPr>
          <a:xfrm>
            <a:off x="8092440" y="1691640"/>
            <a:ext cx="3566160" cy="320040"/>
          </a:xfrm>
          <a:prstGeom prst="rect">
            <a:avLst/>
          </a:prstGeom>
          <a:noFill/>
        </p:spPr>
        <p:txBody>
          <a:bodyPr wrap="square" anchor="t" lIns="0" rIns="0" tIns="0" bIns="0">
            <a:spAutoFit/>
          </a:bodyPr>
          <a:lstStyle/>
          <a:p>
            <a:pPr algn="l">
              <a:lnSpc>
                <a:spcPct val="110000"/>
              </a:lnSpc>
              <a:spcAft>
                <a:spcPts val="400"/>
              </a:spcAft>
            </a:pPr>
            <a:r>
              <a:rPr sz="1100">
                <a:solidFill>
                  <a:srgbClr val="C8D2F5"/>
                </a:solidFill>
                <a:latin typeface="Segoe UI Semibold"/>
              </a:rPr>
              <a:t>IN THE VIDEO</a:t>
            </a:r>
          </a:p>
        </p:txBody>
      </p:sp>
      <p:sp>
        <p:nvSpPr>
          <p:cNvPr id="9" name="TextBox 8"/>
          <p:cNvSpPr txBox="1"/>
          <p:nvPr/>
        </p:nvSpPr>
        <p:spPr>
          <a:xfrm>
            <a:off x="8092440" y="2103120"/>
            <a:ext cx="640080" cy="274320"/>
          </a:xfrm>
          <a:prstGeom prst="rect">
            <a:avLst/>
          </a:prstGeom>
          <a:noFill/>
        </p:spPr>
        <p:txBody>
          <a:bodyPr wrap="square" anchor="t" lIns="0" rIns="0" tIns="0" bIns="0">
            <a:spAutoFit/>
          </a:bodyPr>
          <a:lstStyle/>
          <a:p>
            <a:pPr algn="l">
              <a:lnSpc>
                <a:spcPct val="110000"/>
              </a:lnSpc>
              <a:spcAft>
                <a:spcPts val="400"/>
              </a:spcAft>
            </a:pPr>
            <a:r>
              <a:rPr sz="1200">
                <a:solidFill>
                  <a:srgbClr val="C8D2F5"/>
                </a:solidFill>
                <a:latin typeface="Segoe UI Semibold"/>
              </a:rPr>
              <a:t>0:00</a:t>
            </a:r>
          </a:p>
        </p:txBody>
      </p:sp>
      <p:sp>
        <p:nvSpPr>
          <p:cNvPr id="10" name="TextBox 9"/>
          <p:cNvSpPr txBox="1"/>
          <p:nvPr/>
        </p:nvSpPr>
        <p:spPr>
          <a:xfrm>
            <a:off x="8732520" y="2103120"/>
            <a:ext cx="2926080" cy="731520"/>
          </a:xfrm>
          <a:prstGeom prst="rect">
            <a:avLst/>
          </a:prstGeom>
          <a:noFill/>
        </p:spPr>
        <p:txBody>
          <a:bodyPr wrap="square" anchor="t" lIns="0" rIns="0" tIns="0" bIns="0">
            <a:spAutoFit/>
          </a:bodyPr>
          <a:lstStyle/>
          <a:p>
            <a:pPr algn="l">
              <a:lnSpc>
                <a:spcPct val="108000"/>
              </a:lnSpc>
              <a:spcAft>
                <a:spcPts val="400"/>
              </a:spcAft>
            </a:pPr>
            <a:r>
              <a:rPr sz="1250">
                <a:solidFill>
                  <a:srgbClr val="FFFFFF"/>
                </a:solidFill>
                <a:latin typeface="Segoe UI"/>
              </a:rPr>
              <a:t>An official complaint becomes a 6-step plan. One tap opens the setting, and its check confirms it.</a:t>
            </a:r>
          </a:p>
        </p:txBody>
      </p:sp>
      <p:sp>
        <p:nvSpPr>
          <p:cNvPr id="11" name="TextBox 10"/>
          <p:cNvSpPr txBox="1"/>
          <p:nvPr/>
        </p:nvSpPr>
        <p:spPr>
          <a:xfrm>
            <a:off x="8092440" y="2852927"/>
            <a:ext cx="640080" cy="274320"/>
          </a:xfrm>
          <a:prstGeom prst="rect">
            <a:avLst/>
          </a:prstGeom>
          <a:noFill/>
        </p:spPr>
        <p:txBody>
          <a:bodyPr wrap="square" anchor="t" lIns="0" rIns="0" tIns="0" bIns="0">
            <a:spAutoFit/>
          </a:bodyPr>
          <a:lstStyle/>
          <a:p>
            <a:pPr algn="l">
              <a:lnSpc>
                <a:spcPct val="110000"/>
              </a:lnSpc>
              <a:spcAft>
                <a:spcPts val="400"/>
              </a:spcAft>
            </a:pPr>
            <a:r>
              <a:rPr sz="1200">
                <a:solidFill>
                  <a:srgbClr val="C8D2F5"/>
                </a:solidFill>
                <a:latin typeface="Segoe UI Semibold"/>
              </a:rPr>
              <a:t>0:30</a:t>
            </a:r>
          </a:p>
        </p:txBody>
      </p:sp>
      <p:sp>
        <p:nvSpPr>
          <p:cNvPr id="12" name="TextBox 11"/>
          <p:cNvSpPr txBox="1"/>
          <p:nvPr/>
        </p:nvSpPr>
        <p:spPr>
          <a:xfrm>
            <a:off x="8732520" y="2852927"/>
            <a:ext cx="2926080" cy="731520"/>
          </a:xfrm>
          <a:prstGeom prst="rect">
            <a:avLst/>
          </a:prstGeom>
          <a:noFill/>
        </p:spPr>
        <p:txBody>
          <a:bodyPr wrap="square" anchor="t" lIns="0" rIns="0" tIns="0" bIns="0">
            <a:spAutoFit/>
          </a:bodyPr>
          <a:lstStyle/>
          <a:p>
            <a:pPr algn="l">
              <a:lnSpc>
                <a:spcPct val="108000"/>
              </a:lnSpc>
              <a:spcAft>
                <a:spcPts val="400"/>
              </a:spcAft>
            </a:pPr>
            <a:r>
              <a:rPr sz="1250">
                <a:solidFill>
                  <a:srgbClr val="FFFFFF"/>
                </a:solidFill>
                <a:latin typeface="Segoe UI"/>
              </a:rPr>
              <a:t>The same problem in new words: same plan, from memory, in about 20 ms.</a:t>
            </a:r>
          </a:p>
        </p:txBody>
      </p:sp>
      <p:sp>
        <p:nvSpPr>
          <p:cNvPr id="13" name="TextBox 12"/>
          <p:cNvSpPr txBox="1"/>
          <p:nvPr/>
        </p:nvSpPr>
        <p:spPr>
          <a:xfrm>
            <a:off x="8092440" y="3602735"/>
            <a:ext cx="640080" cy="274320"/>
          </a:xfrm>
          <a:prstGeom prst="rect">
            <a:avLst/>
          </a:prstGeom>
          <a:noFill/>
        </p:spPr>
        <p:txBody>
          <a:bodyPr wrap="square" anchor="t" lIns="0" rIns="0" tIns="0" bIns="0">
            <a:spAutoFit/>
          </a:bodyPr>
          <a:lstStyle/>
          <a:p>
            <a:pPr algn="l">
              <a:lnSpc>
                <a:spcPct val="110000"/>
              </a:lnSpc>
              <a:spcAft>
                <a:spcPts val="400"/>
              </a:spcAft>
            </a:pPr>
            <a:r>
              <a:rPr sz="1200">
                <a:solidFill>
                  <a:srgbClr val="C8D2F5"/>
                </a:solidFill>
                <a:latin typeface="Segoe UI Semibold"/>
              </a:rPr>
              <a:t>0:50</a:t>
            </a:r>
          </a:p>
        </p:txBody>
      </p:sp>
      <p:sp>
        <p:nvSpPr>
          <p:cNvPr id="14" name="TextBox 13"/>
          <p:cNvSpPr txBox="1"/>
          <p:nvPr/>
        </p:nvSpPr>
        <p:spPr>
          <a:xfrm>
            <a:off x="8732520" y="3602735"/>
            <a:ext cx="2926080" cy="731520"/>
          </a:xfrm>
          <a:prstGeom prst="rect">
            <a:avLst/>
          </a:prstGeom>
          <a:noFill/>
        </p:spPr>
        <p:txBody>
          <a:bodyPr wrap="square" anchor="t" lIns="0" rIns="0" tIns="0" bIns="0">
            <a:spAutoFit/>
          </a:bodyPr>
          <a:lstStyle/>
          <a:p>
            <a:pPr algn="l">
              <a:lnSpc>
                <a:spcPct val="108000"/>
              </a:lnSpc>
              <a:spcAft>
                <a:spcPts val="400"/>
              </a:spcAft>
            </a:pPr>
            <a:r>
              <a:rPr sz="1250">
                <a:solidFill>
                  <a:srgbClr val="FFFFFF"/>
                </a:solidFill>
                <a:latin typeface="Segoe UI"/>
              </a:rPr>
              <a:t>A Hinglish complaint, shown as “Understood as”, gets the same plan.</a:t>
            </a:r>
          </a:p>
        </p:txBody>
      </p:sp>
      <p:sp>
        <p:nvSpPr>
          <p:cNvPr id="15" name="TextBox 14"/>
          <p:cNvSpPr txBox="1"/>
          <p:nvPr/>
        </p:nvSpPr>
        <p:spPr>
          <a:xfrm>
            <a:off x="8092440" y="4352544"/>
            <a:ext cx="640080" cy="274320"/>
          </a:xfrm>
          <a:prstGeom prst="rect">
            <a:avLst/>
          </a:prstGeom>
          <a:noFill/>
        </p:spPr>
        <p:txBody>
          <a:bodyPr wrap="square" anchor="t" lIns="0" rIns="0" tIns="0" bIns="0">
            <a:spAutoFit/>
          </a:bodyPr>
          <a:lstStyle/>
          <a:p>
            <a:pPr algn="l">
              <a:lnSpc>
                <a:spcPct val="110000"/>
              </a:lnSpc>
              <a:spcAft>
                <a:spcPts val="400"/>
              </a:spcAft>
            </a:pPr>
            <a:r>
              <a:rPr sz="1200">
                <a:solidFill>
                  <a:srgbClr val="C8D2F5"/>
                </a:solidFill>
                <a:latin typeface="Segoe UI Semibold"/>
              </a:rPr>
              <a:t>1:10</a:t>
            </a:r>
          </a:p>
        </p:txBody>
      </p:sp>
      <p:sp>
        <p:nvSpPr>
          <p:cNvPr id="16" name="TextBox 15"/>
          <p:cNvSpPr txBox="1"/>
          <p:nvPr/>
        </p:nvSpPr>
        <p:spPr>
          <a:xfrm>
            <a:off x="8732520" y="4352544"/>
            <a:ext cx="2926080" cy="731520"/>
          </a:xfrm>
          <a:prstGeom prst="rect">
            <a:avLst/>
          </a:prstGeom>
          <a:noFill/>
        </p:spPr>
        <p:txBody>
          <a:bodyPr wrap="square" anchor="t" lIns="0" rIns="0" tIns="0" bIns="0">
            <a:spAutoFit/>
          </a:bodyPr>
          <a:lstStyle/>
          <a:p>
            <a:pPr algn="l">
              <a:lnSpc>
                <a:spcPct val="108000"/>
              </a:lnSpc>
              <a:spcAft>
                <a:spcPts val="400"/>
              </a:spcAft>
            </a:pPr>
            <a:r>
              <a:rPr sz="1250">
                <a:solidFill>
                  <a:srgbClr val="FFFFFF"/>
                </a:solidFill>
                <a:latin typeface="Segoe UI"/>
              </a:rPr>
              <a:t>An article that does not fit: no_match, nothing invented.</a:t>
            </a:r>
          </a:p>
        </p:txBody>
      </p:sp>
      <p:sp>
        <p:nvSpPr>
          <p:cNvPr id="17" name="TextBox 16"/>
          <p:cNvSpPr txBox="1"/>
          <p:nvPr/>
        </p:nvSpPr>
        <p:spPr>
          <a:xfrm>
            <a:off x="8092440" y="5102352"/>
            <a:ext cx="640080" cy="274320"/>
          </a:xfrm>
          <a:prstGeom prst="rect">
            <a:avLst/>
          </a:prstGeom>
          <a:noFill/>
        </p:spPr>
        <p:txBody>
          <a:bodyPr wrap="square" anchor="t" lIns="0" rIns="0" tIns="0" bIns="0">
            <a:spAutoFit/>
          </a:bodyPr>
          <a:lstStyle/>
          <a:p>
            <a:pPr algn="l">
              <a:lnSpc>
                <a:spcPct val="110000"/>
              </a:lnSpc>
              <a:spcAft>
                <a:spcPts val="400"/>
              </a:spcAft>
            </a:pPr>
            <a:r>
              <a:rPr sz="1200">
                <a:solidFill>
                  <a:srgbClr val="C8D2F5"/>
                </a:solidFill>
                <a:latin typeface="Segoe UI Semibold"/>
              </a:rPr>
              <a:t>1:25</a:t>
            </a:r>
          </a:p>
        </p:txBody>
      </p:sp>
      <p:sp>
        <p:nvSpPr>
          <p:cNvPr id="18" name="TextBox 17"/>
          <p:cNvSpPr txBox="1"/>
          <p:nvPr/>
        </p:nvSpPr>
        <p:spPr>
          <a:xfrm>
            <a:off x="8732520" y="5102352"/>
            <a:ext cx="2926080" cy="731520"/>
          </a:xfrm>
          <a:prstGeom prst="rect">
            <a:avLst/>
          </a:prstGeom>
          <a:noFill/>
        </p:spPr>
        <p:txBody>
          <a:bodyPr wrap="square" anchor="t" lIns="0" rIns="0" tIns="0" bIns="0">
            <a:spAutoFit/>
          </a:bodyPr>
          <a:lstStyle/>
          <a:p>
            <a:pPr algn="l">
              <a:lnSpc>
                <a:spcPct val="108000"/>
              </a:lnSpc>
              <a:spcAft>
                <a:spcPts val="400"/>
              </a:spcAft>
            </a:pPr>
            <a:r>
              <a:rPr sz="1250">
                <a:solidFill>
                  <a:srgbClr val="FFFFFF"/>
                </a:solidFill>
                <a:latin typeface="Segoe UI"/>
              </a:rPr>
              <a:t>A new problem is taught with one article; a rewording is then answered from memory.</a:t>
            </a:r>
          </a:p>
        </p:txBody>
      </p:sp>
      <p:sp>
        <p:nvSpPr>
          <p:cNvPr id="19" name="TextBox 18"/>
          <p:cNvSpPr txBox="1"/>
          <p:nvPr/>
        </p:nvSpPr>
        <p:spPr>
          <a:xfrm>
            <a:off x="548640" y="6419088"/>
            <a:ext cx="5486400" cy="228600"/>
          </a:xfrm>
          <a:prstGeom prst="rect">
            <a:avLst/>
          </a:prstGeom>
          <a:noFill/>
        </p:spPr>
        <p:txBody>
          <a:bodyPr wrap="square" anchor="t" lIns="0" rIns="0" tIns="0" bIns="0">
            <a:spAutoFit/>
          </a:bodyPr>
          <a:lstStyle/>
          <a:p>
            <a:pPr algn="l">
              <a:lnSpc>
                <a:spcPct val="110000"/>
              </a:lnSpc>
              <a:spcAft>
                <a:spcPts val="400"/>
              </a:spcAft>
            </a:pPr>
            <a:r>
              <a:rPr sz="1000">
                <a:solidFill>
                  <a:srgbClr val="C8D2F5"/>
                </a:solidFill>
                <a:latin typeface="Segoe UI"/>
              </a:rPr>
              <a:t>FixFlow  ·  Team SRMIST_QueueQueueing</a:t>
            </a:r>
          </a:p>
        </p:txBody>
      </p:sp>
      <p:sp>
        <p:nvSpPr>
          <p:cNvPr id="20" name="TextBox 19"/>
          <p:cNvSpPr txBox="1"/>
          <p:nvPr/>
        </p:nvSpPr>
        <p:spPr>
          <a:xfrm>
            <a:off x="9811512" y="6419088"/>
            <a:ext cx="1828800" cy="228600"/>
          </a:xfrm>
          <a:prstGeom prst="rect">
            <a:avLst/>
          </a:prstGeom>
          <a:noFill/>
        </p:spPr>
        <p:txBody>
          <a:bodyPr wrap="square" anchor="t" lIns="0" rIns="0" tIns="0" bIns="0">
            <a:spAutoFit/>
          </a:bodyPr>
          <a:lstStyle/>
          <a:p>
            <a:pPr algn="r">
              <a:lnSpc>
                <a:spcPct val="110000"/>
              </a:lnSpc>
              <a:spcAft>
                <a:spcPts val="400"/>
              </a:spcAft>
            </a:pPr>
            <a:r>
              <a:rPr sz="1000">
                <a:solidFill>
                  <a:srgbClr val="C8D2F5"/>
                </a:solidFill>
                <a:latin typeface="Segoe UI"/>
              </a:rPr>
              <a:t>6 /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3F5"/>
        </a:solidFill>
        <a:effectLst/>
      </p:bgPr>
    </p:bg>
    <p:spTree>
      <p:nvGrpSpPr>
        <p:cNvPr id="1" name=""/>
        <p:cNvGrpSpPr/>
        <p:nvPr/>
      </p:nvGrpSpPr>
      <p:grpSpPr/>
      <p:sp>
        <p:nvSpPr>
          <p:cNvPr id="2" name="Rounded Rectangle 1"/>
          <p:cNvSpPr/>
          <p:nvPr/>
        </p:nvSpPr>
        <p:spPr>
          <a:xfrm>
            <a:off x="548640" y="384048"/>
            <a:ext cx="1928652" cy="292608"/>
          </a:xfrm>
          <a:prstGeom prst="roundRect">
            <a:avLst>
              <a:gd name="adj" fmla="val 50000"/>
            </a:avLst>
          </a:prstGeom>
          <a:solidFill>
            <a:srgbClr val="E4E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928652" cy="292608"/>
          </a:xfrm>
          <a:prstGeom prst="rect">
            <a:avLst/>
          </a:prstGeom>
          <a:noFill/>
        </p:spPr>
        <p:txBody>
          <a:bodyPr wrap="square" anchor="ctr" lIns="0" rIns="0" tIns="0" bIns="0">
            <a:spAutoFit/>
          </a:bodyPr>
          <a:lstStyle/>
          <a:p>
            <a:pPr algn="ctr">
              <a:lnSpc>
                <a:spcPct val="110000"/>
              </a:lnSpc>
              <a:spcAft>
                <a:spcPts val="400"/>
              </a:spcAft>
            </a:pPr>
            <a:r>
              <a:rPr sz="1200">
                <a:solidFill>
                  <a:srgbClr val="1F5FD6"/>
                </a:solidFill>
                <a:latin typeface="Segoe UI Semibold"/>
              </a:rPr>
              <a:t>Extension for Samsung</a:t>
            </a:r>
          </a:p>
        </p:txBody>
      </p:sp>
      <p:sp>
        <p:nvSpPr>
          <p:cNvPr id="4" name="TextBox 3"/>
          <p:cNvSpPr txBox="1"/>
          <p:nvPr/>
        </p:nvSpPr>
        <p:spPr>
          <a:xfrm>
            <a:off x="548640" y="804672"/>
            <a:ext cx="11064240" cy="640080"/>
          </a:xfrm>
          <a:prstGeom prst="rect">
            <a:avLst/>
          </a:prstGeom>
          <a:noFill/>
        </p:spPr>
        <p:txBody>
          <a:bodyPr wrap="square" anchor="t" lIns="0" rIns="0" tIns="0" bIns="0">
            <a:spAutoFit/>
          </a:bodyPr>
          <a:lstStyle/>
          <a:p>
            <a:pPr algn="l">
              <a:lnSpc>
                <a:spcPct val="100000"/>
              </a:lnSpc>
              <a:spcAft>
                <a:spcPts val="400"/>
              </a:spcAft>
            </a:pPr>
            <a:r>
              <a:rPr sz="3200">
                <a:solidFill>
                  <a:srgbClr val="111318"/>
                </a:solidFill>
                <a:latin typeface="Segoe UI Semibold"/>
              </a:rPr>
              <a:t>Built for the way Samsung users in India ask for help</a:t>
            </a:r>
          </a:p>
        </p:txBody>
      </p:sp>
      <p:sp>
        <p:nvSpPr>
          <p:cNvPr id="5" name="TextBox 4"/>
          <p:cNvSpPr txBox="1"/>
          <p:nvPr/>
        </p:nvSpPr>
        <p:spPr>
          <a:xfrm>
            <a:off x="548640" y="6419088"/>
            <a:ext cx="5486400" cy="228600"/>
          </a:xfrm>
          <a:prstGeom prst="rect">
            <a:avLst/>
          </a:prstGeom>
          <a:noFill/>
        </p:spPr>
        <p:txBody>
          <a:bodyPr wrap="square" anchor="t" lIns="0" rIns="0" tIns="0" bIns="0">
            <a:spAutoFit/>
          </a:bodyPr>
          <a:lstStyle/>
          <a:p>
            <a:pPr algn="l">
              <a:lnSpc>
                <a:spcPct val="110000"/>
              </a:lnSpc>
              <a:spcAft>
                <a:spcPts val="400"/>
              </a:spcAft>
            </a:pPr>
            <a:r>
              <a:rPr sz="1000">
                <a:solidFill>
                  <a:srgbClr val="5F6570"/>
                </a:solidFill>
                <a:latin typeface="Segoe UI"/>
              </a:rPr>
              <a:t>FixFlow  ·  Team SRMIST_QueueQueueing</a:t>
            </a:r>
          </a:p>
        </p:txBody>
      </p:sp>
      <p:sp>
        <p:nvSpPr>
          <p:cNvPr id="6" name="TextBox 5"/>
          <p:cNvSpPr txBox="1"/>
          <p:nvPr/>
        </p:nvSpPr>
        <p:spPr>
          <a:xfrm>
            <a:off x="9811512" y="6419088"/>
            <a:ext cx="1828800" cy="228600"/>
          </a:xfrm>
          <a:prstGeom prst="rect">
            <a:avLst/>
          </a:prstGeom>
          <a:noFill/>
        </p:spPr>
        <p:txBody>
          <a:bodyPr wrap="square" anchor="t" lIns="0" rIns="0" tIns="0" bIns="0">
            <a:spAutoFit/>
          </a:bodyPr>
          <a:lstStyle/>
          <a:p>
            <a:pPr algn="r">
              <a:lnSpc>
                <a:spcPct val="110000"/>
              </a:lnSpc>
              <a:spcAft>
                <a:spcPts val="400"/>
              </a:spcAft>
            </a:pPr>
            <a:r>
              <a:rPr sz="1000">
                <a:solidFill>
                  <a:srgbClr val="5F6570"/>
                </a:solidFill>
                <a:latin typeface="Segoe UI"/>
              </a:rPr>
              <a:t>7 / 9</a:t>
            </a:r>
          </a:p>
        </p:txBody>
      </p:sp>
      <p:pic>
        <p:nvPicPr>
          <p:cNvPr id="7" name="Picture 6" descr="phone_hinglish.png"/>
          <p:cNvPicPr>
            <a:picLocks noChangeAspect="1"/>
          </p:cNvPicPr>
          <p:nvPr/>
        </p:nvPicPr>
        <p:blipFill>
          <a:blip r:embed="rId2"/>
          <a:stretch>
            <a:fillRect/>
          </a:stretch>
        </p:blipFill>
        <p:spPr>
          <a:xfrm>
            <a:off x="548640" y="1645920"/>
            <a:ext cx="3063240" cy="3910519"/>
          </a:xfrm>
          <a:prstGeom prst="rect">
            <a:avLst/>
          </a:prstGeom>
        </p:spPr>
      </p:pic>
      <p:sp>
        <p:nvSpPr>
          <p:cNvPr id="8" name="Rounded Rectangle 7"/>
          <p:cNvSpPr/>
          <p:nvPr/>
        </p:nvSpPr>
        <p:spPr>
          <a:xfrm>
            <a:off x="548640" y="5760720"/>
            <a:ext cx="3063240" cy="4572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5760720"/>
            <a:ext cx="3063240" cy="457200"/>
          </a:xfrm>
          <a:prstGeom prst="rect">
            <a:avLst/>
          </a:prstGeom>
          <a:noFill/>
        </p:spPr>
        <p:txBody>
          <a:bodyPr wrap="square" anchor="ctr" lIns="0" rIns="0" tIns="0" bIns="0">
            <a:spAutoFit/>
          </a:bodyPr>
          <a:lstStyle/>
          <a:p>
            <a:pPr algn="ctr">
              <a:lnSpc>
                <a:spcPct val="110000"/>
              </a:lnSpc>
              <a:spcAft>
                <a:spcPts val="400"/>
              </a:spcAft>
            </a:pPr>
            <a:r>
              <a:rPr sz="1200">
                <a:solidFill>
                  <a:srgbClr val="111318"/>
                </a:solidFill>
                <a:latin typeface="Segoe UI Semibold"/>
              </a:rPr>
              <a:t>Hinglish in, same plan out, 27 ms</a:t>
            </a:r>
          </a:p>
        </p:txBody>
      </p:sp>
      <p:sp>
        <p:nvSpPr>
          <p:cNvPr id="10" name="Rounded Rectangle 9"/>
          <p:cNvSpPr/>
          <p:nvPr/>
        </p:nvSpPr>
        <p:spPr>
          <a:xfrm>
            <a:off x="3977639" y="1645920"/>
            <a:ext cx="7662672" cy="1024128"/>
          </a:xfrm>
          <a:prstGeom prst="roundRect">
            <a:avLst>
              <a:gd name="adj" fmla="val 196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06240" y="1874519"/>
            <a:ext cx="548640" cy="548640"/>
          </a:xfrm>
          <a:prstGeom prst="roundRect">
            <a:avLst>
              <a:gd name="adj" fmla="val 30000"/>
            </a:avLst>
          </a:prstGeom>
          <a:solidFill>
            <a:srgbClr val="1F5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ranslate.png"/>
          <p:cNvPicPr>
            <a:picLocks noChangeAspect="1"/>
          </p:cNvPicPr>
          <p:nvPr/>
        </p:nvPicPr>
        <p:blipFill>
          <a:blip r:embed="rId3"/>
          <a:stretch>
            <a:fillRect/>
          </a:stretch>
        </p:blipFill>
        <p:spPr>
          <a:xfrm>
            <a:off x="4315968" y="1984248"/>
            <a:ext cx="329184" cy="329184"/>
          </a:xfrm>
          <a:prstGeom prst="rect">
            <a:avLst/>
          </a:prstGeom>
        </p:spPr>
      </p:pic>
      <p:sp>
        <p:nvSpPr>
          <p:cNvPr id="13" name="TextBox 12"/>
          <p:cNvSpPr txBox="1"/>
          <p:nvPr/>
        </p:nvSpPr>
        <p:spPr>
          <a:xfrm>
            <a:off x="4983480" y="1773936"/>
            <a:ext cx="6492240" cy="320040"/>
          </a:xfrm>
          <a:prstGeom prst="rect">
            <a:avLst/>
          </a:prstGeom>
          <a:noFill/>
        </p:spPr>
        <p:txBody>
          <a:bodyPr wrap="square" anchor="t" lIns="0" rIns="0" tIns="0" bIns="0">
            <a:spAutoFit/>
          </a:bodyPr>
          <a:lstStyle/>
          <a:p>
            <a:pPr algn="l">
              <a:lnSpc>
                <a:spcPct val="110000"/>
              </a:lnSpc>
              <a:spcAft>
                <a:spcPts val="400"/>
              </a:spcAft>
            </a:pPr>
            <a:r>
              <a:rPr sz="1550">
                <a:solidFill>
                  <a:srgbClr val="111318"/>
                </a:solidFill>
                <a:latin typeface="Segoe UI Semibold"/>
              </a:rPr>
              <a:t>Hinglish, understood offline</a:t>
            </a:r>
          </a:p>
        </p:txBody>
      </p:sp>
      <p:sp>
        <p:nvSpPr>
          <p:cNvPr id="14" name="TextBox 13"/>
          <p:cNvSpPr txBox="1"/>
          <p:nvPr/>
        </p:nvSpPr>
        <p:spPr>
          <a:xfrm>
            <a:off x="4983480" y="2084832"/>
            <a:ext cx="6492240" cy="566928"/>
          </a:xfrm>
          <a:prstGeom prst="rect">
            <a:avLst/>
          </a:prstGeom>
          <a:noFill/>
        </p:spPr>
        <p:txBody>
          <a:bodyPr wrap="square" anchor="t" lIns="0" rIns="0" tIns="0" bIns="0">
            <a:spAutoFit/>
          </a:bodyPr>
          <a:lstStyle/>
          <a:p>
            <a:pPr algn="l">
              <a:lnSpc>
                <a:spcPct val="108000"/>
              </a:lnSpc>
              <a:spcAft>
                <a:spcPts val="400"/>
              </a:spcAft>
            </a:pPr>
            <a:r>
              <a:rPr sz="1150">
                <a:solidFill>
                  <a:srgbClr val="5F6570"/>
                </a:solidFill>
                <a:latin typeface="Segoe UI"/>
              </a:rPr>
              <a:t>“mera phone ka touch bahut slow hai” is read as English and gets the touchscreen plan. Our Hinglish set: right plan 3 of 15 before, 11 of 15 now, 0 wrong. Devanagari Hindi goes through Gemini.</a:t>
            </a:r>
          </a:p>
        </p:txBody>
      </p:sp>
      <p:sp>
        <p:nvSpPr>
          <p:cNvPr id="15" name="Rounded Rectangle 14"/>
          <p:cNvSpPr/>
          <p:nvPr/>
        </p:nvSpPr>
        <p:spPr>
          <a:xfrm>
            <a:off x="3977639" y="2807208"/>
            <a:ext cx="7662672" cy="1024128"/>
          </a:xfrm>
          <a:prstGeom prst="roundRect">
            <a:avLst>
              <a:gd name="adj" fmla="val 196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206240" y="3035808"/>
            <a:ext cx="548640" cy="548640"/>
          </a:xfrm>
          <a:prstGeom prst="roundRect">
            <a:avLst>
              <a:gd name="adj" fmla="val 30000"/>
            </a:avLst>
          </a:prstGeom>
          <a:solidFill>
            <a:srgbClr val="138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ap.png"/>
          <p:cNvPicPr>
            <a:picLocks noChangeAspect="1"/>
          </p:cNvPicPr>
          <p:nvPr/>
        </p:nvPicPr>
        <p:blipFill>
          <a:blip r:embed="rId4"/>
          <a:stretch>
            <a:fillRect/>
          </a:stretch>
        </p:blipFill>
        <p:spPr>
          <a:xfrm>
            <a:off x="4315968" y="3145536"/>
            <a:ext cx="329184" cy="329184"/>
          </a:xfrm>
          <a:prstGeom prst="rect">
            <a:avLst/>
          </a:prstGeom>
        </p:spPr>
      </p:pic>
      <p:sp>
        <p:nvSpPr>
          <p:cNvPr id="18" name="TextBox 17"/>
          <p:cNvSpPr txBox="1"/>
          <p:nvPr/>
        </p:nvSpPr>
        <p:spPr>
          <a:xfrm>
            <a:off x="4983480" y="2935224"/>
            <a:ext cx="6492240" cy="320040"/>
          </a:xfrm>
          <a:prstGeom prst="rect">
            <a:avLst/>
          </a:prstGeom>
          <a:noFill/>
        </p:spPr>
        <p:txBody>
          <a:bodyPr wrap="square" anchor="t" lIns="0" rIns="0" tIns="0" bIns="0">
            <a:spAutoFit/>
          </a:bodyPr>
          <a:lstStyle/>
          <a:p>
            <a:pPr algn="l">
              <a:lnSpc>
                <a:spcPct val="110000"/>
              </a:lnSpc>
              <a:spcAft>
                <a:spcPts val="400"/>
              </a:spcAft>
            </a:pPr>
            <a:r>
              <a:rPr sz="1550">
                <a:solidFill>
                  <a:srgbClr val="111318"/>
                </a:solidFill>
                <a:latin typeface="Segoe UI Semibold"/>
              </a:rPr>
              <a:t>Tap the fix, then verify it</a:t>
            </a:r>
          </a:p>
        </p:txBody>
      </p:sp>
      <p:sp>
        <p:nvSpPr>
          <p:cNvPr id="19" name="TextBox 18"/>
          <p:cNvSpPr txBox="1"/>
          <p:nvPr/>
        </p:nvSpPr>
        <p:spPr>
          <a:xfrm>
            <a:off x="4983480" y="3246120"/>
            <a:ext cx="6492240" cy="566928"/>
          </a:xfrm>
          <a:prstGeom prst="rect">
            <a:avLst/>
          </a:prstGeom>
          <a:noFill/>
        </p:spPr>
        <p:txBody>
          <a:bodyPr wrap="square" anchor="t" lIns="0" rIns="0" tIns="0" bIns="0">
            <a:spAutoFit/>
          </a:bodyPr>
          <a:lstStyle/>
          <a:p>
            <a:pPr algn="l">
              <a:lnSpc>
                <a:spcPct val="108000"/>
              </a:lnSpc>
              <a:spcAft>
                <a:spcPts val="400"/>
              </a:spcAft>
            </a:pPr>
            <a:r>
              <a:rPr sz="1150">
                <a:solidFill>
                  <a:srgbClr val="5F6570"/>
                </a:solidFill>
                <a:latin typeface="Segoe UI"/>
              </a:rPr>
              <a:t>One-tap steps carry the catalog's deeplink plus its validation deeplink (570 of 578 entries have one), so the device can open the screen and confirm the change. The demo UI simulates the device.</a:t>
            </a:r>
          </a:p>
        </p:txBody>
      </p:sp>
      <p:sp>
        <p:nvSpPr>
          <p:cNvPr id="20" name="Rounded Rectangle 19"/>
          <p:cNvSpPr/>
          <p:nvPr/>
        </p:nvSpPr>
        <p:spPr>
          <a:xfrm>
            <a:off x="3977639" y="3968496"/>
            <a:ext cx="7662672" cy="1024128"/>
          </a:xfrm>
          <a:prstGeom prst="roundRect">
            <a:avLst>
              <a:gd name="adj" fmla="val 196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206240" y="4197096"/>
            <a:ext cx="548640" cy="548640"/>
          </a:xfrm>
          <a:prstGeom prst="roundRect">
            <a:avLst>
              <a:gd name="adj" fmla="val 30000"/>
            </a:avLst>
          </a:prstGeom>
          <a:solidFill>
            <a:srgbClr val="8F5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mic.png"/>
          <p:cNvPicPr>
            <a:picLocks noChangeAspect="1"/>
          </p:cNvPicPr>
          <p:nvPr/>
        </p:nvPicPr>
        <p:blipFill>
          <a:blip r:embed="rId5"/>
          <a:stretch>
            <a:fillRect/>
          </a:stretch>
        </p:blipFill>
        <p:spPr>
          <a:xfrm>
            <a:off x="4315968" y="4306824"/>
            <a:ext cx="329184" cy="329184"/>
          </a:xfrm>
          <a:prstGeom prst="rect">
            <a:avLst/>
          </a:prstGeom>
        </p:spPr>
      </p:pic>
      <p:sp>
        <p:nvSpPr>
          <p:cNvPr id="23" name="TextBox 22"/>
          <p:cNvSpPr txBox="1"/>
          <p:nvPr/>
        </p:nvSpPr>
        <p:spPr>
          <a:xfrm>
            <a:off x="4983480" y="4096511"/>
            <a:ext cx="6492240" cy="320040"/>
          </a:xfrm>
          <a:prstGeom prst="rect">
            <a:avLst/>
          </a:prstGeom>
          <a:noFill/>
        </p:spPr>
        <p:txBody>
          <a:bodyPr wrap="square" anchor="t" lIns="0" rIns="0" tIns="0" bIns="0">
            <a:spAutoFit/>
          </a:bodyPr>
          <a:lstStyle/>
          <a:p>
            <a:pPr algn="l">
              <a:lnSpc>
                <a:spcPct val="110000"/>
              </a:lnSpc>
              <a:spcAft>
                <a:spcPts val="400"/>
              </a:spcAft>
            </a:pPr>
            <a:r>
              <a:rPr sz="1550">
                <a:solidFill>
                  <a:srgbClr val="111318"/>
                </a:solidFill>
                <a:latin typeface="Segoe UI Semibold"/>
              </a:rPr>
              <a:t>Voice and step-by-step guidance</a:t>
            </a:r>
          </a:p>
        </p:txBody>
      </p:sp>
      <p:sp>
        <p:nvSpPr>
          <p:cNvPr id="24" name="TextBox 23"/>
          <p:cNvSpPr txBox="1"/>
          <p:nvPr/>
        </p:nvSpPr>
        <p:spPr>
          <a:xfrm>
            <a:off x="4983480" y="4407408"/>
            <a:ext cx="6492240" cy="566928"/>
          </a:xfrm>
          <a:prstGeom prst="rect">
            <a:avLst/>
          </a:prstGeom>
          <a:noFill/>
        </p:spPr>
        <p:txBody>
          <a:bodyPr wrap="square" anchor="t" lIns="0" rIns="0" tIns="0" bIns="0">
            <a:spAutoFit/>
          </a:bodyPr>
          <a:lstStyle/>
          <a:p>
            <a:pPr algn="l">
              <a:lnSpc>
                <a:spcPct val="108000"/>
              </a:lnSpc>
              <a:spcAft>
                <a:spcPts val="400"/>
              </a:spcAft>
            </a:pPr>
            <a:r>
              <a:rPr sz="1150">
                <a:solidFill>
                  <a:srgbClr val="5F6570"/>
                </a:solidFill>
                <a:latin typeface="Segoe UI"/>
              </a:rPr>
              <a:t>The complaint can be spoken (browser speech), and “Guide me step by step” walks through one step at a time until it is fixed.</a:t>
            </a:r>
          </a:p>
        </p:txBody>
      </p:sp>
      <p:sp>
        <p:nvSpPr>
          <p:cNvPr id="25" name="Rounded Rectangle 24"/>
          <p:cNvSpPr/>
          <p:nvPr/>
        </p:nvSpPr>
        <p:spPr>
          <a:xfrm>
            <a:off x="3977639" y="5129784"/>
            <a:ext cx="7662672" cy="1024128"/>
          </a:xfrm>
          <a:prstGeom prst="roundRect">
            <a:avLst>
              <a:gd name="adj" fmla="val 196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206240" y="5358384"/>
            <a:ext cx="548640" cy="548640"/>
          </a:xfrm>
          <a:prstGeom prst="roundRect">
            <a:avLst>
              <a:gd name="adj" fmla="val 30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offline.png"/>
          <p:cNvPicPr>
            <a:picLocks noChangeAspect="1"/>
          </p:cNvPicPr>
          <p:nvPr/>
        </p:nvPicPr>
        <p:blipFill>
          <a:blip r:embed="rId6"/>
          <a:stretch>
            <a:fillRect/>
          </a:stretch>
        </p:blipFill>
        <p:spPr>
          <a:xfrm>
            <a:off x="4315968" y="5468112"/>
            <a:ext cx="329184" cy="329184"/>
          </a:xfrm>
          <a:prstGeom prst="rect">
            <a:avLst/>
          </a:prstGeom>
        </p:spPr>
      </p:pic>
      <p:sp>
        <p:nvSpPr>
          <p:cNvPr id="28" name="TextBox 27"/>
          <p:cNvSpPr txBox="1"/>
          <p:nvPr/>
        </p:nvSpPr>
        <p:spPr>
          <a:xfrm>
            <a:off x="4983480" y="5257800"/>
            <a:ext cx="6492240" cy="320040"/>
          </a:xfrm>
          <a:prstGeom prst="rect">
            <a:avLst/>
          </a:prstGeom>
          <a:noFill/>
        </p:spPr>
        <p:txBody>
          <a:bodyPr wrap="square" anchor="t" lIns="0" rIns="0" tIns="0" bIns="0">
            <a:spAutoFit/>
          </a:bodyPr>
          <a:lstStyle/>
          <a:p>
            <a:pPr algn="l">
              <a:lnSpc>
                <a:spcPct val="110000"/>
              </a:lnSpc>
              <a:spcAft>
                <a:spcPts val="400"/>
              </a:spcAft>
            </a:pPr>
            <a:r>
              <a:rPr sz="1550">
                <a:solidFill>
                  <a:srgbClr val="111318"/>
                </a:solidFill>
                <a:latin typeface="Segoe UI Semibold"/>
              </a:rPr>
              <a:t>No complaint text has to leave the server</a:t>
            </a:r>
          </a:p>
        </p:txBody>
      </p:sp>
      <p:sp>
        <p:nvSpPr>
          <p:cNvPr id="29" name="TextBox 28"/>
          <p:cNvSpPr txBox="1"/>
          <p:nvPr/>
        </p:nvSpPr>
        <p:spPr>
          <a:xfrm>
            <a:off x="4983480" y="5568696"/>
            <a:ext cx="6492240" cy="566928"/>
          </a:xfrm>
          <a:prstGeom prst="rect">
            <a:avLst/>
          </a:prstGeom>
          <a:noFill/>
        </p:spPr>
        <p:txBody>
          <a:bodyPr wrap="square" anchor="t" lIns="0" rIns="0" tIns="0" bIns="0">
            <a:spAutoFit/>
          </a:bodyPr>
          <a:lstStyle/>
          <a:p>
            <a:pPr algn="l">
              <a:lnSpc>
                <a:spcPct val="108000"/>
              </a:lnSpc>
              <a:spcAft>
                <a:spcPts val="400"/>
              </a:spcAft>
            </a:pPr>
            <a:r>
              <a:rPr sz="1150">
                <a:solidFill>
                  <a:srgbClr val="5F6570"/>
                </a:solidFill>
                <a:latin typeface="Segoe UI"/>
              </a:rPr>
              <a:t>Rules mode needs no API key and no GPU: one Docker image on a CPU. Outputs stay brand-neutral, checked by a test.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3F5"/>
        </a:solidFill>
        <a:effectLst/>
      </p:bgPr>
    </p:bg>
    <p:spTree>
      <p:nvGrpSpPr>
        <p:cNvPr id="1" name=""/>
        <p:cNvGrpSpPr/>
        <p:nvPr/>
      </p:nvGrpSpPr>
      <p:grpSpPr/>
      <p:sp>
        <p:nvSpPr>
          <p:cNvPr id="2" name="Rounded Rectangle 1"/>
          <p:cNvSpPr/>
          <p:nvPr/>
        </p:nvSpPr>
        <p:spPr>
          <a:xfrm>
            <a:off x="548640" y="384048"/>
            <a:ext cx="1149583" cy="292608"/>
          </a:xfrm>
          <a:prstGeom prst="roundRect">
            <a:avLst>
              <a:gd name="adj" fmla="val 50000"/>
            </a:avLst>
          </a:prstGeom>
          <a:solidFill>
            <a:srgbClr val="E4E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49583" cy="292608"/>
          </a:xfrm>
          <a:prstGeom prst="rect">
            <a:avLst/>
          </a:prstGeom>
          <a:noFill/>
        </p:spPr>
        <p:txBody>
          <a:bodyPr wrap="square" anchor="ctr" lIns="0" rIns="0" tIns="0" bIns="0">
            <a:spAutoFit/>
          </a:bodyPr>
          <a:lstStyle/>
          <a:p>
            <a:pPr algn="ctr">
              <a:lnSpc>
                <a:spcPct val="110000"/>
              </a:lnSpc>
              <a:spcAft>
                <a:spcPts val="400"/>
              </a:spcAft>
            </a:pPr>
            <a:r>
              <a:rPr sz="1200">
                <a:solidFill>
                  <a:srgbClr val="1F5FD6"/>
                </a:solidFill>
                <a:latin typeface="Segoe UI Semibold"/>
              </a:rPr>
              <a:t>Scalability</a:t>
            </a:r>
          </a:p>
        </p:txBody>
      </p:sp>
      <p:sp>
        <p:nvSpPr>
          <p:cNvPr id="4" name="TextBox 3"/>
          <p:cNvSpPr txBox="1"/>
          <p:nvPr/>
        </p:nvSpPr>
        <p:spPr>
          <a:xfrm>
            <a:off x="548640" y="804672"/>
            <a:ext cx="11064240" cy="640080"/>
          </a:xfrm>
          <a:prstGeom prst="rect">
            <a:avLst/>
          </a:prstGeom>
          <a:noFill/>
        </p:spPr>
        <p:txBody>
          <a:bodyPr wrap="square" anchor="t" lIns="0" rIns="0" tIns="0" bIns="0">
            <a:spAutoFit/>
          </a:bodyPr>
          <a:lstStyle/>
          <a:p>
            <a:pPr algn="l">
              <a:lnSpc>
                <a:spcPct val="100000"/>
              </a:lnSpc>
              <a:spcAft>
                <a:spcPts val="400"/>
              </a:spcAft>
            </a:pPr>
            <a:r>
              <a:rPr sz="3200">
                <a:solidFill>
                  <a:srgbClr val="111318"/>
                </a:solidFill>
                <a:latin typeface="Segoe UI Semibold"/>
              </a:rPr>
              <a:t>A new problem needs one article and zero code</a:t>
            </a:r>
          </a:p>
        </p:txBody>
      </p:sp>
      <p:sp>
        <p:nvSpPr>
          <p:cNvPr id="5" name="TextBox 4"/>
          <p:cNvSpPr txBox="1"/>
          <p:nvPr/>
        </p:nvSpPr>
        <p:spPr>
          <a:xfrm>
            <a:off x="548640" y="6419088"/>
            <a:ext cx="5486400" cy="228600"/>
          </a:xfrm>
          <a:prstGeom prst="rect">
            <a:avLst/>
          </a:prstGeom>
          <a:noFill/>
        </p:spPr>
        <p:txBody>
          <a:bodyPr wrap="square" anchor="t" lIns="0" rIns="0" tIns="0" bIns="0">
            <a:spAutoFit/>
          </a:bodyPr>
          <a:lstStyle/>
          <a:p>
            <a:pPr algn="l">
              <a:lnSpc>
                <a:spcPct val="110000"/>
              </a:lnSpc>
              <a:spcAft>
                <a:spcPts val="400"/>
              </a:spcAft>
            </a:pPr>
            <a:r>
              <a:rPr sz="1000">
                <a:solidFill>
                  <a:srgbClr val="5F6570"/>
                </a:solidFill>
                <a:latin typeface="Segoe UI"/>
              </a:rPr>
              <a:t>FixFlow  ·  Team SRMIST_QueueQueueing</a:t>
            </a:r>
          </a:p>
        </p:txBody>
      </p:sp>
      <p:sp>
        <p:nvSpPr>
          <p:cNvPr id="6" name="TextBox 5"/>
          <p:cNvSpPr txBox="1"/>
          <p:nvPr/>
        </p:nvSpPr>
        <p:spPr>
          <a:xfrm>
            <a:off x="9811512" y="6419088"/>
            <a:ext cx="1828800" cy="228600"/>
          </a:xfrm>
          <a:prstGeom prst="rect">
            <a:avLst/>
          </a:prstGeom>
          <a:noFill/>
        </p:spPr>
        <p:txBody>
          <a:bodyPr wrap="square" anchor="t" lIns="0" rIns="0" tIns="0" bIns="0">
            <a:spAutoFit/>
          </a:bodyPr>
          <a:lstStyle/>
          <a:p>
            <a:pPr algn="r">
              <a:lnSpc>
                <a:spcPct val="110000"/>
              </a:lnSpc>
              <a:spcAft>
                <a:spcPts val="400"/>
              </a:spcAft>
            </a:pPr>
            <a:r>
              <a:rPr sz="1000">
                <a:solidFill>
                  <a:srgbClr val="5F6570"/>
                </a:solidFill>
                <a:latin typeface="Segoe UI"/>
              </a:rPr>
              <a:t>8 / 9</a:t>
            </a:r>
          </a:p>
        </p:txBody>
      </p:sp>
      <p:sp>
        <p:nvSpPr>
          <p:cNvPr id="7" name="Rounded Rectangle 6"/>
          <p:cNvSpPr/>
          <p:nvPr/>
        </p:nvSpPr>
        <p:spPr>
          <a:xfrm>
            <a:off x="548640" y="1691640"/>
            <a:ext cx="3547872" cy="960120"/>
          </a:xfrm>
          <a:prstGeom prst="roundRect">
            <a:avLst>
              <a:gd name="adj" fmla="val 2095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1901952"/>
            <a:ext cx="548640" cy="548640"/>
          </a:xfrm>
          <a:prstGeom prst="roundRect">
            <a:avLst>
              <a:gd name="adj" fmla="val 30000"/>
            </a:avLst>
          </a:prstGeom>
          <a:solidFill>
            <a:srgbClr val="1F5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rticle.png"/>
          <p:cNvPicPr>
            <a:picLocks noChangeAspect="1"/>
          </p:cNvPicPr>
          <p:nvPr/>
        </p:nvPicPr>
        <p:blipFill>
          <a:blip r:embed="rId2"/>
          <a:stretch>
            <a:fillRect/>
          </a:stretch>
        </p:blipFill>
        <p:spPr>
          <a:xfrm>
            <a:off x="886968" y="2011680"/>
            <a:ext cx="329184" cy="329184"/>
          </a:xfrm>
          <a:prstGeom prst="rect">
            <a:avLst/>
          </a:prstGeom>
        </p:spPr>
      </p:pic>
      <p:sp>
        <p:nvSpPr>
          <p:cNvPr id="10" name="TextBox 9"/>
          <p:cNvSpPr txBox="1"/>
          <p:nvPr/>
        </p:nvSpPr>
        <p:spPr>
          <a:xfrm>
            <a:off x="1508760" y="1828800"/>
            <a:ext cx="2514600" cy="731520"/>
          </a:xfrm>
          <a:prstGeom prst="rect">
            <a:avLst/>
          </a:prstGeom>
          <a:noFill/>
        </p:spPr>
        <p:txBody>
          <a:bodyPr wrap="square" anchor="ctr" lIns="0" rIns="0" tIns="0" bIns="0">
            <a:spAutoFit/>
          </a:bodyPr>
          <a:lstStyle/>
          <a:p>
            <a:pPr algn="l">
              <a:lnSpc>
                <a:spcPct val="110000"/>
              </a:lnSpc>
              <a:spcAft>
                <a:spcPts val="200"/>
              </a:spcAft>
            </a:pPr>
            <a:r>
              <a:rPr sz="1500">
                <a:solidFill>
                  <a:srgbClr val="111318"/>
                </a:solidFill>
                <a:latin typeface="Segoe UI Semibold"/>
              </a:rPr>
              <a:t>Add the support article</a:t>
            </a:r>
          </a:p>
          <a:p>
            <a:pPr algn="l">
              <a:lnSpc>
                <a:spcPct val="110000"/>
              </a:lnSpc>
              <a:spcAft>
                <a:spcPts val="200"/>
              </a:spcAft>
            </a:pPr>
            <a:r>
              <a:rPr sz="1200">
                <a:solidFill>
                  <a:srgbClr val="5F6570"/>
                </a:solidFill>
                <a:latin typeface="Segoe UI"/>
              </a:rPr>
              <a:t>No code, no retraining</a:t>
            </a:r>
          </a:p>
        </p:txBody>
      </p:sp>
      <p:cxnSp>
        <p:nvCxnSpPr>
          <p:cNvPr id="11" name="Connector 10"/>
          <p:cNvCxnSpPr/>
          <p:nvPr/>
        </p:nvCxnSpPr>
        <p:spPr>
          <a:xfrm>
            <a:off x="4114800" y="2171700"/>
            <a:ext cx="164592" cy="0"/>
          </a:xfrm>
          <a:prstGeom prst="line">
            <a:avLst/>
          </a:prstGeom>
          <a:ln w="25400">
            <a:solidFill>
              <a:srgbClr val="1F5FD6"/>
            </a:solidFill>
            <a:tailEnd type="triangle" w="med" h="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97679" y="1691640"/>
            <a:ext cx="3547872" cy="960120"/>
          </a:xfrm>
          <a:prstGeom prst="roundRect">
            <a:avLst>
              <a:gd name="adj" fmla="val 2095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26279" y="1901952"/>
            <a:ext cx="548640" cy="548640"/>
          </a:xfrm>
          <a:prstGeom prst="roundRect">
            <a:avLst>
              <a:gd name="adj" fmla="val 30000"/>
            </a:avLst>
          </a:prstGeom>
          <a:solidFill>
            <a:srgbClr val="1F5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bolt.png"/>
          <p:cNvPicPr>
            <a:picLocks noChangeAspect="1"/>
          </p:cNvPicPr>
          <p:nvPr/>
        </p:nvPicPr>
        <p:blipFill>
          <a:blip r:embed="rId3"/>
          <a:stretch>
            <a:fillRect/>
          </a:stretch>
        </p:blipFill>
        <p:spPr>
          <a:xfrm>
            <a:off x="4636007" y="2011680"/>
            <a:ext cx="329184" cy="329184"/>
          </a:xfrm>
          <a:prstGeom prst="rect">
            <a:avLst/>
          </a:prstGeom>
        </p:spPr>
      </p:pic>
      <p:sp>
        <p:nvSpPr>
          <p:cNvPr id="15" name="TextBox 14"/>
          <p:cNvSpPr txBox="1"/>
          <p:nvPr/>
        </p:nvSpPr>
        <p:spPr>
          <a:xfrm>
            <a:off x="5257799" y="1828800"/>
            <a:ext cx="2514600" cy="731520"/>
          </a:xfrm>
          <a:prstGeom prst="rect">
            <a:avLst/>
          </a:prstGeom>
          <a:noFill/>
        </p:spPr>
        <p:txBody>
          <a:bodyPr wrap="square" anchor="ctr" lIns="0" rIns="0" tIns="0" bIns="0">
            <a:spAutoFit/>
          </a:bodyPr>
          <a:lstStyle/>
          <a:p>
            <a:pPr algn="l">
              <a:lnSpc>
                <a:spcPct val="110000"/>
              </a:lnSpc>
              <a:spcAft>
                <a:spcPts val="200"/>
              </a:spcAft>
            </a:pPr>
            <a:r>
              <a:rPr sz="1500">
                <a:solidFill>
                  <a:srgbClr val="111318"/>
                </a:solidFill>
                <a:latin typeface="Segoe UI Semibold"/>
              </a:rPr>
              <a:t>Compile it once</a:t>
            </a:r>
          </a:p>
          <a:p>
            <a:pPr algn="l">
              <a:lnSpc>
                <a:spcPct val="110000"/>
              </a:lnSpc>
              <a:spcAft>
                <a:spcPts val="200"/>
              </a:spcAft>
            </a:pPr>
            <a:r>
              <a:rPr sz="1200">
                <a:solidFill>
                  <a:srgbClr val="5F6570"/>
                </a:solidFill>
                <a:latin typeface="Segoe UI"/>
              </a:rPr>
              <a:t>Rules 0.3 s, $0. Gemini 2.6 s, $0.0004</a:t>
            </a:r>
          </a:p>
        </p:txBody>
      </p:sp>
      <p:cxnSp>
        <p:nvCxnSpPr>
          <p:cNvPr id="16" name="Connector 15"/>
          <p:cNvCxnSpPr/>
          <p:nvPr/>
        </p:nvCxnSpPr>
        <p:spPr>
          <a:xfrm>
            <a:off x="7863840" y="2171700"/>
            <a:ext cx="164591" cy="0"/>
          </a:xfrm>
          <a:prstGeom prst="line">
            <a:avLst/>
          </a:prstGeom>
          <a:ln w="25400">
            <a:solidFill>
              <a:srgbClr val="1F5FD6"/>
            </a:solidFill>
            <a:tailEnd type="triangle" w="med" h="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046719" y="1691640"/>
            <a:ext cx="3547872" cy="960120"/>
          </a:xfrm>
          <a:prstGeom prst="roundRect">
            <a:avLst>
              <a:gd name="adj" fmla="val 2095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75319" y="1901952"/>
            <a:ext cx="548640" cy="548640"/>
          </a:xfrm>
          <a:prstGeom prst="roundRect">
            <a:avLst>
              <a:gd name="adj" fmla="val 30000"/>
            </a:avLst>
          </a:prstGeom>
          <a:solidFill>
            <a:srgbClr val="1F5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memory.png"/>
          <p:cNvPicPr>
            <a:picLocks noChangeAspect="1"/>
          </p:cNvPicPr>
          <p:nvPr/>
        </p:nvPicPr>
        <p:blipFill>
          <a:blip r:embed="rId4"/>
          <a:stretch>
            <a:fillRect/>
          </a:stretch>
        </p:blipFill>
        <p:spPr>
          <a:xfrm>
            <a:off x="8385047" y="2011680"/>
            <a:ext cx="329184" cy="329184"/>
          </a:xfrm>
          <a:prstGeom prst="rect">
            <a:avLst/>
          </a:prstGeom>
        </p:spPr>
      </p:pic>
      <p:sp>
        <p:nvSpPr>
          <p:cNvPr id="20" name="TextBox 19"/>
          <p:cNvSpPr txBox="1"/>
          <p:nvPr/>
        </p:nvSpPr>
        <p:spPr>
          <a:xfrm>
            <a:off x="9006840" y="1828800"/>
            <a:ext cx="2514600" cy="731520"/>
          </a:xfrm>
          <a:prstGeom prst="rect">
            <a:avLst/>
          </a:prstGeom>
          <a:noFill/>
        </p:spPr>
        <p:txBody>
          <a:bodyPr wrap="square" anchor="ctr" lIns="0" rIns="0" tIns="0" bIns="0">
            <a:spAutoFit/>
          </a:bodyPr>
          <a:lstStyle/>
          <a:p>
            <a:pPr algn="l">
              <a:lnSpc>
                <a:spcPct val="110000"/>
              </a:lnSpc>
              <a:spcAft>
                <a:spcPts val="200"/>
              </a:spcAft>
            </a:pPr>
            <a:r>
              <a:rPr sz="1500">
                <a:solidFill>
                  <a:srgbClr val="111318"/>
                </a:solidFill>
                <a:latin typeface="Segoe UI Semibold"/>
              </a:rPr>
              <a:t>Answer every rewording</a:t>
            </a:r>
          </a:p>
          <a:p>
            <a:pPr algn="l">
              <a:lnSpc>
                <a:spcPct val="110000"/>
              </a:lnSpc>
              <a:spcAft>
                <a:spcPts val="200"/>
              </a:spcAft>
            </a:pPr>
            <a:r>
              <a:rPr sz="1200">
                <a:solidFill>
                  <a:srgbClr val="5F6570"/>
                </a:solidFill>
                <a:latin typeface="Segoe UI"/>
              </a:rPr>
              <a:t>From memory, P95 under 50 ms, $0</a:t>
            </a:r>
          </a:p>
        </p:txBody>
      </p:sp>
      <p:sp>
        <p:nvSpPr>
          <p:cNvPr id="21" name="Rounded Rectangle 20"/>
          <p:cNvSpPr/>
          <p:nvPr/>
        </p:nvSpPr>
        <p:spPr>
          <a:xfrm>
            <a:off x="548640" y="2880360"/>
            <a:ext cx="5120640" cy="3337560"/>
          </a:xfrm>
          <a:prstGeom prst="roundRect">
            <a:avLst>
              <a:gd name="adj" fmla="val 602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063240"/>
            <a:ext cx="4572000" cy="320040"/>
          </a:xfrm>
          <a:prstGeom prst="rect">
            <a:avLst/>
          </a:prstGeom>
          <a:noFill/>
        </p:spPr>
        <p:txBody>
          <a:bodyPr wrap="square" anchor="t" lIns="0" rIns="0" tIns="0" bIns="0">
            <a:spAutoFit/>
          </a:bodyPr>
          <a:lstStyle/>
          <a:p>
            <a:pPr algn="l">
              <a:lnSpc>
                <a:spcPct val="110000"/>
              </a:lnSpc>
              <a:spcAft>
                <a:spcPts val="400"/>
              </a:spcAft>
            </a:pPr>
            <a:r>
              <a:rPr sz="1500">
                <a:solidFill>
                  <a:srgbClr val="111318"/>
                </a:solidFill>
                <a:latin typeface="Segoe UI Semibold"/>
              </a:rPr>
              <a:t>Memory lookup stays fast as it grows</a:t>
            </a:r>
          </a:p>
        </p:txBody>
      </p:sp>
      <p:sp>
        <p:nvSpPr>
          <p:cNvPr id="23" name="TextBox 22"/>
          <p:cNvSpPr txBox="1"/>
          <p:nvPr/>
        </p:nvSpPr>
        <p:spPr>
          <a:xfrm>
            <a:off x="822960" y="3383280"/>
            <a:ext cx="4572000" cy="274320"/>
          </a:xfrm>
          <a:prstGeom prst="rect">
            <a:avLst/>
          </a:prstGeom>
          <a:noFill/>
        </p:spPr>
        <p:txBody>
          <a:bodyPr wrap="square" anchor="t" lIns="0" rIns="0" tIns="0" bIns="0">
            <a:spAutoFit/>
          </a:bodyPr>
          <a:lstStyle/>
          <a:p>
            <a:pPr algn="l">
              <a:lnSpc>
                <a:spcPct val="110000"/>
              </a:lnSpc>
              <a:spcAft>
                <a:spcPts val="400"/>
              </a:spcAft>
            </a:pPr>
            <a:r>
              <a:rPr sz="1150">
                <a:solidFill>
                  <a:srgbClr val="5F6570"/>
                </a:solidFill>
                <a:latin typeface="Segoe UI"/>
              </a:rPr>
              <a:t>P95 lookup time (ms) by number of stored problems</a:t>
            </a:r>
          </a:p>
        </p:txBody>
      </p:sp>
      <p:graphicFrame>
        <p:nvGraphicFramePr>
          <p:cNvPr id="24" name="Chart 23"/>
          <p:cNvGraphicFramePr>
            <a:graphicFrameLocks noGrp="1"/>
          </p:cNvGraphicFramePr>
          <p:nvPr/>
        </p:nvGraphicFramePr>
        <p:xfrm>
          <a:off x="822960" y="3703320"/>
          <a:ext cx="4572000" cy="2377440"/>
        </p:xfrm>
        <a:graphic>
          <a:graphicData uri="http://schemas.openxmlformats.org/drawingml/2006/chart">
            <c:chart xmlns:c="http://schemas.openxmlformats.org/drawingml/2006/chart" r:id="rId5"/>
          </a:graphicData>
        </a:graphic>
      </p:graphicFrame>
      <p:sp>
        <p:nvSpPr>
          <p:cNvPr id="25" name="Rounded Rectangle 24"/>
          <p:cNvSpPr/>
          <p:nvPr/>
        </p:nvSpPr>
        <p:spPr>
          <a:xfrm>
            <a:off x="5943600" y="2880360"/>
            <a:ext cx="2798064" cy="1618488"/>
          </a:xfrm>
          <a:prstGeom prst="roundRect">
            <a:avLst>
              <a:gd name="adj" fmla="val 124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72200" y="3044952"/>
            <a:ext cx="2377440" cy="548640"/>
          </a:xfrm>
          <a:prstGeom prst="rect">
            <a:avLst/>
          </a:prstGeom>
          <a:noFill/>
        </p:spPr>
        <p:txBody>
          <a:bodyPr wrap="square" anchor="t" lIns="0" rIns="0" tIns="0" bIns="0">
            <a:spAutoFit/>
          </a:bodyPr>
          <a:lstStyle/>
          <a:p>
            <a:pPr algn="l">
              <a:lnSpc>
                <a:spcPct val="110000"/>
              </a:lnSpc>
              <a:spcAft>
                <a:spcPts val="400"/>
              </a:spcAft>
            </a:pPr>
            <a:r>
              <a:rPr sz="2700">
                <a:solidFill>
                  <a:srgbClr val="1F5FD6"/>
                </a:solidFill>
                <a:latin typeface="Segoe UI Bold"/>
              </a:rPr>
              <a:t>8 / 8</a:t>
            </a:r>
          </a:p>
        </p:txBody>
      </p:sp>
      <p:sp>
        <p:nvSpPr>
          <p:cNvPr id="27" name="TextBox 26"/>
          <p:cNvSpPr txBox="1"/>
          <p:nvPr/>
        </p:nvSpPr>
        <p:spPr>
          <a:xfrm>
            <a:off x="6172200" y="3657600"/>
            <a:ext cx="2395728" cy="777240"/>
          </a:xfrm>
          <a:prstGeom prst="rect">
            <a:avLst/>
          </a:prstGeom>
          <a:noFill/>
        </p:spPr>
        <p:txBody>
          <a:bodyPr wrap="square" anchor="t" lIns="0" rIns="0" tIns="0" bIns="0">
            <a:spAutoFit/>
          </a:bodyPr>
          <a:lstStyle/>
          <a:p>
            <a:pPr algn="l">
              <a:lnSpc>
                <a:spcPct val="108000"/>
              </a:lnSpc>
              <a:spcAft>
                <a:spcPts val="400"/>
              </a:spcAft>
            </a:pPr>
            <a:r>
              <a:rPr sz="1150">
                <a:solidFill>
                  <a:srgbClr val="111318"/>
                </a:solidFill>
                <a:latin typeface="Segoe UI"/>
              </a:rPr>
              <a:t>new problem types got a plan with 0 code changes (battery, charging, Bluetooth, camera)</a:t>
            </a:r>
          </a:p>
        </p:txBody>
      </p:sp>
      <p:sp>
        <p:nvSpPr>
          <p:cNvPr id="28" name="Rounded Rectangle 27"/>
          <p:cNvSpPr/>
          <p:nvPr/>
        </p:nvSpPr>
        <p:spPr>
          <a:xfrm>
            <a:off x="8842248" y="2880360"/>
            <a:ext cx="2798064" cy="1618488"/>
          </a:xfrm>
          <a:prstGeom prst="roundRect">
            <a:avLst>
              <a:gd name="adj" fmla="val 124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70848" y="3044952"/>
            <a:ext cx="2377440" cy="548640"/>
          </a:xfrm>
          <a:prstGeom prst="rect">
            <a:avLst/>
          </a:prstGeom>
          <a:noFill/>
        </p:spPr>
        <p:txBody>
          <a:bodyPr wrap="square" anchor="t" lIns="0" rIns="0" tIns="0" bIns="0">
            <a:spAutoFit/>
          </a:bodyPr>
          <a:lstStyle/>
          <a:p>
            <a:pPr algn="l">
              <a:lnSpc>
                <a:spcPct val="110000"/>
              </a:lnSpc>
              <a:spcAft>
                <a:spcPts val="400"/>
              </a:spcAft>
            </a:pPr>
            <a:r>
              <a:rPr sz="2700">
                <a:solidFill>
                  <a:srgbClr val="1F5FD6"/>
                </a:solidFill>
                <a:latin typeface="Segoe UI Bold"/>
              </a:rPr>
              <a:t>7 / 8</a:t>
            </a:r>
          </a:p>
        </p:txBody>
      </p:sp>
      <p:sp>
        <p:nvSpPr>
          <p:cNvPr id="30" name="TextBox 29"/>
          <p:cNvSpPr txBox="1"/>
          <p:nvPr/>
        </p:nvSpPr>
        <p:spPr>
          <a:xfrm>
            <a:off x="9070848" y="3657600"/>
            <a:ext cx="2395728" cy="777240"/>
          </a:xfrm>
          <a:prstGeom prst="rect">
            <a:avLst/>
          </a:prstGeom>
          <a:noFill/>
        </p:spPr>
        <p:txBody>
          <a:bodyPr wrap="square" anchor="t" lIns="0" rIns="0" tIns="0" bIns="0">
            <a:spAutoFit/>
          </a:bodyPr>
          <a:lstStyle/>
          <a:p>
            <a:pPr algn="l">
              <a:lnSpc>
                <a:spcPct val="108000"/>
              </a:lnSpc>
              <a:spcAft>
                <a:spcPts val="400"/>
              </a:spcAft>
            </a:pPr>
            <a:r>
              <a:rPr sz="1150">
                <a:solidFill>
                  <a:srgbClr val="111318"/>
                </a:solidFill>
                <a:latin typeface="Segoe UI"/>
              </a:rPr>
              <a:t>rewordings of the new problems got the right plan; 0 false hits on 5 unrelated</a:t>
            </a:r>
          </a:p>
        </p:txBody>
      </p:sp>
      <p:sp>
        <p:nvSpPr>
          <p:cNvPr id="31" name="Rounded Rectangle 30"/>
          <p:cNvSpPr/>
          <p:nvPr/>
        </p:nvSpPr>
        <p:spPr>
          <a:xfrm>
            <a:off x="5943600" y="4599431"/>
            <a:ext cx="2798064" cy="1618488"/>
          </a:xfrm>
          <a:prstGeom prst="roundRect">
            <a:avLst>
              <a:gd name="adj" fmla="val 124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72200" y="4764023"/>
            <a:ext cx="2377440" cy="548640"/>
          </a:xfrm>
          <a:prstGeom prst="rect">
            <a:avLst/>
          </a:prstGeom>
          <a:noFill/>
        </p:spPr>
        <p:txBody>
          <a:bodyPr wrap="square" anchor="t" lIns="0" rIns="0" tIns="0" bIns="0">
            <a:spAutoFit/>
          </a:bodyPr>
          <a:lstStyle/>
          <a:p>
            <a:pPr algn="l">
              <a:lnSpc>
                <a:spcPct val="110000"/>
              </a:lnSpc>
              <a:spcAft>
                <a:spcPts val="400"/>
              </a:spcAft>
            </a:pPr>
            <a:r>
              <a:rPr sz="2700">
                <a:solidFill>
                  <a:srgbClr val="1F5FD6"/>
                </a:solidFill>
                <a:latin typeface="Segoe UI Bold"/>
              </a:rPr>
              <a:t>555 / 556</a:t>
            </a:r>
          </a:p>
        </p:txBody>
      </p:sp>
      <p:sp>
        <p:nvSpPr>
          <p:cNvPr id="33" name="TextBox 32"/>
          <p:cNvSpPr txBox="1"/>
          <p:nvPr/>
        </p:nvSpPr>
        <p:spPr>
          <a:xfrm>
            <a:off x="6172200" y="5376671"/>
            <a:ext cx="2395728" cy="777240"/>
          </a:xfrm>
          <a:prstGeom prst="rect">
            <a:avLst/>
          </a:prstGeom>
          <a:noFill/>
        </p:spPr>
        <p:txBody>
          <a:bodyPr wrap="square" anchor="t" lIns="0" rIns="0" tIns="0" bIns="0">
            <a:spAutoFit/>
          </a:bodyPr>
          <a:lstStyle/>
          <a:p>
            <a:pPr algn="l">
              <a:lnSpc>
                <a:spcPct val="108000"/>
              </a:lnSpc>
              <a:spcAft>
                <a:spcPts val="400"/>
              </a:spcAft>
            </a:pPr>
            <a:r>
              <a:rPr sz="1150">
                <a:solidFill>
                  <a:srgbClr val="111318"/>
                </a:solidFill>
                <a:latin typeface="Segoe UI"/>
              </a:rPr>
              <a:t>phone Settings screens in the catalog reached by search, 0 wrong</a:t>
            </a:r>
          </a:p>
        </p:txBody>
      </p:sp>
      <p:sp>
        <p:nvSpPr>
          <p:cNvPr id="34" name="Rounded Rectangle 33"/>
          <p:cNvSpPr/>
          <p:nvPr/>
        </p:nvSpPr>
        <p:spPr>
          <a:xfrm>
            <a:off x="8842248" y="4599431"/>
            <a:ext cx="2798064" cy="1618488"/>
          </a:xfrm>
          <a:prstGeom prst="roundRect">
            <a:avLst>
              <a:gd name="adj" fmla="val 124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70848" y="4764023"/>
            <a:ext cx="2377440" cy="548640"/>
          </a:xfrm>
          <a:prstGeom prst="rect">
            <a:avLst/>
          </a:prstGeom>
          <a:noFill/>
        </p:spPr>
        <p:txBody>
          <a:bodyPr wrap="square" anchor="t" lIns="0" rIns="0" tIns="0" bIns="0">
            <a:spAutoFit/>
          </a:bodyPr>
          <a:lstStyle/>
          <a:p>
            <a:pPr algn="l">
              <a:lnSpc>
                <a:spcPct val="110000"/>
              </a:lnSpc>
              <a:spcAft>
                <a:spcPts val="400"/>
              </a:spcAft>
            </a:pPr>
            <a:r>
              <a:rPr sz="2700">
                <a:solidFill>
                  <a:srgbClr val="1F5FD6"/>
                </a:solidFill>
                <a:latin typeface="Segoe UI Bold"/>
              </a:rPr>
              <a:t>98 req/s</a:t>
            </a:r>
          </a:p>
        </p:txBody>
      </p:sp>
      <p:sp>
        <p:nvSpPr>
          <p:cNvPr id="36" name="TextBox 35"/>
          <p:cNvSpPr txBox="1"/>
          <p:nvPr/>
        </p:nvSpPr>
        <p:spPr>
          <a:xfrm>
            <a:off x="9070848" y="5376671"/>
            <a:ext cx="2395728" cy="777240"/>
          </a:xfrm>
          <a:prstGeom prst="rect">
            <a:avLst/>
          </a:prstGeom>
          <a:noFill/>
        </p:spPr>
        <p:txBody>
          <a:bodyPr wrap="square" anchor="t" lIns="0" rIns="0" tIns="0" bIns="0">
            <a:spAutoFit/>
          </a:bodyPr>
          <a:lstStyle/>
          <a:p>
            <a:pPr algn="l">
              <a:lnSpc>
                <a:spcPct val="108000"/>
              </a:lnSpc>
              <a:spcAft>
                <a:spcPts val="400"/>
              </a:spcAft>
            </a:pPr>
            <a:r>
              <a:rPr sz="1150">
                <a:solidFill>
                  <a:srgbClr val="111318"/>
                </a:solidFill>
                <a:latin typeface="Segoe UI"/>
              </a:rPr>
              <a:t>with 50 users at once, 0 errors, P95 642 ms, one CPU worker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28A0"/>
        </a:solidFill>
        <a:effectLst/>
      </p:bgPr>
    </p:bg>
    <p:spTree>
      <p:nvGrpSpPr>
        <p:cNvPr id="1" name=""/>
        <p:cNvGrpSpPr/>
        <p:nvPr/>
      </p:nvGrpSpPr>
      <p:grpSpPr/>
      <p:sp>
        <p:nvSpPr>
          <p:cNvPr id="2" name="TextBox 1"/>
          <p:cNvSpPr txBox="1"/>
          <p:nvPr/>
        </p:nvSpPr>
        <p:spPr>
          <a:xfrm>
            <a:off x="640080" y="822960"/>
            <a:ext cx="7315200" cy="1005840"/>
          </a:xfrm>
          <a:prstGeom prst="rect">
            <a:avLst/>
          </a:prstGeom>
          <a:noFill/>
        </p:spPr>
        <p:txBody>
          <a:bodyPr wrap="square" anchor="t" lIns="0" rIns="0" tIns="0" bIns="0">
            <a:spAutoFit/>
          </a:bodyPr>
          <a:lstStyle/>
          <a:p>
            <a:pPr algn="l">
              <a:lnSpc>
                <a:spcPct val="110000"/>
              </a:lnSpc>
              <a:spcAft>
                <a:spcPts val="400"/>
              </a:spcAft>
            </a:pPr>
            <a:r>
              <a:rPr sz="6000">
                <a:solidFill>
                  <a:srgbClr val="FFFFFF"/>
                </a:solidFill>
                <a:latin typeface="Segoe UI Bold"/>
              </a:rPr>
              <a:t>Thank you</a:t>
            </a:r>
          </a:p>
        </p:txBody>
      </p:sp>
      <p:sp>
        <p:nvSpPr>
          <p:cNvPr id="3" name="TextBox 2"/>
          <p:cNvSpPr txBox="1"/>
          <p:nvPr/>
        </p:nvSpPr>
        <p:spPr>
          <a:xfrm>
            <a:off x="640080" y="1920240"/>
            <a:ext cx="7315200" cy="457200"/>
          </a:xfrm>
          <a:prstGeom prst="rect">
            <a:avLst/>
          </a:prstGeom>
          <a:noFill/>
        </p:spPr>
        <p:txBody>
          <a:bodyPr wrap="square" anchor="t" lIns="0" rIns="0" tIns="0" bIns="0">
            <a:spAutoFit/>
          </a:bodyPr>
          <a:lstStyle/>
          <a:p>
            <a:pPr algn="l">
              <a:lnSpc>
                <a:spcPct val="110000"/>
              </a:lnSpc>
              <a:spcAft>
                <a:spcPts val="400"/>
              </a:spcAft>
            </a:pPr>
            <a:r>
              <a:rPr sz="2200">
                <a:solidFill>
                  <a:srgbClr val="C8D2F5"/>
                </a:solidFill>
                <a:latin typeface="Segoe UI"/>
              </a:rPr>
              <a:t>We are happy to take your questions.</a:t>
            </a:r>
          </a:p>
        </p:txBody>
      </p:sp>
      <p:sp>
        <p:nvSpPr>
          <p:cNvPr id="4" name="Rounded Rectangle 3"/>
          <p:cNvSpPr/>
          <p:nvPr/>
        </p:nvSpPr>
        <p:spPr>
          <a:xfrm>
            <a:off x="640080" y="3136391"/>
            <a:ext cx="182880" cy="182880"/>
          </a:xfrm>
          <a:prstGeom prst="roundRect">
            <a:avLst>
              <a:gd name="adj" fmla="val 50000"/>
            </a:avLst>
          </a:prstGeom>
          <a:solidFill>
            <a:srgbClr val="5C7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3017520"/>
            <a:ext cx="6400800" cy="411480"/>
          </a:xfrm>
          <a:prstGeom prst="rect">
            <a:avLst/>
          </a:prstGeom>
          <a:noFill/>
        </p:spPr>
        <p:txBody>
          <a:bodyPr wrap="square" anchor="ctr" lIns="0" rIns="0" tIns="0" bIns="0">
            <a:spAutoFit/>
          </a:bodyPr>
          <a:lstStyle/>
          <a:p>
            <a:pPr algn="l">
              <a:lnSpc>
                <a:spcPct val="110000"/>
              </a:lnSpc>
              <a:spcAft>
                <a:spcPts val="400"/>
              </a:spcAft>
            </a:pPr>
            <a:r>
              <a:rPr sz="1700">
                <a:solidFill>
                  <a:srgbClr val="FFFFFF"/>
                </a:solidFill>
                <a:latin typeface="Segoe UI Semibold"/>
              </a:rPr>
              <a:t>Grounded  </a:t>
            </a:r>
            <a:r>
              <a:rPr sz="1700">
                <a:solidFill>
                  <a:srgbClr val="C8D2F5"/>
                </a:solidFill>
                <a:latin typeface="Segoe UI"/>
              </a:rPr>
              <a:t>every step cites the support article</a:t>
            </a:r>
          </a:p>
        </p:txBody>
      </p:sp>
      <p:sp>
        <p:nvSpPr>
          <p:cNvPr id="6" name="Rounded Rectangle 5"/>
          <p:cNvSpPr/>
          <p:nvPr/>
        </p:nvSpPr>
        <p:spPr>
          <a:xfrm>
            <a:off x="640080" y="3703320"/>
            <a:ext cx="182880" cy="182880"/>
          </a:xfrm>
          <a:prstGeom prst="roundRect">
            <a:avLst>
              <a:gd name="adj" fmla="val 50000"/>
            </a:avLst>
          </a:prstGeom>
          <a:solidFill>
            <a:srgbClr val="5C7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3584448"/>
            <a:ext cx="6400800" cy="411480"/>
          </a:xfrm>
          <a:prstGeom prst="rect">
            <a:avLst/>
          </a:prstGeom>
          <a:noFill/>
        </p:spPr>
        <p:txBody>
          <a:bodyPr wrap="square" anchor="ctr" lIns="0" rIns="0" tIns="0" bIns="0">
            <a:spAutoFit/>
          </a:bodyPr>
          <a:lstStyle/>
          <a:p>
            <a:pPr algn="l">
              <a:lnSpc>
                <a:spcPct val="110000"/>
              </a:lnSpc>
              <a:spcAft>
                <a:spcPts val="400"/>
              </a:spcAft>
            </a:pPr>
            <a:r>
              <a:rPr sz="1700">
                <a:solidFill>
                  <a:srgbClr val="FFFFFF"/>
                </a:solidFill>
                <a:latin typeface="Segoe UI Semibold"/>
              </a:rPr>
              <a:t>Exact  </a:t>
            </a:r>
            <a:r>
              <a:rPr sz="1700">
                <a:solidFill>
                  <a:srgbClr val="C8D2F5"/>
                </a:solidFill>
                <a:latin typeface="Segoe UI"/>
              </a:rPr>
              <a:t>every deeplink is copied from the catalog</a:t>
            </a:r>
          </a:p>
        </p:txBody>
      </p:sp>
      <p:sp>
        <p:nvSpPr>
          <p:cNvPr id="8" name="Rounded Rectangle 7"/>
          <p:cNvSpPr/>
          <p:nvPr/>
        </p:nvSpPr>
        <p:spPr>
          <a:xfrm>
            <a:off x="640080" y="4270248"/>
            <a:ext cx="182880" cy="182880"/>
          </a:xfrm>
          <a:prstGeom prst="roundRect">
            <a:avLst>
              <a:gd name="adj" fmla="val 50000"/>
            </a:avLst>
          </a:prstGeom>
          <a:solidFill>
            <a:srgbClr val="5C7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4151376"/>
            <a:ext cx="6400800" cy="411480"/>
          </a:xfrm>
          <a:prstGeom prst="rect">
            <a:avLst/>
          </a:prstGeom>
          <a:noFill/>
        </p:spPr>
        <p:txBody>
          <a:bodyPr wrap="square" anchor="ctr" lIns="0" rIns="0" tIns="0" bIns="0">
            <a:spAutoFit/>
          </a:bodyPr>
          <a:lstStyle/>
          <a:p>
            <a:pPr algn="l">
              <a:lnSpc>
                <a:spcPct val="110000"/>
              </a:lnSpc>
              <a:spcAft>
                <a:spcPts val="400"/>
              </a:spcAft>
            </a:pPr>
            <a:r>
              <a:rPr sz="1700">
                <a:solidFill>
                  <a:srgbClr val="FFFFFF"/>
                </a:solidFill>
                <a:latin typeface="Segoe UI Semibold"/>
              </a:rPr>
              <a:t>Fast  </a:t>
            </a:r>
            <a:r>
              <a:rPr sz="1700">
                <a:solidFill>
                  <a:srgbClr val="C8D2F5"/>
                </a:solidFill>
                <a:latin typeface="Segoe UI"/>
              </a:rPr>
              <a:t>repeats come from memory in milliseconds, at $0</a:t>
            </a:r>
          </a:p>
        </p:txBody>
      </p:sp>
      <p:sp>
        <p:nvSpPr>
          <p:cNvPr id="10" name="Rounded Rectangle 9"/>
          <p:cNvSpPr/>
          <p:nvPr/>
        </p:nvSpPr>
        <p:spPr>
          <a:xfrm>
            <a:off x="640080" y="4837176"/>
            <a:ext cx="182880" cy="182880"/>
          </a:xfrm>
          <a:prstGeom prst="roundRect">
            <a:avLst>
              <a:gd name="adj" fmla="val 50000"/>
            </a:avLst>
          </a:prstGeom>
          <a:solidFill>
            <a:srgbClr val="5C7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718304"/>
            <a:ext cx="6400800" cy="411480"/>
          </a:xfrm>
          <a:prstGeom prst="rect">
            <a:avLst/>
          </a:prstGeom>
          <a:noFill/>
        </p:spPr>
        <p:txBody>
          <a:bodyPr wrap="square" anchor="ctr" lIns="0" rIns="0" tIns="0" bIns="0">
            <a:spAutoFit/>
          </a:bodyPr>
          <a:lstStyle/>
          <a:p>
            <a:pPr algn="l">
              <a:lnSpc>
                <a:spcPct val="110000"/>
              </a:lnSpc>
              <a:spcAft>
                <a:spcPts val="400"/>
              </a:spcAft>
            </a:pPr>
            <a:r>
              <a:rPr sz="1700">
                <a:solidFill>
                  <a:srgbClr val="FFFFFF"/>
                </a:solidFill>
                <a:latin typeface="Segoe UI Semibold"/>
              </a:rPr>
              <a:t>Scalable  </a:t>
            </a:r>
            <a:r>
              <a:rPr sz="1700">
                <a:solidFill>
                  <a:srgbClr val="C8D2F5"/>
                </a:solidFill>
                <a:latin typeface="Segoe UI"/>
              </a:rPr>
              <a:t>a new problem is one article, no code</a:t>
            </a:r>
          </a:p>
        </p:txBody>
      </p:sp>
      <p:sp>
        <p:nvSpPr>
          <p:cNvPr id="12" name="TextBox 11"/>
          <p:cNvSpPr txBox="1"/>
          <p:nvPr/>
        </p:nvSpPr>
        <p:spPr>
          <a:xfrm>
            <a:off x="640080" y="5669280"/>
            <a:ext cx="7772400" cy="548640"/>
          </a:xfrm>
          <a:prstGeom prst="rect">
            <a:avLst/>
          </a:prstGeom>
          <a:noFill/>
        </p:spPr>
        <p:txBody>
          <a:bodyPr wrap="square" anchor="t" lIns="0" rIns="0" tIns="0" bIns="0">
            <a:spAutoFit/>
          </a:bodyPr>
          <a:lstStyle/>
          <a:p>
            <a:pPr algn="l">
              <a:lnSpc>
                <a:spcPct val="110000"/>
              </a:lnSpc>
              <a:spcAft>
                <a:spcPts val="300"/>
              </a:spcAft>
            </a:pPr>
            <a:r>
              <a:rPr sz="1300">
                <a:solidFill>
                  <a:srgbClr val="FFFFFF"/>
                </a:solidFill>
                <a:latin typeface="Segoe UI Semibold"/>
              </a:rPr>
              <a:t>Team SRMIST_QueueQueueing</a:t>
            </a:r>
          </a:p>
          <a:p>
            <a:pPr algn="l">
              <a:lnSpc>
                <a:spcPct val="110000"/>
              </a:lnSpc>
              <a:spcAft>
                <a:spcPts val="300"/>
              </a:spcAft>
            </a:pPr>
            <a:r>
              <a:rPr sz="1300">
                <a:solidFill>
                  <a:srgbClr val="C8D2F5"/>
                </a:solidFill>
                <a:latin typeface="Segoe UI"/>
              </a:rPr>
              <a:t>Abhinav Kumar  ·  Abhishek Verma  ·  Ayushi Paul  ·  Ketki Gonnade</a:t>
            </a:r>
          </a:p>
        </p:txBody>
      </p:sp>
      <p:pic>
        <p:nvPicPr>
          <p:cNvPr id="13" name="Picture 12" descr="phone_close.png"/>
          <p:cNvPicPr>
            <a:picLocks noChangeAspect="1"/>
          </p:cNvPicPr>
          <p:nvPr/>
        </p:nvPicPr>
        <p:blipFill>
          <a:blip r:embed="rId2"/>
          <a:stretch>
            <a:fillRect/>
          </a:stretch>
        </p:blipFill>
        <p:spPr>
          <a:xfrm>
            <a:off x="7818120" y="685800"/>
            <a:ext cx="3794760" cy="6176577"/>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3F5"/>
        </a:solidFill>
        <a:effectLst/>
      </p:bgPr>
    </p:bg>
    <p:spTree>
      <p:nvGrpSpPr>
        <p:cNvPr id="1" name=""/>
        <p:cNvGrpSpPr/>
        <p:nvPr/>
      </p:nvGrpSpPr>
      <p:grpSpPr/>
      <p:sp>
        <p:nvSpPr>
          <p:cNvPr id="2" name="Rounded Rectangle 1"/>
          <p:cNvSpPr/>
          <p:nvPr/>
        </p:nvSpPr>
        <p:spPr>
          <a:xfrm>
            <a:off x="548640" y="384048"/>
            <a:ext cx="1383304" cy="292608"/>
          </a:xfrm>
          <a:prstGeom prst="roundRect">
            <a:avLst>
              <a:gd name="adj" fmla="val 50000"/>
            </a:avLst>
          </a:prstGeom>
          <a:solidFill>
            <a:srgbClr val="E6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383304" cy="292608"/>
          </a:xfrm>
          <a:prstGeom prst="rect">
            <a:avLst/>
          </a:prstGeom>
          <a:noFill/>
        </p:spPr>
        <p:txBody>
          <a:bodyPr wrap="square" anchor="ctr" lIns="0" rIns="0" tIns="0" bIns="0">
            <a:spAutoFit/>
          </a:bodyPr>
          <a:lstStyle/>
          <a:p>
            <a:pPr algn="ctr">
              <a:lnSpc>
                <a:spcPct val="110000"/>
              </a:lnSpc>
              <a:spcAft>
                <a:spcPts val="400"/>
              </a:spcAft>
            </a:pPr>
            <a:r>
              <a:rPr sz="1200">
                <a:solidFill>
                  <a:srgbClr val="5F6570"/>
                </a:solidFill>
                <a:latin typeface="Segoe UI Semibold"/>
              </a:rPr>
              <a:t>Backup for Q&amp;A</a:t>
            </a:r>
          </a:p>
        </p:txBody>
      </p:sp>
      <p:sp>
        <p:nvSpPr>
          <p:cNvPr id="4" name="TextBox 3"/>
          <p:cNvSpPr txBox="1"/>
          <p:nvPr/>
        </p:nvSpPr>
        <p:spPr>
          <a:xfrm>
            <a:off x="548640" y="804672"/>
            <a:ext cx="11064240" cy="640080"/>
          </a:xfrm>
          <a:prstGeom prst="rect">
            <a:avLst/>
          </a:prstGeom>
          <a:noFill/>
        </p:spPr>
        <p:txBody>
          <a:bodyPr wrap="square" anchor="t" lIns="0" rIns="0" tIns="0" bIns="0">
            <a:spAutoFit/>
          </a:bodyPr>
          <a:lstStyle/>
          <a:p>
            <a:pPr algn="l">
              <a:lnSpc>
                <a:spcPct val="100000"/>
              </a:lnSpc>
              <a:spcAft>
                <a:spcPts val="400"/>
              </a:spcAft>
            </a:pPr>
            <a:r>
              <a:rPr sz="3200">
                <a:solidFill>
                  <a:srgbClr val="111318"/>
                </a:solidFill>
                <a:latin typeface="Segoe UI Semibold"/>
              </a:rPr>
              <a:t>Results on the official and held-out sets</a:t>
            </a:r>
          </a:p>
        </p:txBody>
      </p:sp>
      <p:sp>
        <p:nvSpPr>
          <p:cNvPr id="5" name="TextBox 4"/>
          <p:cNvSpPr txBox="1"/>
          <p:nvPr/>
        </p:nvSpPr>
        <p:spPr>
          <a:xfrm>
            <a:off x="548640" y="6419088"/>
            <a:ext cx="5486400" cy="228600"/>
          </a:xfrm>
          <a:prstGeom prst="rect">
            <a:avLst/>
          </a:prstGeom>
          <a:noFill/>
        </p:spPr>
        <p:txBody>
          <a:bodyPr wrap="square" anchor="t" lIns="0" rIns="0" tIns="0" bIns="0">
            <a:spAutoFit/>
          </a:bodyPr>
          <a:lstStyle/>
          <a:p>
            <a:pPr algn="l">
              <a:lnSpc>
                <a:spcPct val="110000"/>
              </a:lnSpc>
              <a:spcAft>
                <a:spcPts val="400"/>
              </a:spcAft>
            </a:pPr>
            <a:r>
              <a:rPr sz="1000">
                <a:solidFill>
                  <a:srgbClr val="5F6570"/>
                </a:solidFill>
                <a:latin typeface="Segoe UI"/>
              </a:rPr>
              <a:t>FixFlow  ·  Team SRMIST_QueueQueueing</a:t>
            </a:r>
          </a:p>
        </p:txBody>
      </p:sp>
      <p:sp>
        <p:nvSpPr>
          <p:cNvPr id="6" name="TextBox 5"/>
          <p:cNvSpPr txBox="1"/>
          <p:nvPr/>
        </p:nvSpPr>
        <p:spPr>
          <a:xfrm>
            <a:off x="9811512" y="6419088"/>
            <a:ext cx="1828800" cy="228600"/>
          </a:xfrm>
          <a:prstGeom prst="rect">
            <a:avLst/>
          </a:prstGeom>
          <a:noFill/>
        </p:spPr>
        <p:txBody>
          <a:bodyPr wrap="square" anchor="t" lIns="0" rIns="0" tIns="0" bIns="0">
            <a:spAutoFit/>
          </a:bodyPr>
          <a:lstStyle/>
          <a:p>
            <a:pPr algn="r">
              <a:lnSpc>
                <a:spcPct val="110000"/>
              </a:lnSpc>
              <a:spcAft>
                <a:spcPts val="400"/>
              </a:spcAft>
            </a:pPr>
            <a:r>
              <a:rPr sz="1000">
                <a:solidFill>
                  <a:srgbClr val="5F6570"/>
                </a:solidFill>
                <a:latin typeface="Segoe UI"/>
              </a:rPr>
              <a:t>Backup 1</a:t>
            </a:r>
          </a:p>
        </p:txBody>
      </p:sp>
      <p:sp>
        <p:nvSpPr>
          <p:cNvPr id="7" name="Rounded Rectangle 6"/>
          <p:cNvSpPr/>
          <p:nvPr/>
        </p:nvSpPr>
        <p:spPr>
          <a:xfrm>
            <a:off x="548640" y="1691640"/>
            <a:ext cx="6766560" cy="4526280"/>
          </a:xfrm>
          <a:prstGeom prst="roundRect">
            <a:avLst>
              <a:gd name="adj" fmla="val 444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74519"/>
            <a:ext cx="3840480" cy="411480"/>
          </a:xfrm>
          <a:prstGeom prst="rect">
            <a:avLst/>
          </a:prstGeom>
          <a:noFill/>
        </p:spPr>
        <p:txBody>
          <a:bodyPr wrap="square" anchor="ctr" lIns="0" rIns="0" tIns="0" bIns="0">
            <a:spAutoFit/>
          </a:bodyPr>
          <a:lstStyle/>
          <a:p>
            <a:pPr algn="l">
              <a:lnSpc>
                <a:spcPct val="110000"/>
              </a:lnSpc>
              <a:spcAft>
                <a:spcPts val="400"/>
              </a:spcAft>
            </a:pPr>
            <a:r>
              <a:rPr sz="1200">
                <a:solidFill>
                  <a:srgbClr val="5F6570"/>
                </a:solidFill>
                <a:latin typeface="Segoe UI Semibold"/>
              </a:rPr>
              <a:t>Metric (target)</a:t>
            </a:r>
          </a:p>
        </p:txBody>
      </p:sp>
      <p:sp>
        <p:nvSpPr>
          <p:cNvPr id="9" name="TextBox 8"/>
          <p:cNvSpPr txBox="1"/>
          <p:nvPr/>
        </p:nvSpPr>
        <p:spPr>
          <a:xfrm>
            <a:off x="4663440" y="1874519"/>
            <a:ext cx="1188720" cy="411480"/>
          </a:xfrm>
          <a:prstGeom prst="rect">
            <a:avLst/>
          </a:prstGeom>
          <a:noFill/>
        </p:spPr>
        <p:txBody>
          <a:bodyPr wrap="square" anchor="ctr" lIns="0" rIns="0" tIns="0" bIns="0">
            <a:spAutoFit/>
          </a:bodyPr>
          <a:lstStyle/>
          <a:p>
            <a:pPr algn="r">
              <a:lnSpc>
                <a:spcPct val="110000"/>
              </a:lnSpc>
              <a:spcAft>
                <a:spcPts val="400"/>
              </a:spcAft>
            </a:pPr>
            <a:r>
              <a:rPr sz="1200">
                <a:solidFill>
                  <a:srgbClr val="5F6570"/>
                </a:solidFill>
                <a:latin typeface="Segoe UI Semibold"/>
              </a:rPr>
              <a:t>Official D1</a:t>
            </a:r>
          </a:p>
        </p:txBody>
      </p:sp>
      <p:sp>
        <p:nvSpPr>
          <p:cNvPr id="10" name="TextBox 9"/>
          <p:cNvSpPr txBox="1"/>
          <p:nvPr/>
        </p:nvSpPr>
        <p:spPr>
          <a:xfrm>
            <a:off x="5897880" y="1874519"/>
            <a:ext cx="1188720" cy="411480"/>
          </a:xfrm>
          <a:prstGeom prst="rect">
            <a:avLst/>
          </a:prstGeom>
          <a:noFill/>
        </p:spPr>
        <p:txBody>
          <a:bodyPr wrap="square" anchor="ctr" lIns="0" rIns="0" tIns="0" bIns="0">
            <a:spAutoFit/>
          </a:bodyPr>
          <a:lstStyle/>
          <a:p>
            <a:pPr algn="r">
              <a:lnSpc>
                <a:spcPct val="110000"/>
              </a:lnSpc>
              <a:spcAft>
                <a:spcPts val="400"/>
              </a:spcAft>
            </a:pPr>
            <a:r>
              <a:rPr sz="1200">
                <a:solidFill>
                  <a:srgbClr val="5F6570"/>
                </a:solidFill>
                <a:latin typeface="Segoe UI Semibold"/>
              </a:rPr>
              <a:t>Held-out D2b</a:t>
            </a:r>
          </a:p>
        </p:txBody>
      </p:sp>
      <p:sp>
        <p:nvSpPr>
          <p:cNvPr id="11" name="TextBox 10"/>
          <p:cNvSpPr txBox="1"/>
          <p:nvPr/>
        </p:nvSpPr>
        <p:spPr>
          <a:xfrm>
            <a:off x="822960" y="2404872"/>
            <a:ext cx="3840480" cy="411480"/>
          </a:xfrm>
          <a:prstGeom prst="rect">
            <a:avLst/>
          </a:prstGeom>
          <a:noFill/>
        </p:spPr>
        <p:txBody>
          <a:bodyPr wrap="square" anchor="ctr" lIns="0" rIns="0" tIns="0" bIns="0">
            <a:spAutoFit/>
          </a:bodyPr>
          <a:lstStyle/>
          <a:p>
            <a:pPr algn="l">
              <a:lnSpc>
                <a:spcPct val="110000"/>
              </a:lnSpc>
              <a:spcAft>
                <a:spcPts val="400"/>
              </a:spcAft>
            </a:pPr>
            <a:r>
              <a:rPr sz="1350">
                <a:solidFill>
                  <a:srgbClr val="111318"/>
                </a:solidFill>
                <a:latin typeface="Segoe UI"/>
              </a:rPr>
              <a:t>Schema-valid / rule compliance (99% / 95%)</a:t>
            </a:r>
          </a:p>
        </p:txBody>
      </p:sp>
      <p:sp>
        <p:nvSpPr>
          <p:cNvPr id="12" name="TextBox 11"/>
          <p:cNvSpPr txBox="1"/>
          <p:nvPr/>
        </p:nvSpPr>
        <p:spPr>
          <a:xfrm>
            <a:off x="4663440" y="2404872"/>
            <a:ext cx="1188720" cy="411480"/>
          </a:xfrm>
          <a:prstGeom prst="rect">
            <a:avLst/>
          </a:prstGeom>
          <a:noFill/>
        </p:spPr>
        <p:txBody>
          <a:bodyPr wrap="square" anchor="ctr" lIns="0" rIns="0" tIns="0" bIns="0">
            <a:spAutoFit/>
          </a:bodyPr>
          <a:lstStyle/>
          <a:p>
            <a:pPr algn="r">
              <a:lnSpc>
                <a:spcPct val="110000"/>
              </a:lnSpc>
              <a:spcAft>
                <a:spcPts val="400"/>
              </a:spcAft>
            </a:pPr>
            <a:r>
              <a:rPr sz="1350">
                <a:solidFill>
                  <a:srgbClr val="111318"/>
                </a:solidFill>
                <a:latin typeface="Segoe UI Semibold"/>
              </a:rPr>
              <a:t>100% / 100%</a:t>
            </a:r>
          </a:p>
        </p:txBody>
      </p:sp>
      <p:sp>
        <p:nvSpPr>
          <p:cNvPr id="13" name="TextBox 12"/>
          <p:cNvSpPr txBox="1"/>
          <p:nvPr/>
        </p:nvSpPr>
        <p:spPr>
          <a:xfrm>
            <a:off x="5897880" y="2404872"/>
            <a:ext cx="1188720" cy="411480"/>
          </a:xfrm>
          <a:prstGeom prst="rect">
            <a:avLst/>
          </a:prstGeom>
          <a:noFill/>
        </p:spPr>
        <p:txBody>
          <a:bodyPr wrap="square" anchor="ctr" lIns="0" rIns="0" tIns="0" bIns="0">
            <a:spAutoFit/>
          </a:bodyPr>
          <a:lstStyle/>
          <a:p>
            <a:pPr algn="r">
              <a:lnSpc>
                <a:spcPct val="110000"/>
              </a:lnSpc>
              <a:spcAft>
                <a:spcPts val="400"/>
              </a:spcAft>
            </a:pPr>
            <a:r>
              <a:rPr sz="1350">
                <a:solidFill>
                  <a:srgbClr val="111318"/>
                </a:solidFill>
                <a:latin typeface="Segoe UI Semibold"/>
              </a:rPr>
              <a:t>100% / 100%</a:t>
            </a:r>
          </a:p>
        </p:txBody>
      </p:sp>
      <p:sp>
        <p:nvSpPr>
          <p:cNvPr id="14" name="Rectangle 13"/>
          <p:cNvSpPr/>
          <p:nvPr/>
        </p:nvSpPr>
        <p:spPr>
          <a:xfrm>
            <a:off x="822960" y="2340864"/>
            <a:ext cx="6263640" cy="10972"/>
          </a:xfrm>
          <a:prstGeom prst="rect">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935224"/>
            <a:ext cx="3840480" cy="411480"/>
          </a:xfrm>
          <a:prstGeom prst="rect">
            <a:avLst/>
          </a:prstGeom>
          <a:noFill/>
        </p:spPr>
        <p:txBody>
          <a:bodyPr wrap="square" anchor="ctr" lIns="0" rIns="0" tIns="0" bIns="0">
            <a:spAutoFit/>
          </a:bodyPr>
          <a:lstStyle/>
          <a:p>
            <a:pPr algn="l">
              <a:lnSpc>
                <a:spcPct val="110000"/>
              </a:lnSpc>
              <a:spcAft>
                <a:spcPts val="400"/>
              </a:spcAft>
            </a:pPr>
            <a:r>
              <a:rPr sz="1350">
                <a:solidFill>
                  <a:srgbClr val="111318"/>
                </a:solidFill>
                <a:latin typeface="Segoe UI"/>
              </a:rPr>
              <a:t>Web links in output (0)</a:t>
            </a:r>
          </a:p>
        </p:txBody>
      </p:sp>
      <p:sp>
        <p:nvSpPr>
          <p:cNvPr id="16" name="TextBox 15"/>
          <p:cNvSpPr txBox="1"/>
          <p:nvPr/>
        </p:nvSpPr>
        <p:spPr>
          <a:xfrm>
            <a:off x="4663440" y="2935224"/>
            <a:ext cx="1188720" cy="411480"/>
          </a:xfrm>
          <a:prstGeom prst="rect">
            <a:avLst/>
          </a:prstGeom>
          <a:noFill/>
        </p:spPr>
        <p:txBody>
          <a:bodyPr wrap="square" anchor="ctr" lIns="0" rIns="0" tIns="0" bIns="0">
            <a:spAutoFit/>
          </a:bodyPr>
          <a:lstStyle/>
          <a:p>
            <a:pPr algn="r">
              <a:lnSpc>
                <a:spcPct val="110000"/>
              </a:lnSpc>
              <a:spcAft>
                <a:spcPts val="400"/>
              </a:spcAft>
            </a:pPr>
            <a:r>
              <a:rPr sz="1350">
                <a:solidFill>
                  <a:srgbClr val="111318"/>
                </a:solidFill>
                <a:latin typeface="Segoe UI Semibold"/>
              </a:rPr>
              <a:t>0</a:t>
            </a:r>
          </a:p>
        </p:txBody>
      </p:sp>
      <p:sp>
        <p:nvSpPr>
          <p:cNvPr id="17" name="TextBox 16"/>
          <p:cNvSpPr txBox="1"/>
          <p:nvPr/>
        </p:nvSpPr>
        <p:spPr>
          <a:xfrm>
            <a:off x="5897880" y="2935224"/>
            <a:ext cx="1188720" cy="411480"/>
          </a:xfrm>
          <a:prstGeom prst="rect">
            <a:avLst/>
          </a:prstGeom>
          <a:noFill/>
        </p:spPr>
        <p:txBody>
          <a:bodyPr wrap="square" anchor="ctr" lIns="0" rIns="0" tIns="0" bIns="0">
            <a:spAutoFit/>
          </a:bodyPr>
          <a:lstStyle/>
          <a:p>
            <a:pPr algn="r">
              <a:lnSpc>
                <a:spcPct val="110000"/>
              </a:lnSpc>
              <a:spcAft>
                <a:spcPts val="400"/>
              </a:spcAft>
            </a:pPr>
            <a:r>
              <a:rPr sz="1350">
                <a:solidFill>
                  <a:srgbClr val="111318"/>
                </a:solidFill>
                <a:latin typeface="Segoe UI Semibold"/>
              </a:rPr>
              <a:t>0</a:t>
            </a:r>
          </a:p>
        </p:txBody>
      </p:sp>
      <p:sp>
        <p:nvSpPr>
          <p:cNvPr id="18" name="Rectangle 17"/>
          <p:cNvSpPr/>
          <p:nvPr/>
        </p:nvSpPr>
        <p:spPr>
          <a:xfrm>
            <a:off x="822960" y="2871216"/>
            <a:ext cx="6263640" cy="10972"/>
          </a:xfrm>
          <a:prstGeom prst="rect">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465575"/>
            <a:ext cx="3840480" cy="411480"/>
          </a:xfrm>
          <a:prstGeom prst="rect">
            <a:avLst/>
          </a:prstGeom>
          <a:noFill/>
        </p:spPr>
        <p:txBody>
          <a:bodyPr wrap="square" anchor="ctr" lIns="0" rIns="0" tIns="0" bIns="0">
            <a:spAutoFit/>
          </a:bodyPr>
          <a:lstStyle/>
          <a:p>
            <a:pPr algn="l">
              <a:lnSpc>
                <a:spcPct val="110000"/>
              </a:lnSpc>
              <a:spcAft>
                <a:spcPts val="400"/>
              </a:spcAft>
            </a:pPr>
            <a:r>
              <a:rPr sz="1350">
                <a:solidFill>
                  <a:srgbClr val="111318"/>
                </a:solidFill>
                <a:latin typeface="Segoe UI"/>
              </a:rPr>
              <a:t>Settings steps with a catalog deeplink (90%)</a:t>
            </a:r>
          </a:p>
        </p:txBody>
      </p:sp>
      <p:sp>
        <p:nvSpPr>
          <p:cNvPr id="20" name="TextBox 19"/>
          <p:cNvSpPr txBox="1"/>
          <p:nvPr/>
        </p:nvSpPr>
        <p:spPr>
          <a:xfrm>
            <a:off x="4663440" y="3465575"/>
            <a:ext cx="1188720" cy="411480"/>
          </a:xfrm>
          <a:prstGeom prst="rect">
            <a:avLst/>
          </a:prstGeom>
          <a:noFill/>
        </p:spPr>
        <p:txBody>
          <a:bodyPr wrap="square" anchor="ctr" lIns="0" rIns="0" tIns="0" bIns="0">
            <a:spAutoFit/>
          </a:bodyPr>
          <a:lstStyle/>
          <a:p>
            <a:pPr algn="r">
              <a:lnSpc>
                <a:spcPct val="110000"/>
              </a:lnSpc>
              <a:spcAft>
                <a:spcPts val="400"/>
              </a:spcAft>
            </a:pPr>
            <a:r>
              <a:rPr sz="1350">
                <a:solidFill>
                  <a:srgbClr val="111318"/>
                </a:solidFill>
                <a:latin typeface="Segoe UI Semibold"/>
              </a:rPr>
              <a:t>100%</a:t>
            </a:r>
          </a:p>
        </p:txBody>
      </p:sp>
      <p:sp>
        <p:nvSpPr>
          <p:cNvPr id="21" name="TextBox 20"/>
          <p:cNvSpPr txBox="1"/>
          <p:nvPr/>
        </p:nvSpPr>
        <p:spPr>
          <a:xfrm>
            <a:off x="5897880" y="3465575"/>
            <a:ext cx="1188720" cy="411480"/>
          </a:xfrm>
          <a:prstGeom prst="rect">
            <a:avLst/>
          </a:prstGeom>
          <a:noFill/>
        </p:spPr>
        <p:txBody>
          <a:bodyPr wrap="square" anchor="ctr" lIns="0" rIns="0" tIns="0" bIns="0">
            <a:spAutoFit/>
          </a:bodyPr>
          <a:lstStyle/>
          <a:p>
            <a:pPr algn="r">
              <a:lnSpc>
                <a:spcPct val="110000"/>
              </a:lnSpc>
              <a:spcAft>
                <a:spcPts val="400"/>
              </a:spcAft>
            </a:pPr>
            <a:r>
              <a:rPr sz="1350">
                <a:solidFill>
                  <a:srgbClr val="111318"/>
                </a:solidFill>
                <a:latin typeface="Segoe UI Semibold"/>
              </a:rPr>
              <a:t>100%</a:t>
            </a:r>
          </a:p>
        </p:txBody>
      </p:sp>
      <p:sp>
        <p:nvSpPr>
          <p:cNvPr id="22" name="Rectangle 21"/>
          <p:cNvSpPr/>
          <p:nvPr/>
        </p:nvSpPr>
        <p:spPr>
          <a:xfrm>
            <a:off x="822960" y="3401568"/>
            <a:ext cx="6263640" cy="10972"/>
          </a:xfrm>
          <a:prstGeom prst="rect">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995927"/>
            <a:ext cx="3840480" cy="411480"/>
          </a:xfrm>
          <a:prstGeom prst="rect">
            <a:avLst/>
          </a:prstGeom>
          <a:noFill/>
        </p:spPr>
        <p:txBody>
          <a:bodyPr wrap="square" anchor="ctr" lIns="0" rIns="0" tIns="0" bIns="0">
            <a:spAutoFit/>
          </a:bodyPr>
          <a:lstStyle/>
          <a:p>
            <a:pPr algn="l">
              <a:lnSpc>
                <a:spcPct val="110000"/>
              </a:lnSpc>
              <a:spcAft>
                <a:spcPts val="400"/>
              </a:spcAft>
            </a:pPr>
            <a:r>
              <a:rPr sz="1350">
                <a:solidFill>
                  <a:srgbClr val="111318"/>
                </a:solidFill>
                <a:latin typeface="Segoe UI"/>
              </a:rPr>
              <a:t>Step accuracy, gold proxy (0 to 3)</a:t>
            </a:r>
          </a:p>
        </p:txBody>
      </p:sp>
      <p:sp>
        <p:nvSpPr>
          <p:cNvPr id="24" name="TextBox 23"/>
          <p:cNvSpPr txBox="1"/>
          <p:nvPr/>
        </p:nvSpPr>
        <p:spPr>
          <a:xfrm>
            <a:off x="4663440" y="3995927"/>
            <a:ext cx="1188720" cy="411480"/>
          </a:xfrm>
          <a:prstGeom prst="rect">
            <a:avLst/>
          </a:prstGeom>
          <a:noFill/>
        </p:spPr>
        <p:txBody>
          <a:bodyPr wrap="square" anchor="ctr" lIns="0" rIns="0" tIns="0" bIns="0">
            <a:spAutoFit/>
          </a:bodyPr>
          <a:lstStyle/>
          <a:p>
            <a:pPr algn="r">
              <a:lnSpc>
                <a:spcPct val="110000"/>
              </a:lnSpc>
              <a:spcAft>
                <a:spcPts val="400"/>
              </a:spcAft>
            </a:pPr>
            <a:r>
              <a:rPr sz="1350">
                <a:solidFill>
                  <a:srgbClr val="111318"/>
                </a:solidFill>
                <a:latin typeface="Segoe UI Semibold"/>
              </a:rPr>
              <a:t>2.60</a:t>
            </a:r>
          </a:p>
        </p:txBody>
      </p:sp>
      <p:sp>
        <p:nvSpPr>
          <p:cNvPr id="25" name="TextBox 24"/>
          <p:cNvSpPr txBox="1"/>
          <p:nvPr/>
        </p:nvSpPr>
        <p:spPr>
          <a:xfrm>
            <a:off x="5897880" y="3995927"/>
            <a:ext cx="1188720" cy="411480"/>
          </a:xfrm>
          <a:prstGeom prst="rect">
            <a:avLst/>
          </a:prstGeom>
          <a:noFill/>
        </p:spPr>
        <p:txBody>
          <a:bodyPr wrap="square" anchor="ctr" lIns="0" rIns="0" tIns="0" bIns="0">
            <a:spAutoFit/>
          </a:bodyPr>
          <a:lstStyle/>
          <a:p>
            <a:pPr algn="r">
              <a:lnSpc>
                <a:spcPct val="110000"/>
              </a:lnSpc>
              <a:spcAft>
                <a:spcPts val="400"/>
              </a:spcAft>
            </a:pPr>
            <a:r>
              <a:rPr sz="1350">
                <a:solidFill>
                  <a:srgbClr val="111318"/>
                </a:solidFill>
                <a:latin typeface="Segoe UI Semibold"/>
              </a:rPr>
              <a:t>2.73</a:t>
            </a:r>
          </a:p>
        </p:txBody>
      </p:sp>
      <p:sp>
        <p:nvSpPr>
          <p:cNvPr id="26" name="Rectangle 25"/>
          <p:cNvSpPr/>
          <p:nvPr/>
        </p:nvSpPr>
        <p:spPr>
          <a:xfrm>
            <a:off x="822960" y="3931919"/>
            <a:ext cx="6263640" cy="10972"/>
          </a:xfrm>
          <a:prstGeom prst="rect">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526279"/>
            <a:ext cx="3840480" cy="411480"/>
          </a:xfrm>
          <a:prstGeom prst="rect">
            <a:avLst/>
          </a:prstGeom>
          <a:noFill/>
        </p:spPr>
        <p:txBody>
          <a:bodyPr wrap="square" anchor="ctr" lIns="0" rIns="0" tIns="0" bIns="0">
            <a:spAutoFit/>
          </a:bodyPr>
          <a:lstStyle/>
          <a:p>
            <a:pPr algn="l">
              <a:lnSpc>
                <a:spcPct val="110000"/>
              </a:lnSpc>
              <a:spcAft>
                <a:spcPts val="400"/>
              </a:spcAft>
            </a:pPr>
            <a:r>
              <a:rPr sz="1350">
                <a:solidFill>
                  <a:srgbClr val="111318"/>
                </a:solidFill>
                <a:latin typeface="Segoe UI"/>
              </a:rPr>
              <a:t>Step accuracy, LLM judge (0 to 3)</a:t>
            </a:r>
          </a:p>
        </p:txBody>
      </p:sp>
      <p:sp>
        <p:nvSpPr>
          <p:cNvPr id="28" name="TextBox 27"/>
          <p:cNvSpPr txBox="1"/>
          <p:nvPr/>
        </p:nvSpPr>
        <p:spPr>
          <a:xfrm>
            <a:off x="4663440" y="4526279"/>
            <a:ext cx="1188720" cy="411480"/>
          </a:xfrm>
          <a:prstGeom prst="rect">
            <a:avLst/>
          </a:prstGeom>
          <a:noFill/>
        </p:spPr>
        <p:txBody>
          <a:bodyPr wrap="square" anchor="ctr" lIns="0" rIns="0" tIns="0" bIns="0">
            <a:spAutoFit/>
          </a:bodyPr>
          <a:lstStyle/>
          <a:p>
            <a:pPr algn="r">
              <a:lnSpc>
                <a:spcPct val="110000"/>
              </a:lnSpc>
              <a:spcAft>
                <a:spcPts val="400"/>
              </a:spcAft>
            </a:pPr>
            <a:r>
              <a:rPr sz="1350">
                <a:solidFill>
                  <a:srgbClr val="111318"/>
                </a:solidFill>
                <a:latin typeface="Segoe UI Semibold"/>
              </a:rPr>
              <a:t>1.94</a:t>
            </a:r>
          </a:p>
        </p:txBody>
      </p:sp>
      <p:sp>
        <p:nvSpPr>
          <p:cNvPr id="29" name="TextBox 28"/>
          <p:cNvSpPr txBox="1"/>
          <p:nvPr/>
        </p:nvSpPr>
        <p:spPr>
          <a:xfrm>
            <a:off x="5897880" y="4526279"/>
            <a:ext cx="1188720" cy="411480"/>
          </a:xfrm>
          <a:prstGeom prst="rect">
            <a:avLst/>
          </a:prstGeom>
          <a:noFill/>
        </p:spPr>
        <p:txBody>
          <a:bodyPr wrap="square" anchor="ctr" lIns="0" rIns="0" tIns="0" bIns="0">
            <a:spAutoFit/>
          </a:bodyPr>
          <a:lstStyle/>
          <a:p>
            <a:pPr algn="r">
              <a:lnSpc>
                <a:spcPct val="110000"/>
              </a:lnSpc>
              <a:spcAft>
                <a:spcPts val="400"/>
              </a:spcAft>
            </a:pPr>
            <a:r>
              <a:rPr sz="1350">
                <a:solidFill>
                  <a:srgbClr val="111318"/>
                </a:solidFill>
                <a:latin typeface="Segoe UI Semibold"/>
              </a:rPr>
              <a:t>2.06</a:t>
            </a:r>
          </a:p>
        </p:txBody>
      </p:sp>
      <p:sp>
        <p:nvSpPr>
          <p:cNvPr id="30" name="Rectangle 29"/>
          <p:cNvSpPr/>
          <p:nvPr/>
        </p:nvSpPr>
        <p:spPr>
          <a:xfrm>
            <a:off x="822960" y="4462271"/>
            <a:ext cx="6263640" cy="10972"/>
          </a:xfrm>
          <a:prstGeom prst="rect">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056631"/>
            <a:ext cx="3840480" cy="411480"/>
          </a:xfrm>
          <a:prstGeom prst="rect">
            <a:avLst/>
          </a:prstGeom>
          <a:noFill/>
        </p:spPr>
        <p:txBody>
          <a:bodyPr wrap="square" anchor="ctr" lIns="0" rIns="0" tIns="0" bIns="0">
            <a:spAutoFit/>
          </a:bodyPr>
          <a:lstStyle/>
          <a:p>
            <a:pPr algn="l">
              <a:lnSpc>
                <a:spcPct val="110000"/>
              </a:lnSpc>
              <a:spcAft>
                <a:spcPts val="400"/>
              </a:spcAft>
            </a:pPr>
            <a:r>
              <a:rPr sz="1350">
                <a:solidFill>
                  <a:srgbClr val="111318"/>
                </a:solidFill>
                <a:latin typeface="Segoe UI"/>
              </a:rPr>
              <a:t>Deeplink relevance (0 to 2) / precision</a:t>
            </a:r>
          </a:p>
        </p:txBody>
      </p:sp>
      <p:sp>
        <p:nvSpPr>
          <p:cNvPr id="32" name="TextBox 31"/>
          <p:cNvSpPr txBox="1"/>
          <p:nvPr/>
        </p:nvSpPr>
        <p:spPr>
          <a:xfrm>
            <a:off x="4663440" y="5056631"/>
            <a:ext cx="1188720" cy="411480"/>
          </a:xfrm>
          <a:prstGeom prst="rect">
            <a:avLst/>
          </a:prstGeom>
          <a:noFill/>
        </p:spPr>
        <p:txBody>
          <a:bodyPr wrap="square" anchor="ctr" lIns="0" rIns="0" tIns="0" bIns="0">
            <a:spAutoFit/>
          </a:bodyPr>
          <a:lstStyle/>
          <a:p>
            <a:pPr algn="r">
              <a:lnSpc>
                <a:spcPct val="110000"/>
              </a:lnSpc>
              <a:spcAft>
                <a:spcPts val="400"/>
              </a:spcAft>
            </a:pPr>
            <a:r>
              <a:rPr sz="1350">
                <a:solidFill>
                  <a:srgbClr val="111318"/>
                </a:solidFill>
                <a:latin typeface="Segoe UI Semibold"/>
              </a:rPr>
              <a:t>2.00 / 100%</a:t>
            </a:r>
          </a:p>
        </p:txBody>
      </p:sp>
      <p:sp>
        <p:nvSpPr>
          <p:cNvPr id="33" name="TextBox 32"/>
          <p:cNvSpPr txBox="1"/>
          <p:nvPr/>
        </p:nvSpPr>
        <p:spPr>
          <a:xfrm>
            <a:off x="5897880" y="5056631"/>
            <a:ext cx="1188720" cy="411480"/>
          </a:xfrm>
          <a:prstGeom prst="rect">
            <a:avLst/>
          </a:prstGeom>
          <a:noFill/>
        </p:spPr>
        <p:txBody>
          <a:bodyPr wrap="square" anchor="ctr" lIns="0" rIns="0" tIns="0" bIns="0">
            <a:spAutoFit/>
          </a:bodyPr>
          <a:lstStyle/>
          <a:p>
            <a:pPr algn="r">
              <a:lnSpc>
                <a:spcPct val="110000"/>
              </a:lnSpc>
              <a:spcAft>
                <a:spcPts val="400"/>
              </a:spcAft>
            </a:pPr>
            <a:r>
              <a:rPr sz="1350">
                <a:solidFill>
                  <a:srgbClr val="111318"/>
                </a:solidFill>
                <a:latin typeface="Segoe UI Semibold"/>
              </a:rPr>
              <a:t>1.82 / 91%</a:t>
            </a:r>
          </a:p>
        </p:txBody>
      </p:sp>
      <p:sp>
        <p:nvSpPr>
          <p:cNvPr id="34" name="Rectangle 33"/>
          <p:cNvSpPr/>
          <p:nvPr/>
        </p:nvSpPr>
        <p:spPr>
          <a:xfrm>
            <a:off x="822960" y="4992623"/>
            <a:ext cx="6263640" cy="10972"/>
          </a:xfrm>
          <a:prstGeom prst="rect">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5586983"/>
            <a:ext cx="3840480" cy="411480"/>
          </a:xfrm>
          <a:prstGeom prst="rect">
            <a:avLst/>
          </a:prstGeom>
          <a:noFill/>
        </p:spPr>
        <p:txBody>
          <a:bodyPr wrap="square" anchor="ctr" lIns="0" rIns="0" tIns="0" bIns="0">
            <a:spAutoFit/>
          </a:bodyPr>
          <a:lstStyle/>
          <a:p>
            <a:pPr algn="l">
              <a:lnSpc>
                <a:spcPct val="110000"/>
              </a:lnSpc>
              <a:spcAft>
                <a:spcPts val="400"/>
              </a:spcAft>
            </a:pPr>
            <a:r>
              <a:rPr sz="1350">
                <a:solidFill>
                  <a:srgbClr val="111318"/>
                </a:solidFill>
                <a:latin typeface="Segoe UI"/>
              </a:rPr>
              <a:t>Says no_match at the right time</a:t>
            </a:r>
          </a:p>
        </p:txBody>
      </p:sp>
      <p:sp>
        <p:nvSpPr>
          <p:cNvPr id="36" name="TextBox 35"/>
          <p:cNvSpPr txBox="1"/>
          <p:nvPr/>
        </p:nvSpPr>
        <p:spPr>
          <a:xfrm>
            <a:off x="4663440" y="5586983"/>
            <a:ext cx="1188720" cy="411480"/>
          </a:xfrm>
          <a:prstGeom prst="rect">
            <a:avLst/>
          </a:prstGeom>
          <a:noFill/>
        </p:spPr>
        <p:txBody>
          <a:bodyPr wrap="square" anchor="ctr" lIns="0" rIns="0" tIns="0" bIns="0">
            <a:spAutoFit/>
          </a:bodyPr>
          <a:lstStyle/>
          <a:p>
            <a:pPr algn="r">
              <a:lnSpc>
                <a:spcPct val="110000"/>
              </a:lnSpc>
              <a:spcAft>
                <a:spcPts val="400"/>
              </a:spcAft>
            </a:pPr>
            <a:r>
              <a:rPr sz="1350">
                <a:solidFill>
                  <a:srgbClr val="111318"/>
                </a:solidFill>
                <a:latin typeface="Segoe UI Semibold"/>
              </a:rPr>
              <a:t>95%</a:t>
            </a:r>
          </a:p>
        </p:txBody>
      </p:sp>
      <p:sp>
        <p:nvSpPr>
          <p:cNvPr id="37" name="TextBox 36"/>
          <p:cNvSpPr txBox="1"/>
          <p:nvPr/>
        </p:nvSpPr>
        <p:spPr>
          <a:xfrm>
            <a:off x="5897880" y="5586983"/>
            <a:ext cx="1188720" cy="411480"/>
          </a:xfrm>
          <a:prstGeom prst="rect">
            <a:avLst/>
          </a:prstGeom>
          <a:noFill/>
        </p:spPr>
        <p:txBody>
          <a:bodyPr wrap="square" anchor="ctr" lIns="0" rIns="0" tIns="0" bIns="0">
            <a:spAutoFit/>
          </a:bodyPr>
          <a:lstStyle/>
          <a:p>
            <a:pPr algn="r">
              <a:lnSpc>
                <a:spcPct val="110000"/>
              </a:lnSpc>
              <a:spcAft>
                <a:spcPts val="400"/>
              </a:spcAft>
            </a:pPr>
            <a:r>
              <a:rPr sz="1350">
                <a:solidFill>
                  <a:srgbClr val="111318"/>
                </a:solidFill>
                <a:latin typeface="Segoe UI Semibold"/>
              </a:rPr>
              <a:t>90%</a:t>
            </a:r>
          </a:p>
        </p:txBody>
      </p:sp>
      <p:sp>
        <p:nvSpPr>
          <p:cNvPr id="38" name="Rectangle 37"/>
          <p:cNvSpPr/>
          <p:nvPr/>
        </p:nvSpPr>
        <p:spPr>
          <a:xfrm>
            <a:off x="822960" y="5522975"/>
            <a:ext cx="6263640" cy="10972"/>
          </a:xfrm>
          <a:prstGeom prst="rect">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589520" y="1691640"/>
            <a:ext cx="4050791" cy="4526280"/>
          </a:xfrm>
          <a:prstGeom prst="roundRect">
            <a:avLst>
              <a:gd name="adj" fmla="val 49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63840" y="1920240"/>
            <a:ext cx="3566160" cy="320040"/>
          </a:xfrm>
          <a:prstGeom prst="rect">
            <a:avLst/>
          </a:prstGeom>
          <a:noFill/>
        </p:spPr>
        <p:txBody>
          <a:bodyPr wrap="square" anchor="t" lIns="0" rIns="0" tIns="0" bIns="0">
            <a:spAutoFit/>
          </a:bodyPr>
          <a:lstStyle/>
          <a:p>
            <a:pPr algn="l">
              <a:lnSpc>
                <a:spcPct val="110000"/>
              </a:lnSpc>
              <a:spcAft>
                <a:spcPts val="400"/>
              </a:spcAft>
            </a:pPr>
            <a:r>
              <a:rPr sz="1500">
                <a:solidFill>
                  <a:srgbClr val="111318"/>
                </a:solidFill>
                <a:latin typeface="Segoe UI Semibold"/>
              </a:rPr>
              <a:t>Deeplink mapping ablation</a:t>
            </a:r>
          </a:p>
        </p:txBody>
      </p:sp>
      <p:sp>
        <p:nvSpPr>
          <p:cNvPr id="41" name="TextBox 40"/>
          <p:cNvSpPr txBox="1"/>
          <p:nvPr/>
        </p:nvSpPr>
        <p:spPr>
          <a:xfrm>
            <a:off x="7863840" y="2240280"/>
            <a:ext cx="3566160" cy="457200"/>
          </a:xfrm>
          <a:prstGeom prst="rect">
            <a:avLst/>
          </a:prstGeom>
          <a:noFill/>
        </p:spPr>
        <p:txBody>
          <a:bodyPr wrap="square" anchor="t" lIns="0" rIns="0" tIns="0" bIns="0">
            <a:spAutoFit/>
          </a:bodyPr>
          <a:lstStyle/>
          <a:p>
            <a:pPr algn="l">
              <a:lnSpc>
                <a:spcPct val="110000"/>
              </a:lnSpc>
              <a:spcAft>
                <a:spcPts val="400"/>
              </a:spcAft>
            </a:pPr>
            <a:r>
              <a:rPr sz="1150">
                <a:solidFill>
                  <a:srgbClr val="5F6570"/>
                </a:solidFill>
                <a:latin typeface="Segoe UI"/>
              </a:rPr>
              <a:t>Same extraction, only the mapper changes (D1 + D2, on gold)</a:t>
            </a:r>
          </a:p>
        </p:txBody>
      </p:sp>
      <p:sp>
        <p:nvSpPr>
          <p:cNvPr id="42" name="TextBox 41"/>
          <p:cNvSpPr txBox="1"/>
          <p:nvPr/>
        </p:nvSpPr>
        <p:spPr>
          <a:xfrm>
            <a:off x="7863840" y="2880360"/>
            <a:ext cx="3566160" cy="274320"/>
          </a:xfrm>
          <a:prstGeom prst="rect">
            <a:avLst/>
          </a:prstGeom>
          <a:noFill/>
        </p:spPr>
        <p:txBody>
          <a:bodyPr wrap="square" anchor="t" lIns="0" rIns="0" tIns="0" bIns="0">
            <a:spAutoFit/>
          </a:bodyPr>
          <a:lstStyle/>
          <a:p>
            <a:pPr algn="l">
              <a:lnSpc>
                <a:spcPct val="110000"/>
              </a:lnSpc>
              <a:spcAft>
                <a:spcPts val="400"/>
              </a:spcAft>
            </a:pPr>
            <a:r>
              <a:rPr sz="1350">
                <a:solidFill>
                  <a:srgbClr val="111318"/>
                </a:solidFill>
                <a:latin typeface="Segoe UI Semibold"/>
              </a:rPr>
              <a:t>Hybrid BM25 + dense (ours)</a:t>
            </a:r>
          </a:p>
        </p:txBody>
      </p:sp>
      <p:sp>
        <p:nvSpPr>
          <p:cNvPr id="43" name="TextBox 42"/>
          <p:cNvSpPr txBox="1"/>
          <p:nvPr/>
        </p:nvSpPr>
        <p:spPr>
          <a:xfrm>
            <a:off x="7863840" y="3209544"/>
            <a:ext cx="3566160" cy="457200"/>
          </a:xfrm>
          <a:prstGeom prst="rect">
            <a:avLst/>
          </a:prstGeom>
          <a:noFill/>
        </p:spPr>
        <p:txBody>
          <a:bodyPr wrap="square" anchor="t" lIns="0" rIns="0" tIns="0" bIns="0">
            <a:spAutoFit/>
          </a:bodyPr>
          <a:lstStyle/>
          <a:p>
            <a:pPr algn="l">
              <a:lnSpc>
                <a:spcPct val="110000"/>
              </a:lnSpc>
              <a:spcAft>
                <a:spcPts val="400"/>
              </a:spcAft>
            </a:pPr>
            <a:r>
              <a:rPr sz="2200">
                <a:solidFill>
                  <a:srgbClr val="1F5FD6"/>
                </a:solidFill>
                <a:latin typeface="Segoe UI Bold"/>
              </a:rPr>
              <a:t>100%</a:t>
            </a:r>
            <a:r>
              <a:rPr sz="1150">
                <a:solidFill>
                  <a:srgbClr val="5F6570"/>
                </a:solidFill>
                <a:latin typeface="Segoe UI"/>
              </a:rPr>
              <a:t>  precision    </a:t>
            </a:r>
            <a:r>
              <a:rPr sz="1150">
                <a:solidFill>
                  <a:srgbClr val="5F6570"/>
                </a:solidFill>
                <a:latin typeface="Segoe UI"/>
              </a:rPr>
              <a:t>relevance 1.88   cost $0</a:t>
            </a:r>
          </a:p>
        </p:txBody>
      </p:sp>
      <p:sp>
        <p:nvSpPr>
          <p:cNvPr id="44" name="TextBox 43"/>
          <p:cNvSpPr txBox="1"/>
          <p:nvPr/>
        </p:nvSpPr>
        <p:spPr>
          <a:xfrm>
            <a:off x="7863840" y="3931920"/>
            <a:ext cx="3566160" cy="274320"/>
          </a:xfrm>
          <a:prstGeom prst="rect">
            <a:avLst/>
          </a:prstGeom>
          <a:noFill/>
        </p:spPr>
        <p:txBody>
          <a:bodyPr wrap="square" anchor="t" lIns="0" rIns="0" tIns="0" bIns="0">
            <a:spAutoFit/>
          </a:bodyPr>
          <a:lstStyle/>
          <a:p>
            <a:pPr algn="l">
              <a:lnSpc>
                <a:spcPct val="110000"/>
              </a:lnSpc>
              <a:spcAft>
                <a:spcPts val="400"/>
              </a:spcAft>
            </a:pPr>
            <a:r>
              <a:rPr sz="1350">
                <a:solidFill>
                  <a:srgbClr val="111318"/>
                </a:solidFill>
                <a:latin typeface="Segoe UI Semibold"/>
              </a:rPr>
              <a:t>Full-LLM mapping</a:t>
            </a:r>
          </a:p>
        </p:txBody>
      </p:sp>
      <p:sp>
        <p:nvSpPr>
          <p:cNvPr id="45" name="TextBox 44"/>
          <p:cNvSpPr txBox="1"/>
          <p:nvPr/>
        </p:nvSpPr>
        <p:spPr>
          <a:xfrm>
            <a:off x="7863840" y="4261104"/>
            <a:ext cx="3566160" cy="457200"/>
          </a:xfrm>
          <a:prstGeom prst="rect">
            <a:avLst/>
          </a:prstGeom>
          <a:noFill/>
        </p:spPr>
        <p:txBody>
          <a:bodyPr wrap="square" anchor="t" lIns="0" rIns="0" tIns="0" bIns="0">
            <a:spAutoFit/>
          </a:bodyPr>
          <a:lstStyle/>
          <a:p>
            <a:pPr algn="l">
              <a:lnSpc>
                <a:spcPct val="110000"/>
              </a:lnSpc>
              <a:spcAft>
                <a:spcPts val="400"/>
              </a:spcAft>
            </a:pPr>
            <a:r>
              <a:rPr sz="2200">
                <a:solidFill>
                  <a:srgbClr val="5F6570"/>
                </a:solidFill>
                <a:latin typeface="Segoe UI Bold"/>
              </a:rPr>
              <a:t>75%</a:t>
            </a:r>
            <a:r>
              <a:rPr sz="1150">
                <a:solidFill>
                  <a:srgbClr val="5F6570"/>
                </a:solidFill>
                <a:latin typeface="Segoe UI"/>
              </a:rPr>
              <a:t>  precision    </a:t>
            </a:r>
            <a:r>
              <a:rPr sz="1150">
                <a:solidFill>
                  <a:srgbClr val="5F6570"/>
                </a:solidFill>
                <a:latin typeface="Segoe UI"/>
              </a:rPr>
              <a:t>relevance 1.76   cost $0.00125</a:t>
            </a:r>
          </a:p>
        </p:txBody>
      </p:sp>
      <p:sp>
        <p:nvSpPr>
          <p:cNvPr id="46" name="TextBox 45"/>
          <p:cNvSpPr txBox="1"/>
          <p:nvPr/>
        </p:nvSpPr>
        <p:spPr>
          <a:xfrm>
            <a:off x="7863840" y="4983479"/>
            <a:ext cx="3566160" cy="274320"/>
          </a:xfrm>
          <a:prstGeom prst="rect">
            <a:avLst/>
          </a:prstGeom>
          <a:noFill/>
        </p:spPr>
        <p:txBody>
          <a:bodyPr wrap="square" anchor="t" lIns="0" rIns="0" tIns="0" bIns="0">
            <a:spAutoFit/>
          </a:bodyPr>
          <a:lstStyle/>
          <a:p>
            <a:pPr algn="l">
              <a:lnSpc>
                <a:spcPct val="110000"/>
              </a:lnSpc>
              <a:spcAft>
                <a:spcPts val="400"/>
              </a:spcAft>
            </a:pPr>
            <a:r>
              <a:rPr sz="1350">
                <a:solidFill>
                  <a:srgbClr val="111318"/>
                </a:solidFill>
                <a:latin typeface="Segoe UI Semibold"/>
              </a:rPr>
              <a:t>Keyword rules</a:t>
            </a:r>
          </a:p>
        </p:txBody>
      </p:sp>
      <p:sp>
        <p:nvSpPr>
          <p:cNvPr id="47" name="TextBox 46"/>
          <p:cNvSpPr txBox="1"/>
          <p:nvPr/>
        </p:nvSpPr>
        <p:spPr>
          <a:xfrm>
            <a:off x="7863840" y="5312664"/>
            <a:ext cx="3566160" cy="457200"/>
          </a:xfrm>
          <a:prstGeom prst="rect">
            <a:avLst/>
          </a:prstGeom>
          <a:noFill/>
        </p:spPr>
        <p:txBody>
          <a:bodyPr wrap="square" anchor="t" lIns="0" rIns="0" tIns="0" bIns="0">
            <a:spAutoFit/>
          </a:bodyPr>
          <a:lstStyle/>
          <a:p>
            <a:pPr algn="l">
              <a:lnSpc>
                <a:spcPct val="110000"/>
              </a:lnSpc>
              <a:spcAft>
                <a:spcPts val="400"/>
              </a:spcAft>
            </a:pPr>
            <a:r>
              <a:rPr sz="2200">
                <a:solidFill>
                  <a:srgbClr val="5F6570"/>
                </a:solidFill>
                <a:latin typeface="Segoe UI Bold"/>
              </a:rPr>
              <a:t>58%</a:t>
            </a:r>
            <a:r>
              <a:rPr sz="1150">
                <a:solidFill>
                  <a:srgbClr val="5F6570"/>
                </a:solidFill>
                <a:latin typeface="Segoe UI"/>
              </a:rPr>
              <a:t>  precision    </a:t>
            </a:r>
            <a:r>
              <a:rPr sz="1150">
                <a:solidFill>
                  <a:srgbClr val="5F6570"/>
                </a:solidFill>
                <a:latin typeface="Segoe UI"/>
              </a:rPr>
              <a:t>relevance 1.29   cost $0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3F5"/>
        </a:solidFill>
        <a:effectLst/>
      </p:bgPr>
    </p:bg>
    <p:spTree>
      <p:nvGrpSpPr>
        <p:cNvPr id="1" name=""/>
        <p:cNvGrpSpPr/>
        <p:nvPr/>
      </p:nvGrpSpPr>
      <p:grpSpPr/>
      <p:sp>
        <p:nvSpPr>
          <p:cNvPr id="2" name="Rounded Rectangle 1"/>
          <p:cNvSpPr/>
          <p:nvPr/>
        </p:nvSpPr>
        <p:spPr>
          <a:xfrm>
            <a:off x="548640" y="384048"/>
            <a:ext cx="1383304" cy="292608"/>
          </a:xfrm>
          <a:prstGeom prst="roundRect">
            <a:avLst>
              <a:gd name="adj" fmla="val 50000"/>
            </a:avLst>
          </a:prstGeom>
          <a:solidFill>
            <a:srgbClr val="E6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383304" cy="292608"/>
          </a:xfrm>
          <a:prstGeom prst="rect">
            <a:avLst/>
          </a:prstGeom>
          <a:noFill/>
        </p:spPr>
        <p:txBody>
          <a:bodyPr wrap="square" anchor="ctr" lIns="0" rIns="0" tIns="0" bIns="0">
            <a:spAutoFit/>
          </a:bodyPr>
          <a:lstStyle/>
          <a:p>
            <a:pPr algn="ctr">
              <a:lnSpc>
                <a:spcPct val="110000"/>
              </a:lnSpc>
              <a:spcAft>
                <a:spcPts val="400"/>
              </a:spcAft>
            </a:pPr>
            <a:r>
              <a:rPr sz="1200">
                <a:solidFill>
                  <a:srgbClr val="5F6570"/>
                </a:solidFill>
                <a:latin typeface="Segoe UI Semibold"/>
              </a:rPr>
              <a:t>Backup for Q&amp;A</a:t>
            </a:r>
          </a:p>
        </p:txBody>
      </p:sp>
      <p:sp>
        <p:nvSpPr>
          <p:cNvPr id="4" name="TextBox 3"/>
          <p:cNvSpPr txBox="1"/>
          <p:nvPr/>
        </p:nvSpPr>
        <p:spPr>
          <a:xfrm>
            <a:off x="548640" y="804672"/>
            <a:ext cx="11064240" cy="640080"/>
          </a:xfrm>
          <a:prstGeom prst="rect">
            <a:avLst/>
          </a:prstGeom>
          <a:noFill/>
        </p:spPr>
        <p:txBody>
          <a:bodyPr wrap="square" anchor="t" lIns="0" rIns="0" tIns="0" bIns="0">
            <a:spAutoFit/>
          </a:bodyPr>
          <a:lstStyle/>
          <a:p>
            <a:pPr algn="l">
              <a:lnSpc>
                <a:spcPct val="100000"/>
              </a:lnSpc>
              <a:spcAft>
                <a:spcPts val="400"/>
              </a:spcAft>
            </a:pPr>
            <a:r>
              <a:rPr sz="3200">
                <a:solidFill>
                  <a:srgbClr val="111318"/>
                </a:solidFill>
                <a:latin typeface="Segoe UI Semibold"/>
              </a:rPr>
              <a:t>Known limits, and what the engine does about them</a:t>
            </a:r>
          </a:p>
        </p:txBody>
      </p:sp>
      <p:sp>
        <p:nvSpPr>
          <p:cNvPr id="5" name="TextBox 4"/>
          <p:cNvSpPr txBox="1"/>
          <p:nvPr/>
        </p:nvSpPr>
        <p:spPr>
          <a:xfrm>
            <a:off x="548640" y="6419088"/>
            <a:ext cx="5486400" cy="228600"/>
          </a:xfrm>
          <a:prstGeom prst="rect">
            <a:avLst/>
          </a:prstGeom>
          <a:noFill/>
        </p:spPr>
        <p:txBody>
          <a:bodyPr wrap="square" anchor="t" lIns="0" rIns="0" tIns="0" bIns="0">
            <a:spAutoFit/>
          </a:bodyPr>
          <a:lstStyle/>
          <a:p>
            <a:pPr algn="l">
              <a:lnSpc>
                <a:spcPct val="110000"/>
              </a:lnSpc>
              <a:spcAft>
                <a:spcPts val="400"/>
              </a:spcAft>
            </a:pPr>
            <a:r>
              <a:rPr sz="1000">
                <a:solidFill>
                  <a:srgbClr val="5F6570"/>
                </a:solidFill>
                <a:latin typeface="Segoe UI"/>
              </a:rPr>
              <a:t>FixFlow  ·  Team SRMIST_QueueQueueing</a:t>
            </a:r>
          </a:p>
        </p:txBody>
      </p:sp>
      <p:sp>
        <p:nvSpPr>
          <p:cNvPr id="6" name="TextBox 5"/>
          <p:cNvSpPr txBox="1"/>
          <p:nvPr/>
        </p:nvSpPr>
        <p:spPr>
          <a:xfrm>
            <a:off x="9811512" y="6419088"/>
            <a:ext cx="1828800" cy="228600"/>
          </a:xfrm>
          <a:prstGeom prst="rect">
            <a:avLst/>
          </a:prstGeom>
          <a:noFill/>
        </p:spPr>
        <p:txBody>
          <a:bodyPr wrap="square" anchor="t" lIns="0" rIns="0" tIns="0" bIns="0">
            <a:spAutoFit/>
          </a:bodyPr>
          <a:lstStyle/>
          <a:p>
            <a:pPr algn="r">
              <a:lnSpc>
                <a:spcPct val="110000"/>
              </a:lnSpc>
              <a:spcAft>
                <a:spcPts val="400"/>
              </a:spcAft>
            </a:pPr>
            <a:r>
              <a:rPr sz="1000">
                <a:solidFill>
                  <a:srgbClr val="5F6570"/>
                </a:solidFill>
                <a:latin typeface="Segoe UI"/>
              </a:rPr>
              <a:t>Backup 2</a:t>
            </a:r>
          </a:p>
        </p:txBody>
      </p:sp>
      <p:sp>
        <p:nvSpPr>
          <p:cNvPr id="7" name="Rounded Rectangle 6"/>
          <p:cNvSpPr/>
          <p:nvPr/>
        </p:nvSpPr>
        <p:spPr>
          <a:xfrm>
            <a:off x="548640" y="1691640"/>
            <a:ext cx="5486400" cy="2103120"/>
          </a:xfrm>
          <a:prstGeom prst="roundRect">
            <a:avLst>
              <a:gd name="adj" fmla="val 95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59" y="1965960"/>
            <a:ext cx="633450" cy="256032"/>
          </a:xfrm>
          <a:prstGeom prst="roundRect">
            <a:avLst>
              <a:gd name="adj" fmla="val 50000"/>
            </a:avLst>
          </a:prstGeom>
          <a:solidFill>
            <a:srgbClr val="FB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965960"/>
            <a:ext cx="633450" cy="256032"/>
          </a:xfrm>
          <a:prstGeom prst="rect">
            <a:avLst/>
          </a:prstGeom>
          <a:noFill/>
        </p:spPr>
        <p:txBody>
          <a:bodyPr wrap="square" anchor="ctr" lIns="0" rIns="0" tIns="0" bIns="0">
            <a:spAutoFit/>
          </a:bodyPr>
          <a:lstStyle/>
          <a:p>
            <a:pPr algn="ctr">
              <a:lnSpc>
                <a:spcPct val="110000"/>
              </a:lnSpc>
              <a:spcAft>
                <a:spcPts val="400"/>
              </a:spcAft>
            </a:pPr>
            <a:r>
              <a:rPr sz="1050">
                <a:solidFill>
                  <a:srgbClr val="B2261E"/>
                </a:solidFill>
                <a:latin typeface="Segoe UI Semibold"/>
              </a:rPr>
              <a:t>Limit</a:t>
            </a:r>
          </a:p>
        </p:txBody>
      </p:sp>
      <p:sp>
        <p:nvSpPr>
          <p:cNvPr id="10" name="TextBox 9"/>
          <p:cNvSpPr txBox="1"/>
          <p:nvPr/>
        </p:nvSpPr>
        <p:spPr>
          <a:xfrm>
            <a:off x="822959" y="2377440"/>
            <a:ext cx="4937760" cy="365760"/>
          </a:xfrm>
          <a:prstGeom prst="rect">
            <a:avLst/>
          </a:prstGeom>
          <a:noFill/>
        </p:spPr>
        <p:txBody>
          <a:bodyPr wrap="square" anchor="t" lIns="0" rIns="0" tIns="0" bIns="0">
            <a:spAutoFit/>
          </a:bodyPr>
          <a:lstStyle/>
          <a:p>
            <a:pPr algn="l">
              <a:lnSpc>
                <a:spcPct val="110000"/>
              </a:lnSpc>
              <a:spcAft>
                <a:spcPts val="400"/>
              </a:spcAft>
            </a:pPr>
            <a:r>
              <a:rPr sz="1600">
                <a:solidFill>
                  <a:srgbClr val="111318"/>
                </a:solidFill>
                <a:latin typeface="Segoe UI Semibold"/>
              </a:rPr>
              <a:t>Hardest unseen rewordings: 75% hits</a:t>
            </a:r>
          </a:p>
        </p:txBody>
      </p:sp>
      <p:sp>
        <p:nvSpPr>
          <p:cNvPr id="11" name="TextBox 10"/>
          <p:cNvSpPr txBox="1"/>
          <p:nvPr/>
        </p:nvSpPr>
        <p:spPr>
          <a:xfrm>
            <a:off x="822959" y="2788920"/>
            <a:ext cx="4937760" cy="914400"/>
          </a:xfrm>
          <a:prstGeom prst="rect">
            <a:avLst/>
          </a:prstGeom>
          <a:noFill/>
        </p:spPr>
        <p:txBody>
          <a:bodyPr wrap="square" anchor="t" lIns="0" rIns="0" tIns="0" bIns="0">
            <a:spAutoFit/>
          </a:bodyPr>
          <a:lstStyle/>
          <a:p>
            <a:pPr algn="l">
              <a:lnSpc>
                <a:spcPct val="110000"/>
              </a:lnSpc>
              <a:spcAft>
                <a:spcPts val="400"/>
              </a:spcAft>
            </a:pPr>
            <a:r>
              <a:rPr sz="1250">
                <a:solidFill>
                  <a:srgbClr val="5F6570"/>
                </a:solidFill>
                <a:latin typeface="Segoe UI"/>
              </a:rPr>
              <a:t>On the final never-tuned set D3c, 75% hits and 62.5% right plan (target 80%). Two look-alike black-screen complaints got the flicker plan. Reported as is; the held-out set D3b reaches 91.7% / 87.5%.</a:t>
            </a:r>
          </a:p>
        </p:txBody>
      </p:sp>
      <p:sp>
        <p:nvSpPr>
          <p:cNvPr id="12" name="Rounded Rectangle 11"/>
          <p:cNvSpPr/>
          <p:nvPr/>
        </p:nvSpPr>
        <p:spPr>
          <a:xfrm>
            <a:off x="6153912" y="1691640"/>
            <a:ext cx="5486400" cy="2103120"/>
          </a:xfrm>
          <a:prstGeom prst="roundRect">
            <a:avLst>
              <a:gd name="adj" fmla="val 95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28231" y="1965960"/>
            <a:ext cx="633450" cy="256032"/>
          </a:xfrm>
          <a:prstGeom prst="roundRect">
            <a:avLst>
              <a:gd name="adj" fmla="val 50000"/>
            </a:avLst>
          </a:prstGeom>
          <a:solidFill>
            <a:srgbClr val="FB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1965960"/>
            <a:ext cx="633450" cy="256032"/>
          </a:xfrm>
          <a:prstGeom prst="rect">
            <a:avLst/>
          </a:prstGeom>
          <a:noFill/>
        </p:spPr>
        <p:txBody>
          <a:bodyPr wrap="square" anchor="ctr" lIns="0" rIns="0" tIns="0" bIns="0">
            <a:spAutoFit/>
          </a:bodyPr>
          <a:lstStyle/>
          <a:p>
            <a:pPr algn="ctr">
              <a:lnSpc>
                <a:spcPct val="110000"/>
              </a:lnSpc>
              <a:spcAft>
                <a:spcPts val="400"/>
              </a:spcAft>
            </a:pPr>
            <a:r>
              <a:rPr sz="1050">
                <a:solidFill>
                  <a:srgbClr val="B2261E"/>
                </a:solidFill>
                <a:latin typeface="Segoe UI Semibold"/>
              </a:rPr>
              <a:t>Limit</a:t>
            </a:r>
          </a:p>
        </p:txBody>
      </p:sp>
      <p:sp>
        <p:nvSpPr>
          <p:cNvPr id="15" name="TextBox 14"/>
          <p:cNvSpPr txBox="1"/>
          <p:nvPr/>
        </p:nvSpPr>
        <p:spPr>
          <a:xfrm>
            <a:off x="6428231" y="2377440"/>
            <a:ext cx="4937760" cy="365760"/>
          </a:xfrm>
          <a:prstGeom prst="rect">
            <a:avLst/>
          </a:prstGeom>
          <a:noFill/>
        </p:spPr>
        <p:txBody>
          <a:bodyPr wrap="square" anchor="t" lIns="0" rIns="0" tIns="0" bIns="0">
            <a:spAutoFit/>
          </a:bodyPr>
          <a:lstStyle/>
          <a:p>
            <a:pPr algn="l">
              <a:lnSpc>
                <a:spcPct val="110000"/>
              </a:lnSpc>
              <a:spcAft>
                <a:spcPts val="400"/>
              </a:spcAft>
            </a:pPr>
            <a:r>
              <a:rPr sz="1600">
                <a:solidFill>
                  <a:srgbClr val="111318"/>
                </a:solidFill>
                <a:latin typeface="Segoe UI Semibold"/>
              </a:rPr>
              <a:t>Gemini free tier is often overloaded</a:t>
            </a:r>
          </a:p>
        </p:txBody>
      </p:sp>
      <p:sp>
        <p:nvSpPr>
          <p:cNvPr id="16" name="TextBox 15"/>
          <p:cNvSpPr txBox="1"/>
          <p:nvPr/>
        </p:nvSpPr>
        <p:spPr>
          <a:xfrm>
            <a:off x="6428231" y="2788920"/>
            <a:ext cx="4937760" cy="914400"/>
          </a:xfrm>
          <a:prstGeom prst="rect">
            <a:avLst/>
          </a:prstGeom>
          <a:noFill/>
        </p:spPr>
        <p:txBody>
          <a:bodyPr wrap="square" anchor="t" lIns="0" rIns="0" tIns="0" bIns="0">
            <a:spAutoFit/>
          </a:bodyPr>
          <a:lstStyle/>
          <a:p>
            <a:pPr algn="l">
              <a:lnSpc>
                <a:spcPct val="110000"/>
              </a:lnSpc>
              <a:spcAft>
                <a:spcPts val="400"/>
              </a:spcAft>
            </a:pPr>
            <a:r>
              <a:rPr sz="1250">
                <a:solidFill>
                  <a:srgbClr val="5F6570"/>
                </a:solidFill>
                <a:latin typeface="Segoe UI"/>
              </a:rPr>
              <a:t>503 and 429 errors are common. The adapter tries other models, then the rules path answers inside the budget. Every request still returns a valid plan (14 of 32 cold runs used the LLM).</a:t>
            </a:r>
          </a:p>
        </p:txBody>
      </p:sp>
      <p:sp>
        <p:nvSpPr>
          <p:cNvPr id="17" name="Rounded Rectangle 16"/>
          <p:cNvSpPr/>
          <p:nvPr/>
        </p:nvSpPr>
        <p:spPr>
          <a:xfrm>
            <a:off x="548640" y="3977639"/>
            <a:ext cx="5486400" cy="2103120"/>
          </a:xfrm>
          <a:prstGeom prst="roundRect">
            <a:avLst>
              <a:gd name="adj" fmla="val 95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2959" y="4251959"/>
            <a:ext cx="633450" cy="256032"/>
          </a:xfrm>
          <a:prstGeom prst="roundRect">
            <a:avLst>
              <a:gd name="adj" fmla="val 50000"/>
            </a:avLst>
          </a:prstGeom>
          <a:solidFill>
            <a:srgbClr val="FB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251959"/>
            <a:ext cx="633450" cy="256032"/>
          </a:xfrm>
          <a:prstGeom prst="rect">
            <a:avLst/>
          </a:prstGeom>
          <a:noFill/>
        </p:spPr>
        <p:txBody>
          <a:bodyPr wrap="square" anchor="ctr" lIns="0" rIns="0" tIns="0" bIns="0">
            <a:spAutoFit/>
          </a:bodyPr>
          <a:lstStyle/>
          <a:p>
            <a:pPr algn="ctr">
              <a:lnSpc>
                <a:spcPct val="110000"/>
              </a:lnSpc>
              <a:spcAft>
                <a:spcPts val="400"/>
              </a:spcAft>
            </a:pPr>
            <a:r>
              <a:rPr sz="1050">
                <a:solidFill>
                  <a:srgbClr val="B2261E"/>
                </a:solidFill>
                <a:latin typeface="Segoe UI Semibold"/>
              </a:rPr>
              <a:t>Limit</a:t>
            </a:r>
          </a:p>
        </p:txBody>
      </p:sp>
      <p:sp>
        <p:nvSpPr>
          <p:cNvPr id="20" name="TextBox 19"/>
          <p:cNvSpPr txBox="1"/>
          <p:nvPr/>
        </p:nvSpPr>
        <p:spPr>
          <a:xfrm>
            <a:off x="822959" y="4663440"/>
            <a:ext cx="4937760" cy="365760"/>
          </a:xfrm>
          <a:prstGeom prst="rect">
            <a:avLst/>
          </a:prstGeom>
          <a:noFill/>
        </p:spPr>
        <p:txBody>
          <a:bodyPr wrap="square" anchor="t" lIns="0" rIns="0" tIns="0" bIns="0">
            <a:spAutoFit/>
          </a:bodyPr>
          <a:lstStyle/>
          <a:p>
            <a:pPr algn="l">
              <a:lnSpc>
                <a:spcPct val="110000"/>
              </a:lnSpc>
              <a:spcAft>
                <a:spcPts val="400"/>
              </a:spcAft>
            </a:pPr>
            <a:r>
              <a:rPr sz="1600">
                <a:solidFill>
                  <a:srgbClr val="111318"/>
                </a:solidFill>
                <a:latin typeface="Segoe UI Semibold"/>
              </a:rPr>
              <a:t>Answer key is AI-assisted</a:t>
            </a:r>
          </a:p>
        </p:txBody>
      </p:sp>
      <p:sp>
        <p:nvSpPr>
          <p:cNvPr id="21" name="TextBox 20"/>
          <p:cNvSpPr txBox="1"/>
          <p:nvPr/>
        </p:nvSpPr>
        <p:spPr>
          <a:xfrm>
            <a:off x="822959" y="5074920"/>
            <a:ext cx="4937760" cy="914400"/>
          </a:xfrm>
          <a:prstGeom prst="rect">
            <a:avLst/>
          </a:prstGeom>
          <a:noFill/>
        </p:spPr>
        <p:txBody>
          <a:bodyPr wrap="square" anchor="t" lIns="0" rIns="0" tIns="0" bIns="0">
            <a:spAutoFit/>
          </a:bodyPr>
          <a:lstStyle/>
          <a:p>
            <a:pPr algn="l">
              <a:lnSpc>
                <a:spcPct val="110000"/>
              </a:lnSpc>
              <a:spcAft>
                <a:spcPts val="400"/>
              </a:spcAft>
            </a:pPr>
            <a:r>
              <a:rPr sz="1250">
                <a:solidFill>
                  <a:srgbClr val="5F6570"/>
                </a:solidFill>
                <a:latin typeface="Segoe UI"/>
              </a:rPr>
              <a:t>Gold labels for the official lines were written with AI help; a human check is pending. An independent LLM judge is reported next to them.</a:t>
            </a:r>
          </a:p>
        </p:txBody>
      </p:sp>
      <p:sp>
        <p:nvSpPr>
          <p:cNvPr id="22" name="Rounded Rectangle 21"/>
          <p:cNvSpPr/>
          <p:nvPr/>
        </p:nvSpPr>
        <p:spPr>
          <a:xfrm>
            <a:off x="6153912" y="3977639"/>
            <a:ext cx="5486400" cy="2103120"/>
          </a:xfrm>
          <a:prstGeom prst="roundRect">
            <a:avLst>
              <a:gd name="adj" fmla="val 95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28231" y="4251959"/>
            <a:ext cx="633450" cy="256032"/>
          </a:xfrm>
          <a:prstGeom prst="roundRect">
            <a:avLst>
              <a:gd name="adj" fmla="val 50000"/>
            </a:avLst>
          </a:prstGeom>
          <a:solidFill>
            <a:srgbClr val="FB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8231" y="4251959"/>
            <a:ext cx="633450" cy="256032"/>
          </a:xfrm>
          <a:prstGeom prst="rect">
            <a:avLst/>
          </a:prstGeom>
          <a:noFill/>
        </p:spPr>
        <p:txBody>
          <a:bodyPr wrap="square" anchor="ctr" lIns="0" rIns="0" tIns="0" bIns="0">
            <a:spAutoFit/>
          </a:bodyPr>
          <a:lstStyle/>
          <a:p>
            <a:pPr algn="ctr">
              <a:lnSpc>
                <a:spcPct val="110000"/>
              </a:lnSpc>
              <a:spcAft>
                <a:spcPts val="400"/>
              </a:spcAft>
            </a:pPr>
            <a:r>
              <a:rPr sz="1050">
                <a:solidFill>
                  <a:srgbClr val="B2261E"/>
                </a:solidFill>
                <a:latin typeface="Segoe UI Semibold"/>
              </a:rPr>
              <a:t>Limit</a:t>
            </a:r>
          </a:p>
        </p:txBody>
      </p:sp>
      <p:sp>
        <p:nvSpPr>
          <p:cNvPr id="25" name="TextBox 24"/>
          <p:cNvSpPr txBox="1"/>
          <p:nvPr/>
        </p:nvSpPr>
        <p:spPr>
          <a:xfrm>
            <a:off x="6428231" y="4663440"/>
            <a:ext cx="4937760" cy="365760"/>
          </a:xfrm>
          <a:prstGeom prst="rect">
            <a:avLst/>
          </a:prstGeom>
          <a:noFill/>
        </p:spPr>
        <p:txBody>
          <a:bodyPr wrap="square" anchor="t" lIns="0" rIns="0" tIns="0" bIns="0">
            <a:spAutoFit/>
          </a:bodyPr>
          <a:lstStyle/>
          <a:p>
            <a:pPr algn="l">
              <a:lnSpc>
                <a:spcPct val="110000"/>
              </a:lnSpc>
              <a:spcAft>
                <a:spcPts val="400"/>
              </a:spcAft>
            </a:pPr>
            <a:r>
              <a:rPr sz="1600">
                <a:solidFill>
                  <a:srgbClr val="111318"/>
                </a:solidFill>
                <a:latin typeface="Segoe UI Semibold"/>
              </a:rPr>
              <a:t>Some article mismatches slip through</a:t>
            </a:r>
          </a:p>
        </p:txBody>
      </p:sp>
      <p:sp>
        <p:nvSpPr>
          <p:cNvPr id="26" name="TextBox 25"/>
          <p:cNvSpPr txBox="1"/>
          <p:nvPr/>
        </p:nvSpPr>
        <p:spPr>
          <a:xfrm>
            <a:off x="6428231" y="5074920"/>
            <a:ext cx="4937760" cy="914400"/>
          </a:xfrm>
          <a:prstGeom prst="rect">
            <a:avLst/>
          </a:prstGeom>
          <a:noFill/>
        </p:spPr>
        <p:txBody>
          <a:bodyPr wrap="square" anchor="t" lIns="0" rIns="0" tIns="0" bIns="0">
            <a:spAutoFit/>
          </a:bodyPr>
          <a:lstStyle/>
          <a:p>
            <a:pPr algn="l">
              <a:lnSpc>
                <a:spcPct val="110000"/>
              </a:lnSpc>
              <a:spcAft>
                <a:spcPts val="400"/>
              </a:spcAft>
            </a:pPr>
            <a:r>
              <a:rPr sz="1250">
                <a:solidFill>
                  <a:srgbClr val="5F6570"/>
                </a:solidFill>
                <a:latin typeface="Segoe UI"/>
              </a:rPr>
              <a:t>One official line pairs a TV aspect-ratio article with a phone complaint; the LLM still builds a plan there.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