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Ablation: same extraction, different mapper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Hybrid BM25 + dense (ours)</c:v>
                </c:pt>
              </c:strCache>
            </c:strRef>
          </c:tx>
          <c:spPr>
            <a:solidFill>
              <a:srgbClr val="6D28D9"/>
            </a:solidFill>
          </c:spPr>
          <c:cat>
            <c:strRef>
              <c:f>Sheet1!$A$2:$A$3</c:f>
              <c:strCache>
                <c:ptCount val="2"/>
                <c:pt idx="0">
                  <c:v>Deeplink relevance (0–2)</c:v>
                </c:pt>
                <c:pt idx="1">
                  <c:v>Link precision (0–1)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1.76</c:v>
                </c:pt>
                <c:pt idx="1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Pure keyword rules</c:v>
                </c:pt>
              </c:strCache>
            </c:strRef>
          </c:tx>
          <c:spPr>
            <a:solidFill>
              <a:srgbClr val="B9A7E8"/>
            </a:solidFill>
          </c:spPr>
          <c:cat>
            <c:strRef>
              <c:f>Sheet1!$A$2:$A$3</c:f>
              <c:strCache>
                <c:ptCount val="2"/>
                <c:pt idx="0">
                  <c:v>Deeplink relevance (0–2)</c:v>
                </c:pt>
                <c:pt idx="1">
                  <c:v>Link precision (0–1)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1.29</c:v>
                </c:pt>
                <c:pt idx="1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2"/>
          <c:min val="0.0"/>
        </c:scaling>
        <c:delete val="0"/>
        <c:axPos val="l"/>
        <c:majorGridlines>
          <c:spPr>
            <a:ln>
              <a:solidFill>
                <a:srgbClr val="E8E4F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Introduce the team and Theme 02. One line: FixFlow turns a vague device complaint into a grounded, one-tap, verifiable fix.</a:t>
            </a:r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Problem in our own words: vague complaints, 15-minute manual triage, users lost in Settings. The deliverable is a REST API returning structured JSON with deeplinks.</a:t>
            </a:r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Abhinav Kumar</a:t>
            </a:r>
          </a:p>
          <a:p>
            <a:r>
              <a:t>Walk through the table: every existing approach fails on at least one of grounding, exact screen, safe order, speed or scale.</a:t>
            </a:r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Architecture left to right. Stress the two guarantees: steps must cite the article, deeplinks are copied verbatim from the catalog. Mention the offline fallback.</a:t>
            </a:r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Show the demo flow: sample complaint, ordered plan, Open then Verify, guided mode, and the engine view proving the cache hit and $0 cost.</a:t>
            </a:r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Abhishek Verma</a:t>
            </a:r>
          </a:p>
          <a:p>
            <a:r>
              <a:t>CPU-only stack; runs with or without an API key. Point out the official schema is imported unchanged and 47 tests guard every contract rule.</a:t>
            </a:r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Three use cases and the impact numbers. Emphasise reusability: compile once, serve millions.</a:t>
            </a:r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Be honest here: results are strong on the automated gates and deeplinks; limitations include the provider outage and the paraphrase article ambiguity. Full tables in metrics.md.</a:t>
            </a:r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Ayushi Paul</a:t>
            </a:r>
          </a:p>
          <a:p>
            <a:r>
              <a:t>Roadmap from prototype to worklet, four steps.</a:t>
            </a:r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Differentiation: measured evaluation, proven fallback, closed-loop verification, contract exactness, one-command run. Point at the ablation chart.</a:t>
            </a:r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Confirm each checklist item and the release tag.</a:t>
            </a:r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Presenter: Ketki Gonnade</a:t>
            </a:r>
          </a:p>
          <a:p>
            <a:r>
              <a:t>Close: thank the jury, repeat the one-liner, invite questions.</a:t>
            </a:r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Relationship Id="rId8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5.png"/><Relationship Id="rId5" Type="http://schemas.openxmlformats.org/officeDocument/2006/relationships/image" Target="../media/image17.png"/><Relationship Id="rId6" Type="http://schemas.openxmlformats.org/officeDocument/2006/relationships/image" Target="../media/image12.png"/><Relationship Id="rId7" Type="http://schemas.openxmlformats.org/officeDocument/2006/relationships/image" Target="../media/image20.png"/><Relationship Id="rId8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617220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- 02 · Smart Guided Troubleshooting Engine · Project: FixFlow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SRMIST_QueueQueueing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SRM Institute of Science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Abhinav Kumar (Reg. No. RA2411003010993), ak8045@srmist.edu.in  [primary member]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Abhishek Verma (Reg. No. RA2411003012011), av8372@srmist.edu.in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Ayushi Paul (Reg. No. RA2411003010997), ap1547@srmist.edu.in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Ketki Gonnade (Reg. No. RA2411003010739), kg0184@srmist.edu.in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5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https://github.com/AbhishekVerma295/SRMIST_QueueQueueing_PRISM_Theme02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5727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6D28D9"/>
                </a:solidFill>
                <a:latin typeface="Calibri"/>
              </a:rPr>
              <a:t>Theme 02 · Smart Guided Troubleshooting Engine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" y="2057400"/>
            <a:ext cx="5989320" cy="425196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051560" y="224028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quo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47" y="2366467"/>
            <a:ext cx="296265" cy="296265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783080" y="2267712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1">
                <a:solidFill>
                  <a:srgbClr val="14142B"/>
                </a:solidFill>
                <a:latin typeface="Calibri"/>
              </a:rPr>
              <a:t>“My screen flickers and the battery dies fast.”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97280" y="3154680"/>
            <a:ext cx="55321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Customers describe symptoms, not Settings screens.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A support agent reads long knowledge articles, picks the steps that apply and orders them safely, about 15 minutes per scenario.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The user then hunts through nested Settings menus to act on the advice.</a:t>
            </a:r>
          </a:p>
          <a:p>
            <a:pPr algn="l" marL="182880" indent="-182880">
              <a:spcAft>
                <a:spcPts val="700"/>
              </a:spcAft>
              <a:buChar char="•"/>
            </a:pPr>
            <a:r>
              <a:rPr sz="1400" b="0" i="0">
                <a:solidFill>
                  <a:srgbClr val="14142B"/>
                </a:solidFill>
                <a:latin typeface="Calibri"/>
              </a:rPr>
              <a:t>Our task: turn the complaint (+ the knowledge article) into clean, ordered steps as JSON, each Settings step with an exact one-tap deeplink, served in under 300 ms for known issues.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32320" y="205740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7360920" y="240487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9725" y="2543677"/>
            <a:ext cx="325892" cy="325892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8183879" y="22402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≈15 min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79" y="2807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manual triage per scenario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132320" y="352044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7360920" y="386791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heads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725" y="4006717"/>
            <a:ext cx="325892" cy="325892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8183879" y="3703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Millions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183879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of support interactions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0" y="4983480"/>
            <a:ext cx="4224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7360920" y="5330952"/>
            <a:ext cx="603504" cy="603504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laye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9725" y="5469757"/>
            <a:ext cx="325892" cy="325892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183879" y="51663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42B"/>
                </a:solidFill>
                <a:latin typeface="Calibri"/>
              </a:rPr>
              <a:t>10k+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183879" y="5733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scenarios in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64592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297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 today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Manual agent triage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Agent reads knowledge articles and writes steps by hand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≈15 min per case; inconsistent order; no deeplinks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FAQ / keyword search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Returns whole articles that match words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User still has to extract steps and find the screens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Generic LLM chatbot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Free-form answer from model memory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Invents steps and web links; wrong or parent-menu screens; not auditable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Rule / decision trees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Hand-built flows per issue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Brittle to new wording; does not scale to 10k+ scenarios</a:t>
                      </a:r>
                    </a:p>
                  </a:txBody>
                  <a:tcPr marL="73152" marR="73152" marT="27432" marB="27432" anchor="ctr">
                    <a:solidFill>
                      <a:srgbClr val="F7F5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Static deeplink lists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Links per topic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No link between a complaint and the exact screen or toggle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4617720"/>
            <a:ext cx="10515600" cy="16459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1051560" y="48463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st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953" y="4976713"/>
            <a:ext cx="306141" cy="306141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828800" y="4773168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What is missing, and what FixFlow is designed 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5166360"/>
            <a:ext cx="9326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Grounded: only steps that exist in the reference article  ·  Exact: the right screen and the right on/off operation from the official catalog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Safe: least disruptive first, restart/reset last  ·  Instant: repeats and paraphrases answered from a validated cache  ·  Verifiable: the fix can be checked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914400" y="1481328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FixFlow: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a REST engine that returns a schema-valid, ordered, deeplinked plan as JSON. The model proposes; code decides.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4124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135331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499" y="2302459"/>
            <a:ext cx="296265" cy="296265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91440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[4]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611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REST API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611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POST /v1/troubleshoot
GET /health</a:t>
            </a:r>
          </a:p>
        </p:txBody>
      </p:sp>
      <p:sp>
        <p:nvSpPr>
          <p:cNvPr id="121" name="Isosceles Triangle 120"/>
          <p:cNvSpPr/>
          <p:nvPr/>
        </p:nvSpPr>
        <p:spPr>
          <a:xfrm rot="5400000">
            <a:off x="241401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62432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D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3136392" y="2176272"/>
            <a:ext cx="548640" cy="548640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d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579" y="2302459"/>
            <a:ext cx="296265" cy="296265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269748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[3]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67919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Fast-path cache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7919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L1 exact + semantic
L2 normalised complaint</a:t>
            </a:r>
          </a:p>
        </p:txBody>
      </p:sp>
      <p:sp>
        <p:nvSpPr>
          <p:cNvPr id="128" name="Isosceles Triangle 127"/>
          <p:cNvSpPr/>
          <p:nvPr/>
        </p:nvSpPr>
        <p:spPr>
          <a:xfrm rot="5400000">
            <a:off x="419709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40740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491947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5659" y="2302459"/>
            <a:ext cx="296265" cy="296265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48056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[0]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46227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Query enrichment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6227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normalise, split intents,
8–10 variations</a:t>
            </a:r>
          </a:p>
        </p:txBody>
      </p:sp>
      <p:sp>
        <p:nvSpPr>
          <p:cNvPr id="135" name="Isosceles Triangle 134"/>
          <p:cNvSpPr/>
          <p:nvPr/>
        </p:nvSpPr>
        <p:spPr>
          <a:xfrm rot="5400000">
            <a:off x="598017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19048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70255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8739" y="2302459"/>
            <a:ext cx="296265" cy="296265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626364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[1]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45351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Grounded extraction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45351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LLM cites numbered
sentences; code verifies</a:t>
            </a:r>
          </a:p>
        </p:txBody>
      </p:sp>
      <p:sp>
        <p:nvSpPr>
          <p:cNvPr id="142" name="Isosceles Triangle 141"/>
          <p:cNvSpPr/>
          <p:nvPr/>
        </p:nvSpPr>
        <p:spPr>
          <a:xfrm rot="5400000">
            <a:off x="776325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97356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48563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1819" y="2302459"/>
            <a:ext cx="296265" cy="296265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804672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[2]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2843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Deeplink mapping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02843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Feature Graph, hybrid
BM25 + embeddings</a:t>
            </a:r>
          </a:p>
        </p:txBody>
      </p:sp>
      <p:sp>
        <p:nvSpPr>
          <p:cNvPr id="149" name="Isosceles Triangle 148"/>
          <p:cNvSpPr/>
          <p:nvPr/>
        </p:nvSpPr>
        <p:spPr>
          <a:xfrm rot="5400000">
            <a:off x="9546336" y="2926080"/>
            <a:ext cx="182880" cy="219456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9756648" y="2057400"/>
            <a:ext cx="1572768" cy="205740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0268712" y="21762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shiel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4899" y="2302459"/>
            <a:ext cx="296265" cy="296265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982980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63637E"/>
                </a:solidFill>
                <a:latin typeface="Calibri"/>
              </a:rPr>
              <a:t>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811512" y="27889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4142B"/>
                </a:solidFill>
                <a:latin typeface="Calibri"/>
              </a:rPr>
              <a:t>Contract gate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811512" y="324612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schema + every rule
checked in code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2412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658868"/>
            <a:ext cx="246888" cy="246888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61848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LLM layer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412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Gemini Flash-Lite, auto-selected. Model fallback chain, retry with backoff, 8 s online budget, JSON-schema output, temperature 0.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40740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459028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cog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5444" y="4658868"/>
            <a:ext cx="246888" cy="246888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518464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Offline rules path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59028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No key or provider outage → rules parser with the same mapper and gate. Never fails; always JSON.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973568" y="4389120"/>
            <a:ext cx="33832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156448" y="4553712"/>
            <a:ext cx="457200" cy="45720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d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604" y="4658868"/>
            <a:ext cx="246888" cy="246888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8750808" y="4599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Data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56448" y="5120640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Official kit: 578-entry deeplink catalog, 20 reference articles. Pre-validated plan cache (SQLite) ships in the Docker image.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00200"/>
            <a:ext cx="6309360" cy="4416552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41248" y="605332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63637E"/>
                </a:solidFill>
                <a:latin typeface="Calibri"/>
              </a:rPr>
              <a:t>Live UI served by the API: phone view (left) and engine view (right)</a:t>
            </a:r>
          </a:p>
        </p:txBody>
      </p:sp>
      <p:sp>
        <p:nvSpPr>
          <p:cNvPr id="122" name="Oval 121"/>
          <p:cNvSpPr/>
          <p:nvPr/>
        </p:nvSpPr>
        <p:spPr>
          <a:xfrm>
            <a:off x="7424927" y="1627632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mi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0083" y="1732788"/>
            <a:ext cx="246888" cy="246888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8046720" y="1600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Describe the problem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046720" y="192024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Type, speak, or pick one of the 20 official complaints.</a:t>
            </a:r>
          </a:p>
        </p:txBody>
      </p:sp>
      <p:sp>
        <p:nvSpPr>
          <p:cNvPr id="126" name="Oval 125"/>
          <p:cNvSpPr/>
          <p:nvPr/>
        </p:nvSpPr>
        <p:spPr>
          <a:xfrm>
            <a:off x="7424927" y="2478024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lis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083" y="2583180"/>
            <a:ext cx="246888" cy="24688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8046720" y="2450592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Get an ordered 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0" y="27706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Settings toggles → checks → service → restart/reset last.</a:t>
            </a:r>
          </a:p>
        </p:txBody>
      </p:sp>
      <p:sp>
        <p:nvSpPr>
          <p:cNvPr id="130" name="Oval 129"/>
          <p:cNvSpPr/>
          <p:nvPr/>
        </p:nvSpPr>
        <p:spPr>
          <a:xfrm>
            <a:off x="7424927" y="3328416"/>
            <a:ext cx="457200" cy="457200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0083" y="3433572"/>
            <a:ext cx="246888" cy="246888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8046720" y="3300984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Tap → Verify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46720" y="362102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Open applies the setting; the validation deeplink confirms it (“Touch sensitivity is True”).</a:t>
            </a:r>
          </a:p>
        </p:txBody>
      </p:sp>
      <p:sp>
        <p:nvSpPr>
          <p:cNvPr id="134" name="Oval 133"/>
          <p:cNvSpPr/>
          <p:nvPr/>
        </p:nvSpPr>
        <p:spPr>
          <a:xfrm>
            <a:off x="7424927" y="4178808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rout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0083" y="4283964"/>
            <a:ext cx="246888" cy="246888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8046720" y="4151376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Guided mode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0" y="4471416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One step at a time: “Fixed?” or “Next”.</a:t>
            </a:r>
          </a:p>
        </p:txBody>
      </p:sp>
      <p:sp>
        <p:nvSpPr>
          <p:cNvPr id="138" name="Oval 137"/>
          <p:cNvSpPr/>
          <p:nvPr/>
        </p:nvSpPr>
        <p:spPr>
          <a:xfrm>
            <a:off x="7424927" y="502920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0083" y="5134356"/>
            <a:ext cx="246888" cy="24688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8046720" y="5001768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Engine 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046720" y="532180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Cache / LLM / rules path, latency, cost, dropped unsupported steps.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7" y="58978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Run: </a:t>
            </a:r>
            <a:r>
              <a:rPr sz="1100" b="0" i="0">
                <a:solidFill>
                  <a:srgbClr val="14142B"/>
                </a:solidFill>
                <a:latin typeface="Calibri"/>
              </a:rPr>
              <a:t>docker compose up → localhost:8000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D28D9"/>
                </a:solidFill>
                <a:latin typeface="Calibri"/>
              </a:rPr>
              <a:t>Video: </a:t>
            </a:r>
            <a:r>
              <a:rPr sz="1100" b="0" i="0">
                <a:solidFill>
                  <a:srgbClr val="14142B"/>
                </a:solidFill>
                <a:latin typeface="Calibri"/>
              </a:rPr>
              <a:t>https://drive.google.com/drive/folders/1ATDX614AjhvJfmq3afcTFr0g-L0GjvHL?usp=drive_link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645920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42416" y="185623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pyth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09" y="1986625"/>
            <a:ext cx="306141" cy="306141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801368" y="179222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Python 3.12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01368" y="21214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FastAPI · Uvicorn · Pydantic v2 (official schema.py, unchanged)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190488" y="1645920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391655" y="1856232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2049" y="1986625"/>
            <a:ext cx="306141" cy="306141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150607" y="179222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Gemini API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150607" y="21214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Flash-Lite (3.x) via REST, JSON-schema output, provider-agnostic adapter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41248" y="2807208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1042416" y="30175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2809" y="3147913"/>
            <a:ext cx="306141" cy="306141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1801368" y="295351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Retrieval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01368" y="32826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fastembed BAAI/bge-small-en-v1.5 (ONNX, CPU) · rank-bm25 · NumPy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190488" y="2807208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6391655" y="301752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db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2049" y="3147913"/>
            <a:ext cx="306141" cy="306141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7150607" y="2953512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Storage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150607" y="328269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SQLite plan cache with embedded keys · JSON feature graph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" y="3968496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1042416" y="4178808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dock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2809" y="4309201"/>
            <a:ext cx="306141" cy="306141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801368" y="4114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Delivery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01368" y="4443983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Docker + docker-compose · model and cache baked in · /health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90488" y="3968496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6391655" y="4178808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flas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2049" y="4309201"/>
            <a:ext cx="306141" cy="306141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7150607" y="41148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Quality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150607" y="4443983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pytest (47 hermetic tests) · evaluation harness · ablation · gold labels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5129784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42416" y="5340096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mobil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2809" y="5470489"/>
            <a:ext cx="306141" cy="306141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801368" y="5276088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Demo UI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01368" y="560527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Static HTML/JS served at / · Web Speech API for voice input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90488" y="5129784"/>
            <a:ext cx="51206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6391655" y="5340096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rocke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2049" y="5470489"/>
            <a:ext cx="306141" cy="306141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7150607" y="5276088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Built with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50607" y="560527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Claude Code as the engineering 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106984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obi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653" y="1967605"/>
            <a:ext cx="325892" cy="3258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106984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Customer self-service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984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Inside a voice assistant or support app: the user says the problem and gets one-tap fixes with verification.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40740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463600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heads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813" y="1967605"/>
            <a:ext cx="325892" cy="325892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463600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Support-agent assist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3600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The agent pastes the complaint; FixFlow returns an ordered, cited plan in milliseconds instead of ≈15 minutes.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73568" y="164592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202168" y="1828800"/>
            <a:ext cx="603504" cy="60350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lay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0973" y="1967605"/>
            <a:ext cx="325892" cy="325892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8202168" y="25603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4142B"/>
                </a:solidFill>
                <a:latin typeface="Calibri"/>
              </a:rPr>
              <a:t>Knowledge base at scale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02168" y="2944368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Compile every knowledge article once into validated plans; serve millions of repeats from the cache at $0.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1248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≈15 min → 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1248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manual triage vs cached plan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20440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100%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catalog-valid deeplinks (no wrong screen)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99632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E9E5A"/>
                </a:solidFill>
                <a:latin typeface="Calibri"/>
              </a:rP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199632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per repeat / paraphrase (cache)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878824" y="434340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78824" y="498348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3637E"/>
                </a:solidFill>
                <a:latin typeface="Calibri"/>
              </a:rPr>
              <a:t>invented web links (scrubbed + verified)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1248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14142B"/>
                </a:solidFill>
                <a:latin typeface="Calibri"/>
              </a:rPr>
              <a:t>Who benefits: customers (faster fixes, fewer service visits), support teams (less handling time, consistent answers), the product team (one reusable mapping for 10k+ scenarios).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84124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106984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6D28D9"/>
                </a:solidFill>
                <a:latin typeface="Calibri"/>
              </a:rPr>
              <a:t>Innovation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Citation-verified extraction: code rejects steps not in the article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Action- and depth-aware deeplinks (exact screen, right operation)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Closed-loop Tap → Verify with validation deeplinks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Trust-tiered, symptom-guarded two-level cache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Outage-proof: model fallback chain + offline rules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40740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463600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9E5A"/>
                </a:solidFill>
                <a:latin typeface="Calibri"/>
              </a:rPr>
              <a:t>Results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3600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Gates 100%: schema, rules, 0 URL leaks, catalog-valid links (D1 + D2)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Deeplink precision 100%; relevance 2.00 (D1) / 1.71 (D2) of 2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Step-accuracy proxy 2.20 (D1) / 2.88 (D2) of 3; abstention 90% / 100%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Cache P95: 0 ms exact, 48 ms unseen paraphrase; 81.8% hit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Ablation: hybrid 1.76 rel / 100% precision vs rules 1.29 / 58%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973568" y="2011680"/>
            <a:ext cx="3383280" cy="429768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8202168" y="2157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B3261E"/>
                </a:solidFill>
                <a:latin typeface="Calibri"/>
              </a:rPr>
              <a:t>Limitations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02168" y="2633472"/>
            <a:ext cx="297180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Provider outage: the LLM built 12 of 20 official plans; the rest used rules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Paraphrases: every hit had the right symptom; 59% the exact same article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Offline relevance is coarse; LLM sometimes drops a section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Gold labels by one annotator; D2 used once for error analysis</a:t>
            </a:r>
          </a:p>
          <a:p>
            <a:pPr algn="l" marL="182880" indent="-182880">
              <a:spcAft>
                <a:spcPts val="800"/>
              </a:spcAft>
              <a:buChar char="•"/>
            </a:pPr>
            <a:r>
              <a:rPr sz="1250" b="0" i="0">
                <a:solidFill>
                  <a:srgbClr val="14142B"/>
                </a:solidFill>
                <a:latin typeface="Calibri"/>
              </a:rPr>
              <a:t>Contract puts service escalation before restarts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1024128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1</a:t>
            </a:r>
          </a:p>
        </p:txBody>
      </p:sp>
      <p:sp>
        <p:nvSpPr>
          <p:cNvPr id="146" name="Oval 145"/>
          <p:cNvSpPr/>
          <p:nvPr/>
        </p:nvSpPr>
        <p:spPr>
          <a:xfrm>
            <a:off x="1755648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lay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866" y="2433218"/>
            <a:ext cx="345643" cy="345643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1024128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Compile the full base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24128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Run the batch compiler over all 10k+ articles into the pre-validated cache, with a human review tier.</a:t>
            </a:r>
          </a:p>
        </p:txBody>
      </p:sp>
      <p:sp>
        <p:nvSpPr>
          <p:cNvPr id="150" name="Isosceles Triangle 149"/>
          <p:cNvSpPr/>
          <p:nvPr/>
        </p:nvSpPr>
        <p:spPr>
          <a:xfrm rot="5400000">
            <a:off x="3328416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520440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3703320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2</a:t>
            </a:r>
          </a:p>
        </p:txBody>
      </p:sp>
      <p:sp>
        <p:nvSpPr>
          <p:cNvPr id="153" name="Oval 152"/>
          <p:cNvSpPr/>
          <p:nvPr/>
        </p:nvSpPr>
        <p:spPr>
          <a:xfrm>
            <a:off x="4434840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ch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058" y="2433218"/>
            <a:ext cx="345643" cy="345643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3703320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Learn the best order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703320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Telemetry-driven ordering: which step fixes each symptom most often.</a:t>
            </a:r>
          </a:p>
        </p:txBody>
      </p:sp>
      <p:sp>
        <p:nvSpPr>
          <p:cNvPr id="157" name="Isosceles Triangle 156"/>
          <p:cNvSpPr/>
          <p:nvPr/>
        </p:nvSpPr>
        <p:spPr>
          <a:xfrm rot="5400000">
            <a:off x="6007608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6199632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6382512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3</a:t>
            </a:r>
          </a:p>
        </p:txBody>
      </p:sp>
      <p:sp>
        <p:nvSpPr>
          <p:cNvPr id="160" name="Oval 159"/>
          <p:cNvSpPr/>
          <p:nvPr/>
        </p:nvSpPr>
        <p:spPr>
          <a:xfrm>
            <a:off x="7114032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1250" y="2433218"/>
            <a:ext cx="345643" cy="345643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382512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Real device verification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82512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Execute Tap → Verify against live device state through the validation deeplinks.</a:t>
            </a:r>
          </a:p>
        </p:txBody>
      </p:sp>
      <p:sp>
        <p:nvSpPr>
          <p:cNvPr id="164" name="Isosceles Triangle 163"/>
          <p:cNvSpPr/>
          <p:nvPr/>
        </p:nvSpPr>
        <p:spPr>
          <a:xfrm rot="5400000">
            <a:off x="8686800" y="3291840"/>
            <a:ext cx="164592" cy="201168"/>
          </a:xfrm>
          <a:prstGeom prst="triangl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8878824" y="1828800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1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9061704" y="193852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63637E"/>
                </a:solidFill>
                <a:latin typeface="Calibri"/>
              </a:rPr>
              <a:t>Step 4</a:t>
            </a:r>
          </a:p>
        </p:txBody>
      </p:sp>
      <p:sp>
        <p:nvSpPr>
          <p:cNvPr id="167" name="Oval 166"/>
          <p:cNvSpPr/>
          <p:nvPr/>
        </p:nvSpPr>
        <p:spPr>
          <a:xfrm>
            <a:off x="9793224" y="2286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glob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0442" y="2433218"/>
            <a:ext cx="345643" cy="345643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9061704" y="3108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14142B"/>
                </a:solidFill>
                <a:latin typeface="Calibri"/>
              </a:rPr>
              <a:t>Multilingual + on-device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061704" y="356616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3637E"/>
                </a:solidFill>
                <a:latin typeface="Calibri"/>
              </a:rPr>
              <a:t>Hindi / Hinglish intake via LLM enrichment; small on-device model for the offline path.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1248" y="5440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14142B"/>
                </a:solidFill>
                <a:latin typeface="Calibri"/>
              </a:rPr>
              <a:t>Worklet fit: the engine, evaluation harness and batch compiler already exist; the next step is scale and live-device integration, not a rewrite.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68680" y="1719072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flas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54" y="1836846"/>
            <a:ext cx="276514" cy="276514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554480" y="166420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Measured, not claimed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54480" y="199339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Held-out paraphrases, 4-domain scenarios, gold labels, and a scripted 3-way ablation, with honest limits.</a:t>
            </a:r>
          </a:p>
        </p:txBody>
      </p:sp>
      <p:sp>
        <p:nvSpPr>
          <p:cNvPr id="154" name="Oval 153"/>
          <p:cNvSpPr/>
          <p:nvPr/>
        </p:nvSpPr>
        <p:spPr>
          <a:xfrm>
            <a:off x="868680" y="2651760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sync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454" y="2769534"/>
            <a:ext cx="276514" cy="276514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554480" y="25968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Outage-proof, proven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554480" y="292608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During a real Gemini 503 outage, 30 of 32 cold requests fell back to rules and every one stayed contract-valid.</a:t>
            </a:r>
          </a:p>
        </p:txBody>
      </p:sp>
      <p:sp>
        <p:nvSpPr>
          <p:cNvPr id="158" name="Oval 157"/>
          <p:cNvSpPr/>
          <p:nvPr/>
        </p:nvSpPr>
        <p:spPr>
          <a:xfrm>
            <a:off x="868680" y="3584448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54" y="3702222"/>
            <a:ext cx="276514" cy="276514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554480" y="352958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Closes the loop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54480" y="3858768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Validation deeplinks confirm the fix actually happened, not just a link to a screen.</a:t>
            </a:r>
          </a:p>
        </p:txBody>
      </p:sp>
      <p:sp>
        <p:nvSpPr>
          <p:cNvPr id="162" name="Oval 161"/>
          <p:cNvSpPr/>
          <p:nvPr/>
        </p:nvSpPr>
        <p:spPr>
          <a:xfrm>
            <a:off x="868680" y="4517136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454" y="4634910"/>
            <a:ext cx="276514" cy="276514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554480" y="446227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Contract-exact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54480" y="4791456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Official schema unchanged, every rule enforced in code, brand-neutral outputs, 47 hermetic tests.</a:t>
            </a:r>
          </a:p>
        </p:txBody>
      </p:sp>
      <p:sp>
        <p:nvSpPr>
          <p:cNvPr id="166" name="Oval 165"/>
          <p:cNvSpPr/>
          <p:nvPr/>
        </p:nvSpPr>
        <p:spPr>
          <a:xfrm>
            <a:off x="868680" y="5449824"/>
            <a:ext cx="512064" cy="512064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7" name="Picture 166" descr="dock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454" y="5567598"/>
            <a:ext cx="276514" cy="27651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554480" y="539495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4142B"/>
                </a:solidFill>
                <a:latin typeface="Calibri"/>
              </a:rPr>
              <a:t>Zero-friction to judge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572414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docker compose up: model and validated cache baked in; runs with no API key.</a:t>
            </a:r>
          </a:p>
        </p:txBody>
      </p:sp>
      <p:graphicFrame>
        <p:nvGraphicFramePr>
          <p:cNvPr id="170" name="Chart 169"/>
          <p:cNvGraphicFramePr>
            <a:graphicFrameLocks noGrp="1"/>
          </p:cNvGraphicFramePr>
          <p:nvPr/>
        </p:nvGraphicFramePr>
        <p:xfrm>
          <a:off x="6812280" y="1600200"/>
          <a:ext cx="4526280" cy="4023360"/>
        </p:xfrm>
        <a:graphic>
          <a:graphicData uri="http://schemas.openxmlformats.org/drawingml/2006/chart">
            <c:chart r:id="rId8"/>
          </a:graphicData>
        </a:graphic>
      </p:graphicFrame>
      <p:sp>
        <p:nvSpPr>
          <p:cNvPr id="171" name="TextBox 170"/>
          <p:cNvSpPr txBox="1"/>
          <p:nvPr/>
        </p:nvSpPr>
        <p:spPr>
          <a:xfrm>
            <a:off x="6812280" y="571500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63637E"/>
                </a:solidFill>
                <a:latin typeface="Calibri"/>
              </a:rPr>
              <a:t>Full-LLM mapping baseline implemented (eval/ablation.py); not completed due to the provider outage.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737360"/>
            <a:ext cx="1051560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GitHub repo: Y  (github.com/AbhishekVerma295/SRMIST_QueueQueueing_PRISM_Theme02, tag PRISM_GENAI_HACKATHON_Y2026)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instructions: Y  (docker compose up, or Python 3.12 + 3 commands)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minutes: https://drive.google.com/drive/folders/1ATDX614AjhvJfmq3afcTFr0g-L0GjvHL?usp=drive_link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PDF): Y  (docs/SRMIST_QueueQueueing.pptx and .pdf)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841248" y="507492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051560" y="5303520"/>
            <a:ext cx="658368" cy="658368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984" y="5454944"/>
            <a:ext cx="355518" cy="355518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920240" y="5230368"/>
            <a:ext cx="92354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Everything referenced here is inside the tagged commit </a:t>
            </a:r>
            <a:r>
              <a:rPr sz="1400" b="1" i="0">
                <a:solidFill>
                  <a:srgbClr val="1E9E5A"/>
                </a:solidFill>
                <a:latin typeface="Calibri"/>
              </a:rPr>
              <a:t>PRISM_GENAI_HACKATHON_Y2026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: code, README, Dockerfile, results.jsonl, metrics.md, this deck (PPTX + PDF) and the video link.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6177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FixFlow · Theme 02 · </a:t>
            </a:r>
            <a:r>
              <a:rPr sz="1400" b="1" i="0">
                <a:solidFill>
                  <a:srgbClr val="14142B"/>
                </a:solidFill>
                <a:latin typeface="Calibri"/>
              </a:rPr>
              <a:t>SRMIST_QueueQueueing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4142B"/>
                </a:solidFill>
                <a:latin typeface="Calibri"/>
              </a:rPr>
              <a:t>Abhinav Kumar · Abhishek Verma · Ayushi Paul · Ketki Gonnade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4142B"/>
                </a:solidFill>
                <a:latin typeface="Calibri"/>
              </a:rPr>
              <a:t>Repository: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github.com/AbhishekVerma295/SRMIST_QueueQueueing_PRISM_Theme02</a:t>
            </a:r>
            <a:r>
              <a:rPr sz="1400" b="1" i="0">
                <a:solidFill>
                  <a:srgbClr val="14142B"/>
                </a:solidFill>
                <a:latin typeface="Calibri"/>
              </a:rPr>
              <a:t>   Tag: </a:t>
            </a:r>
            <a:r>
              <a:rPr sz="1400" b="0" i="0">
                <a:solidFill>
                  <a:srgbClr val="14142B"/>
                </a:solidFill>
                <a:latin typeface="Calibri"/>
              </a:rPr>
              <a:t>PRISM_GENAI_HACKATHON_Y2026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