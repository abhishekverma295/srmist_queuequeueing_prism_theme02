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rts/chart1.xml" ContentType="application/vnd.openxmlformats-officedocument.drawingml.chart+xml"/>
  <Override PartName="/ppt/metadata" ContentType="application/binary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7" roundtripDataSignature="AMtx7mgQuomGbdS/wh2yqkB/K4YAZ70YA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slide" Target="slides/slide6.xml"/><Relationship Id="rId11" Type="http://schemas.openxmlformats.org/officeDocument/2006/relationships/slide" Target="slides/slide7.xml"/><Relationship Id="rId12" Type="http://schemas.openxmlformats.org/officeDocument/2006/relationships/slide" Target="slides/slide8.xml"/><Relationship Id="rId13" Type="http://schemas.openxmlformats.org/officeDocument/2006/relationships/slide" Target="slides/slide9.xml"/><Relationship Id="rId14" Type="http://schemas.openxmlformats.org/officeDocument/2006/relationships/slide" Target="slides/slide10.xml"/><Relationship Id="rId15" Type="http://schemas.openxmlformats.org/officeDocument/2006/relationships/slide" Target="slides/slide11.xml"/><Relationship Id="rId16" Type="http://schemas.openxmlformats.org/officeDocument/2006/relationships/slide" Target="slides/slide12.xml"/><Relationship Id="rId17" Type="http://customschemas.google.com/relationships/presentationmetadata" Target="metadata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300"/>
              <a:t>Ablation: same extraction, different mapper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Hybrid BM25 + dense (ours)</c:v>
                </c:pt>
              </c:strCache>
            </c:strRef>
          </c:tx>
          <c:spPr>
            <a:solidFill>
              <a:srgbClr val="6D28D9"/>
            </a:solidFill>
          </c:spPr>
          <c:cat>
            <c:strRef>
              <c:f>Sheet1!$A$2:$A$3</c:f>
              <c:strCache>
                <c:ptCount val="2"/>
                <c:pt idx="0">
                  <c:v>Deeplink relevance (0–2)</c:v>
                </c:pt>
                <c:pt idx="1">
                  <c:v>Link precision (0–1)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1.88</c:v>
                </c:pt>
                <c:pt idx="1">
                  <c:v>1.0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Full-LLM mapping</c:v>
                </c:pt>
              </c:strCache>
            </c:strRef>
          </c:tx>
          <c:spPr>
            <a:solidFill>
              <a:srgbClr val="C77700"/>
            </a:solidFill>
          </c:spPr>
          <c:cat>
            <c:strRef>
              <c:f>Sheet1!$A$2:$A$3</c:f>
              <c:strCache>
                <c:ptCount val="2"/>
                <c:pt idx="0">
                  <c:v>Deeplink relevance (0–2)</c:v>
                </c:pt>
                <c:pt idx="1">
                  <c:v>Link precision (0–1)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1.76</c:v>
                </c:pt>
                <c:pt idx="1">
                  <c:v>0.75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Pure keyword rules</c:v>
                </c:pt>
              </c:strCache>
            </c:strRef>
          </c:tx>
          <c:spPr>
            <a:solidFill>
              <a:srgbClr val="B9A7E8"/>
            </a:solidFill>
          </c:spPr>
          <c:cat>
            <c:strRef>
              <c:f>Sheet1!$A$2:$A$3</c:f>
              <c:strCache>
                <c:ptCount val="2"/>
                <c:pt idx="0">
                  <c:v>Deeplink relevance (0–2)</c:v>
                </c:pt>
                <c:pt idx="1">
                  <c:v>Link precision (0–1)</c:v>
                </c:pt>
              </c:strCache>
            </c:strRef>
          </c:cat>
          <c:val>
            <c:numRef>
              <c:f>Sheet1!$D$2:$D$3</c:f>
              <c:numCache>
                <c:formatCode>General</c:formatCode>
                <c:ptCount val="2"/>
                <c:pt idx="0">
                  <c:v>1.29</c:v>
                </c:pt>
                <c:pt idx="1">
                  <c:v>0.58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sz="11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1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2.2"/>
          <c:min val="0.0"/>
        </c:scaling>
        <c:delete val="0"/>
        <c:axPos val="l"/>
        <c:majorGridlines>
          <c:spPr>
            <a:ln>
              <a:solidFill>
                <a:srgbClr val="E8E4F2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1100"/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7" name="Google Shape;87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r>
              <a:t>Presenter: Abhinav Kumar</a:t>
            </a:r>
          </a:p>
          <a:p>
            <a:r>
              <a:t>Introduce the team and Theme 02. One line: FixFlow turns a vague device complaint into a grounded, one-tap, verifiable fix.</a:t>
            </a:r>
          </a:p>
        </p:txBody>
      </p:sp>
      <p:sp>
        <p:nvSpPr>
          <p:cNvPr id="88" name="Google Shape;88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r>
              <a:t>Presenter: Abhinav Kumar</a:t>
            </a:r>
          </a:p>
          <a:p>
            <a:r>
              <a:t>Problem in our own words: vague complaints, 15-minute manual triage, users lost in Settings. The deliverable is a REST API returning structured JSON with deeplinks.</a:t>
            </a:r>
          </a:p>
        </p:txBody>
      </p:sp>
      <p:sp>
        <p:nvSpPr>
          <p:cNvPr id="99" name="Google Shape;99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r>
              <a:t>Presenter: Abhinav Kumar</a:t>
            </a:r>
          </a:p>
          <a:p>
            <a:r>
              <a:t>Walk through the table: every existing approach fails on at least one of grounding, exact screen, safe order, speed or scale.</a:t>
            </a:r>
          </a:p>
        </p:txBody>
      </p:sp>
      <p:sp>
        <p:nvSpPr>
          <p:cNvPr id="105" name="Google Shape;105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r>
              <a:t>Presenter: Abhishek Verma</a:t>
            </a:r>
          </a:p>
          <a:p>
            <a:r>
              <a:t>Architecture left to right. Stress the two guarantees: steps must cite the article, deeplinks are copied verbatim from the catalog. Mention the offline fallback.</a:t>
            </a:r>
          </a:p>
        </p:txBody>
      </p:sp>
      <p:sp>
        <p:nvSpPr>
          <p:cNvPr id="111" name="Google Shape;111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r>
              <a:t>Presenter: Abhishek Verma</a:t>
            </a:r>
          </a:p>
          <a:p>
            <a:r>
              <a:t>Show the demo flow: sample complaint, ordered plan, Open then Verify, guided mode, and the engine view proving the cache hit and $0 cost.</a:t>
            </a:r>
          </a:p>
        </p:txBody>
      </p:sp>
      <p:sp>
        <p:nvSpPr>
          <p:cNvPr id="117" name="Google Shape;117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r>
              <a:t>Presenter: Abhishek Verma</a:t>
            </a:r>
          </a:p>
          <a:p>
            <a:r>
              <a:t>CPU-only stack; runs with or without an API key. Point out the official schema is imported unchanged and 53 tests guard every contract rule.</a:t>
            </a:r>
          </a:p>
        </p:txBody>
      </p:sp>
      <p:sp>
        <p:nvSpPr>
          <p:cNvPr id="123" name="Google Shape;123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r>
              <a:t>Presenter: Ayushi Paul</a:t>
            </a:r>
          </a:p>
          <a:p>
            <a:r>
              <a:t>Three use cases and the impact numbers. Emphasise reusability: compile once, serve millions.</a:t>
            </a:r>
          </a:p>
        </p:txBody>
      </p:sp>
      <p:sp>
        <p:nvSpPr>
          <p:cNvPr id="129" name="Google Shape;129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r>
              <a:t>Presenter: Ayushi Paul</a:t>
            </a:r>
          </a:p>
          <a:p>
            <a:r>
              <a:t>Be honest here: results are strong on the automated gates and deeplinks; limitations include the provider outage and the paraphrase article ambiguity. Full tables in metrics.md.</a:t>
            </a:r>
          </a:p>
        </p:txBody>
      </p:sp>
      <p:sp>
        <p:nvSpPr>
          <p:cNvPr id="135" name="Google Shape;135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r>
              <a:t>Presenter: Ayushi Paul</a:t>
            </a:r>
          </a:p>
          <a:p>
            <a:r>
              <a:t>Roadmap from prototype to worklet, four steps.</a:t>
            </a:r>
          </a:p>
        </p:txBody>
      </p:sp>
      <p:sp>
        <p:nvSpPr>
          <p:cNvPr id="141" name="Google Shape;141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r>
              <a:t>Presenter: Ketki Gonnade</a:t>
            </a:r>
          </a:p>
          <a:p>
            <a:r>
              <a:t>Differentiation: measured evaluation, proven fallback, closed-loop verification, contract exactness, one-command run. Point at the ablation chart.</a:t>
            </a:r>
          </a:p>
        </p:txBody>
      </p:sp>
      <p:sp>
        <p:nvSpPr>
          <p:cNvPr id="147" name="Google Shape;147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r>
              <a:t>Presenter: Ketki Gonnade</a:t>
            </a:r>
          </a:p>
          <a:p>
            <a:r>
              <a:t>Confirm each checklist item and the release tag.</a:t>
            </a:r>
          </a:p>
        </p:txBody>
      </p:sp>
      <p:sp>
        <p:nvSpPr>
          <p:cNvPr id="153" name="Google Shape;153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9" name="Google Shape;159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r>
              <a:t>Presenter: Ketki Gonnade</a:t>
            </a:r>
          </a:p>
          <a:p>
            <a:r>
              <a:t>Close: thank the jury, repeat the one-liner, invite questions.</a:t>
            </a:r>
          </a:p>
        </p:txBody>
      </p:sp>
      <p:sp>
        <p:nvSpPr>
          <p:cNvPr id="160" name="Google Shape;160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1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15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9" name="Google Shape;19;p1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1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16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16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25" name="Google Shape;25;p1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1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17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17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1" name="Google Shape;31;p1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1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1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1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18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7" name="Google Shape;37;p18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8" name="Google Shape;38;p1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1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9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19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4" name="Google Shape;44;p19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5" name="Google Shape;45;p19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6" name="Google Shape;46;p19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7" name="Google Shape;47;p1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1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20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2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2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2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2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2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2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22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22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2" name="Google Shape;62;p22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3" name="Google Shape;63;p2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2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" name="Google Shape;65;p2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23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" name="Google Shape;68;p23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9" name="Google Shape;69;p23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70" name="Google Shape;70;p2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2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2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2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5" name="Google Shape;75;p24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6" name="Google Shape;76;p2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2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25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1" name="Google Shape;81;p25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2" name="Google Shape;82;p2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2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4" name="Google Shape;84;p2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13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1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1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1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6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7.png"/><Relationship Id="rId4" Type="http://schemas.openxmlformats.org/officeDocument/2006/relationships/image" Target="../media/image8.png"/><Relationship Id="rId5" Type="http://schemas.openxmlformats.org/officeDocument/2006/relationships/image" Target="../media/image9.png"/><Relationship Id="rId6" Type="http://schemas.openxmlformats.org/officeDocument/2006/relationships/image" Target="../media/image10.png"/><Relationship Id="rId7" Type="http://schemas.openxmlformats.org/officeDocument/2006/relationships/image" Target="../media/image11.png"/><Relationship Id="rId8" Type="http://schemas.openxmlformats.org/officeDocument/2006/relationships/image" Target="../media/image12.png"/><Relationship Id="rId9" Type="http://schemas.openxmlformats.org/officeDocument/2006/relationships/image" Target="../media/image1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4.png"/><Relationship Id="rId4" Type="http://schemas.openxmlformats.org/officeDocument/2006/relationships/image" Target="../media/image15.png"/><Relationship Id="rId5" Type="http://schemas.openxmlformats.org/officeDocument/2006/relationships/image" Target="../media/image16.png"/><Relationship Id="rId6" Type="http://schemas.openxmlformats.org/officeDocument/2006/relationships/image" Target="../media/image17.png"/><Relationship Id="rId7" Type="http://schemas.openxmlformats.org/officeDocument/2006/relationships/image" Target="../media/image7.png"/><Relationship Id="rId8" Type="http://schemas.openxmlformats.org/officeDocument/2006/relationships/image" Target="../media/image18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9.png"/><Relationship Id="rId4" Type="http://schemas.openxmlformats.org/officeDocument/2006/relationships/image" Target="../media/image10.png"/><Relationship Id="rId5" Type="http://schemas.openxmlformats.org/officeDocument/2006/relationships/image" Target="../media/image9.png"/><Relationship Id="rId6" Type="http://schemas.openxmlformats.org/officeDocument/2006/relationships/image" Target="../media/image8.png"/><Relationship Id="rId7" Type="http://schemas.openxmlformats.org/officeDocument/2006/relationships/image" Target="../media/image20.png"/><Relationship Id="rId8" Type="http://schemas.openxmlformats.org/officeDocument/2006/relationships/image" Target="../media/image21.png"/><Relationship Id="rId9" Type="http://schemas.openxmlformats.org/officeDocument/2006/relationships/image" Target="../media/image22.png"/><Relationship Id="rId10" Type="http://schemas.openxmlformats.org/officeDocument/2006/relationships/image" Target="../media/image2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2.png"/><Relationship Id="rId4" Type="http://schemas.openxmlformats.org/officeDocument/2006/relationships/image" Target="../media/image4.png"/><Relationship Id="rId5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5.png"/><Relationship Id="rId4" Type="http://schemas.openxmlformats.org/officeDocument/2006/relationships/image" Target="../media/image18.png"/><Relationship Id="rId5" Type="http://schemas.openxmlformats.org/officeDocument/2006/relationships/image" Target="../media/image17.png"/><Relationship Id="rId6" Type="http://schemas.openxmlformats.org/officeDocument/2006/relationships/image" Target="../media/image2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1.png"/><Relationship Id="rId4" Type="http://schemas.openxmlformats.org/officeDocument/2006/relationships/image" Target="../media/image25.png"/><Relationship Id="rId5" Type="http://schemas.openxmlformats.org/officeDocument/2006/relationships/image" Target="../media/image17.png"/><Relationship Id="rId6" Type="http://schemas.openxmlformats.org/officeDocument/2006/relationships/image" Target="../media/image12.png"/><Relationship Id="rId7" Type="http://schemas.openxmlformats.org/officeDocument/2006/relationships/image" Target="../media/image20.png"/><Relationship Id="rId8" Type="http://schemas.openxmlformats.org/officeDocument/2006/relationships/chart" Target="../charts/chart1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7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"/>
          <p:cNvSpPr/>
          <p:nvPr/>
        </p:nvSpPr>
        <p:spPr>
          <a:xfrm>
            <a:off x="777240" y="676656"/>
            <a:ext cx="2423160" cy="347472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 cap="flat" cmpd="sng" w="12700">
            <a:solidFill>
              <a:srgbClr val="D9D3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1"/>
          <p:cNvSpPr txBox="1"/>
          <p:nvPr/>
        </p:nvSpPr>
        <p:spPr>
          <a:xfrm>
            <a:off x="777240" y="676656"/>
            <a:ext cx="24231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D28D9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6D28D9"/>
                </a:solidFill>
                <a:latin typeface="Arial"/>
                <a:ea typeface="Arial"/>
                <a:cs typeface="Arial"/>
                <a:sym typeface="Arial"/>
              </a:rPr>
              <a:t>SAMSUNG PRISM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1"/>
          <p:cNvSpPr txBox="1"/>
          <p:nvPr/>
        </p:nvSpPr>
        <p:spPr>
          <a:xfrm>
            <a:off x="777240" y="1207008"/>
            <a:ext cx="6126480" cy="7498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142B"/>
              </a:buClr>
              <a:buSzPts val="5000"/>
              <a:buFont typeface="Arial"/>
              <a:buNone/>
            </a:pPr>
            <a:r>
              <a:rPr b="1" i="0" lang="en-US" sz="5000" u="none" cap="none" strike="noStrike">
                <a:solidFill>
                  <a:srgbClr val="14142B"/>
                </a:solidFill>
                <a:latin typeface="Arial"/>
                <a:ea typeface="Arial"/>
                <a:cs typeface="Arial"/>
                <a:sym typeface="Arial"/>
              </a:rPr>
              <a:t>Generative AI</a:t>
            </a:r>
            <a:endParaRPr b="0" i="0" sz="5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1"/>
          <p:cNvSpPr txBox="1"/>
          <p:nvPr/>
        </p:nvSpPr>
        <p:spPr>
          <a:xfrm>
            <a:off x="777240" y="1901952"/>
            <a:ext cx="6126480" cy="7498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D28D9"/>
              </a:buClr>
              <a:buSzPts val="5000"/>
              <a:buFont typeface="Arial"/>
              <a:buNone/>
            </a:pPr>
            <a:r>
              <a:rPr b="1" i="0" lang="en-US" sz="5000" u="none" cap="none" strike="noStrike">
                <a:solidFill>
                  <a:srgbClr val="6D28D9"/>
                </a:solidFill>
                <a:latin typeface="Arial"/>
                <a:ea typeface="Arial"/>
                <a:cs typeface="Arial"/>
                <a:sym typeface="Arial"/>
              </a:rPr>
              <a:t>Hackathon</a:t>
            </a:r>
            <a:endParaRPr b="0" i="0" sz="5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1"/>
          <p:cNvSpPr txBox="1"/>
          <p:nvPr/>
        </p:nvSpPr>
        <p:spPr>
          <a:xfrm>
            <a:off x="777240" y="2724912"/>
            <a:ext cx="61264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142B"/>
              </a:buClr>
              <a:buSzPts val="2500"/>
              <a:buFont typeface="Arial"/>
              <a:buNone/>
            </a:pPr>
            <a:r>
              <a:rPr b="1" i="0" lang="en-US" sz="2500" u="none" cap="none" strike="noStrike">
                <a:solidFill>
                  <a:srgbClr val="14142B"/>
                </a:solidFill>
                <a:latin typeface="Arial"/>
                <a:ea typeface="Arial"/>
                <a:cs typeface="Arial"/>
                <a:sym typeface="Arial"/>
              </a:rPr>
              <a:t>3rd Edition</a:t>
            </a:r>
            <a:r>
              <a:rPr b="0" i="0" lang="en-US" sz="2000" u="none" cap="none" strike="noStrike">
                <a:solidFill>
                  <a:srgbClr val="63637E"/>
                </a:solidFill>
                <a:latin typeface="Calibri"/>
                <a:ea typeface="Calibri"/>
                <a:cs typeface="Calibri"/>
                <a:sym typeface="Calibri"/>
              </a:rPr>
              <a:t>   2026 – 27</a:t>
            </a:r>
            <a:endParaRPr b="0" i="0" sz="2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1"/>
          <p:cNvSpPr txBox="1"/>
          <p:nvPr/>
        </p:nvSpPr>
        <p:spPr>
          <a:xfrm>
            <a:off x="777240" y="3310128"/>
            <a:ext cx="6172200" cy="3017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177800" lvl="0" marL="177800" marR="0" rtl="0" algn="l">
              <a:spcBef>
                <a:spcPts val="0"/>
              </a:spcBef>
              <a:spcAft>
                <a:spcPts val="0"/>
              </a:spcAft>
              <a:buClr>
                <a:srgbClr val="63637E"/>
              </a:buClr>
              <a:buSzPts val="1600"/>
              <a:buFont typeface="Calibri"/>
              <a:buChar char="•"/>
            </a:pPr>
            <a:r>
              <a:rPr b="0" i="0" lang="en-US" sz="1350" u="none" cap="none" strike="noStrike">
                <a:solidFill>
                  <a:srgbClr val="63637E"/>
                </a:solidFill>
                <a:latin typeface="Calibri"/>
                <a:ea typeface="Calibri"/>
                <a:cs typeface="Calibri"/>
                <a:sym typeface="Calibri"/>
              </a:rPr>
              <a:t>Theme ID - 02 · Smart Guided Troubleshooting Engine · Project: FixFlow</a:t>
            </a:r>
            <a:endParaRPr/>
          </a:p>
          <a:p>
            <a:pPr indent="-177800" lvl="0" marL="177800" marR="0" rtl="0" algn="l">
              <a:spcBef>
                <a:spcPts val="500"/>
              </a:spcBef>
              <a:spcAft>
                <a:spcPts val="0"/>
              </a:spcAft>
              <a:buClr>
                <a:srgbClr val="63637E"/>
              </a:buClr>
              <a:buSzPts val="1600"/>
              <a:buFont typeface="Calibri"/>
              <a:buChar char="•"/>
            </a:pPr>
            <a:r>
              <a:rPr b="0" i="0" lang="en-US" sz="1350" u="none" cap="none" strike="noStrike">
                <a:solidFill>
                  <a:srgbClr val="63637E"/>
                </a:solidFill>
                <a:latin typeface="Calibri"/>
                <a:ea typeface="Calibri"/>
                <a:cs typeface="Calibri"/>
                <a:sym typeface="Calibri"/>
              </a:rPr>
              <a:t>Team Name - SRMIST_QueueQueueing</a:t>
            </a:r>
            <a:endParaRPr/>
          </a:p>
          <a:p>
            <a:pPr indent="-177800" lvl="0" marL="177800" marR="0" rtl="0" algn="l">
              <a:spcBef>
                <a:spcPts val="500"/>
              </a:spcBef>
              <a:spcAft>
                <a:spcPts val="0"/>
              </a:spcAft>
              <a:buClr>
                <a:srgbClr val="63637E"/>
              </a:buClr>
              <a:buSzPts val="1600"/>
              <a:buFont typeface="Calibri"/>
              <a:buChar char="•"/>
            </a:pPr>
            <a:r>
              <a:rPr b="0" i="0" lang="en-US" sz="1350" u="none" cap="none" strike="noStrike">
                <a:solidFill>
                  <a:srgbClr val="63637E"/>
                </a:solidFill>
                <a:latin typeface="Calibri"/>
                <a:ea typeface="Calibri"/>
                <a:cs typeface="Calibri"/>
                <a:sym typeface="Calibri"/>
              </a:rPr>
              <a:t>College Name - SRM Institute of Science and Technology</a:t>
            </a:r>
            <a:endParaRPr/>
          </a:p>
          <a:p>
            <a:pPr indent="-177800" lvl="0" marL="177800" marR="0" rtl="0" algn="l">
              <a:spcBef>
                <a:spcPts val="500"/>
              </a:spcBef>
              <a:spcAft>
                <a:spcPts val="0"/>
              </a:spcAft>
              <a:buClr>
                <a:srgbClr val="63637E"/>
              </a:buClr>
              <a:buSzPts val="1600"/>
              <a:buFont typeface="Calibri"/>
              <a:buChar char="•"/>
            </a:pPr>
            <a:r>
              <a:rPr b="0" i="0" lang="en-US" sz="1350" u="none" cap="none" strike="noStrike">
                <a:solidFill>
                  <a:srgbClr val="63637E"/>
                </a:solidFill>
                <a:latin typeface="Calibri"/>
                <a:ea typeface="Calibri"/>
                <a:cs typeface="Calibri"/>
                <a:sym typeface="Calibri"/>
              </a:rPr>
              <a:t>Member Name &amp; Email 1- Abhinav Kumar (Reg. No. RA2411003010993), ak8045@srmist.edu.in  [primary member]</a:t>
            </a:r>
            <a:endParaRPr/>
          </a:p>
          <a:p>
            <a:pPr indent="-177800" lvl="0" marL="177800" marR="0" rtl="0" algn="l">
              <a:spcBef>
                <a:spcPts val="500"/>
              </a:spcBef>
              <a:spcAft>
                <a:spcPts val="0"/>
              </a:spcAft>
              <a:buClr>
                <a:srgbClr val="63637E"/>
              </a:buClr>
              <a:buSzPts val="1600"/>
              <a:buFont typeface="Calibri"/>
              <a:buChar char="•"/>
            </a:pPr>
            <a:r>
              <a:rPr b="0" i="0" lang="en-US" sz="1350" u="none" cap="none" strike="noStrike">
                <a:solidFill>
                  <a:srgbClr val="63637E"/>
                </a:solidFill>
                <a:latin typeface="Calibri"/>
                <a:ea typeface="Calibri"/>
                <a:cs typeface="Calibri"/>
                <a:sym typeface="Calibri"/>
              </a:rPr>
              <a:t>Member Name &amp; Email 2- Abhishek Verma (Reg. No. RA2411003012011), av8372@srmist.edu.in</a:t>
            </a:r>
            <a:endParaRPr/>
          </a:p>
          <a:p>
            <a:pPr indent="-177800" lvl="0" marL="177800" marR="0" rtl="0" algn="l">
              <a:spcBef>
                <a:spcPts val="500"/>
              </a:spcBef>
              <a:spcAft>
                <a:spcPts val="0"/>
              </a:spcAft>
              <a:buClr>
                <a:srgbClr val="63637E"/>
              </a:buClr>
              <a:buSzPts val="1600"/>
              <a:buFont typeface="Calibri"/>
              <a:buChar char="•"/>
            </a:pPr>
            <a:r>
              <a:rPr b="0" i="0" lang="en-US" sz="1350" u="none" cap="none" strike="noStrike">
                <a:solidFill>
                  <a:srgbClr val="63637E"/>
                </a:solidFill>
                <a:latin typeface="Calibri"/>
                <a:ea typeface="Calibri"/>
                <a:cs typeface="Calibri"/>
                <a:sym typeface="Calibri"/>
              </a:rPr>
              <a:t>Member Name &amp; Email 3- Ayushi Paul (Reg. No. RA2411003010997), ap1547@srmist.edu.in</a:t>
            </a:r>
            <a:endParaRPr/>
          </a:p>
          <a:p>
            <a:pPr indent="-177800" lvl="0" marL="177800" marR="0" rtl="0" algn="l">
              <a:spcBef>
                <a:spcPts val="500"/>
              </a:spcBef>
              <a:spcAft>
                <a:spcPts val="0"/>
              </a:spcAft>
              <a:buClr>
                <a:srgbClr val="63637E"/>
              </a:buClr>
              <a:buSzPts val="1600"/>
              <a:buFont typeface="Calibri"/>
              <a:buChar char="•"/>
            </a:pPr>
            <a:r>
              <a:rPr b="0" i="0" lang="en-US" sz="1350" u="none" cap="none" strike="noStrike">
                <a:solidFill>
                  <a:srgbClr val="63637E"/>
                </a:solidFill>
                <a:latin typeface="Calibri"/>
                <a:ea typeface="Calibri"/>
                <a:cs typeface="Calibri"/>
                <a:sym typeface="Calibri"/>
              </a:rPr>
              <a:t>Member Name &amp; Email 4- Ketki Gonnade (Reg. No. RA2411003010739), kg0184@srmist.edu.in</a:t>
            </a:r>
            <a:endParaRPr/>
          </a:p>
          <a:p>
            <a:pPr indent="-177800" lvl="0" marL="177800" marR="0" rtl="0" algn="l">
              <a:spcBef>
                <a:spcPts val="500"/>
              </a:spcBef>
              <a:spcAft>
                <a:spcPts val="0"/>
              </a:spcAft>
              <a:buClr>
                <a:srgbClr val="63637E"/>
              </a:buClr>
              <a:buSzPts val="1600"/>
              <a:buFont typeface="Calibri"/>
              <a:buChar char="•"/>
            </a:pPr>
            <a:r>
              <a:rPr b="0" i="0" lang="en-US" sz="1350" u="none" cap="none" strike="noStrike">
                <a:solidFill>
                  <a:srgbClr val="63637E"/>
                </a:solidFill>
                <a:latin typeface="Calibri"/>
                <a:ea typeface="Calibri"/>
                <a:cs typeface="Calibri"/>
                <a:sym typeface="Calibri"/>
              </a:rPr>
              <a:t>Submission Github link - https://github.com/AbhishekVerma295/SRMIST_QueueQueueing_PRISM_Theme02</a:t>
            </a:r>
            <a:endParaRPr/>
          </a:p>
          <a:p>
            <a:pPr indent="-76200" lvl="0" marL="177800" marR="0" rtl="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r>
              <a:t/>
            </a:r>
            <a:endParaRPr b="0" i="0" sz="1600" u="none" cap="none" strike="noStrike">
              <a:solidFill>
                <a:srgbClr val="63637E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hero_network.png" id="96" name="Google Shape;96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059168" y="1051560"/>
            <a:ext cx="4572000" cy="4572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04EA6"/>
              </a:buClr>
              <a:buSzPts val="4400"/>
              <a:buFont typeface="Calibri"/>
              <a:buNone/>
            </a:pPr>
            <a:r>
              <a:rPr b="1" lang="en-US">
                <a:solidFill>
                  <a:srgbClr val="704EA6"/>
                </a:solidFill>
                <a:latin typeface="Calibri"/>
                <a:ea typeface="Calibri"/>
                <a:cs typeface="Calibri"/>
                <a:sym typeface="Calibri"/>
              </a:rPr>
              <a:t>Theme</a:t>
            </a:r>
            <a:endParaRPr/>
          </a:p>
        </p:txBody>
      </p:sp>
      <p:sp>
        <p:nvSpPr>
          <p:cNvPr id="102" name="TextBox 101"/>
          <p:cNvSpPr txBox="1"/>
          <p:nvPr/>
        </p:nvSpPr>
        <p:spPr>
          <a:xfrm>
            <a:off x="841248" y="1572768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 i="0">
                <a:solidFill>
                  <a:srgbClr val="6D28D9"/>
                </a:solidFill>
                <a:latin typeface="Calibri"/>
              </a:rPr>
              <a:t>Theme 02 · Smart Guided Troubleshooting Engine</a:t>
            </a:r>
          </a:p>
        </p:txBody>
      </p:sp>
      <p:sp>
        <p:nvSpPr>
          <p:cNvPr id="103" name="Rounded Rectangle 102"/>
          <p:cNvSpPr/>
          <p:nvPr/>
        </p:nvSpPr>
        <p:spPr>
          <a:xfrm>
            <a:off x="841248" y="2057400"/>
            <a:ext cx="5989320" cy="4251960"/>
          </a:xfrm>
          <a:prstGeom prst="roundRect">
            <a:avLst>
              <a:gd name="adj" fmla="val 8000"/>
            </a:avLst>
          </a:prstGeom>
          <a:solidFill>
            <a:srgbClr val="F1EC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4" name="Oval 103"/>
          <p:cNvSpPr/>
          <p:nvPr/>
        </p:nvSpPr>
        <p:spPr>
          <a:xfrm>
            <a:off x="1051560" y="2240280"/>
            <a:ext cx="548640" cy="548640"/>
          </a:xfrm>
          <a:prstGeom prst="ellipse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5" name="Picture 104" descr="quote_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77747" y="2366467"/>
            <a:ext cx="296265" cy="296265"/>
          </a:xfrm>
          <a:prstGeom prst="rect">
            <a:avLst/>
          </a:prstGeom>
        </p:spPr>
      </p:pic>
      <p:sp>
        <p:nvSpPr>
          <p:cNvPr id="106" name="TextBox 105"/>
          <p:cNvSpPr txBox="1"/>
          <p:nvPr/>
        </p:nvSpPr>
        <p:spPr>
          <a:xfrm>
            <a:off x="1783080" y="2267712"/>
            <a:ext cx="484632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 i="1">
                <a:solidFill>
                  <a:srgbClr val="14142B"/>
                </a:solidFill>
                <a:latin typeface="Calibri"/>
              </a:rPr>
              <a:t>“My screen flickers and the battery dies fast.”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1097280" y="3154680"/>
            <a:ext cx="5532120" cy="3108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182880" indent="-182880">
              <a:spcAft>
                <a:spcPts val="700"/>
              </a:spcAft>
              <a:buChar char="•"/>
            </a:pPr>
            <a:r>
              <a:rPr sz="1400" b="0" i="0">
                <a:solidFill>
                  <a:srgbClr val="14142B"/>
                </a:solidFill>
                <a:latin typeface="Calibri"/>
              </a:rPr>
              <a:t>Customers describe symptoms, not Settings screens.</a:t>
            </a:r>
          </a:p>
          <a:p>
            <a:pPr algn="l" marL="182880" indent="-182880">
              <a:spcAft>
                <a:spcPts val="700"/>
              </a:spcAft>
              <a:buChar char="•"/>
            </a:pPr>
            <a:r>
              <a:rPr sz="1400" b="0" i="0">
                <a:solidFill>
                  <a:srgbClr val="14142B"/>
                </a:solidFill>
                <a:latin typeface="Calibri"/>
              </a:rPr>
              <a:t>A support agent reads long knowledge articles, picks the steps that apply and orders them safely, about 15 minutes per scenario.</a:t>
            </a:r>
          </a:p>
          <a:p>
            <a:pPr algn="l" marL="182880" indent="-182880">
              <a:spcAft>
                <a:spcPts val="700"/>
              </a:spcAft>
              <a:buChar char="•"/>
            </a:pPr>
            <a:r>
              <a:rPr sz="1400" b="0" i="0">
                <a:solidFill>
                  <a:srgbClr val="14142B"/>
                </a:solidFill>
                <a:latin typeface="Calibri"/>
              </a:rPr>
              <a:t>The user then hunts through nested Settings menus to act on the advice.</a:t>
            </a:r>
          </a:p>
          <a:p>
            <a:pPr algn="l" marL="182880" indent="-182880">
              <a:spcAft>
                <a:spcPts val="700"/>
              </a:spcAft>
              <a:buChar char="•"/>
            </a:pPr>
            <a:r>
              <a:rPr sz="1400" b="0" i="0">
                <a:solidFill>
                  <a:srgbClr val="14142B"/>
                </a:solidFill>
                <a:latin typeface="Calibri"/>
              </a:rPr>
              <a:t>Our task: turn the complaint (+ the knowledge article) into clean, ordered steps as JSON, each Settings step with an exact one-tap deeplink, served in under 300 ms for known issues.</a:t>
            </a:r>
          </a:p>
        </p:txBody>
      </p:sp>
      <p:sp>
        <p:nvSpPr>
          <p:cNvPr id="108" name="Rounded Rectangle 107"/>
          <p:cNvSpPr/>
          <p:nvPr/>
        </p:nvSpPr>
        <p:spPr>
          <a:xfrm>
            <a:off x="7132320" y="2057400"/>
            <a:ext cx="4224528" cy="129844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2DC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9" name="Oval 108"/>
          <p:cNvSpPr/>
          <p:nvPr/>
        </p:nvSpPr>
        <p:spPr>
          <a:xfrm>
            <a:off x="7360920" y="2404872"/>
            <a:ext cx="603504" cy="603504"/>
          </a:xfrm>
          <a:prstGeom prst="ellipse">
            <a:avLst/>
          </a:prstGeom>
          <a:solidFill>
            <a:srgbClr val="704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0" name="Picture 109" descr="clock_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99725" y="2543677"/>
            <a:ext cx="325892" cy="325892"/>
          </a:xfrm>
          <a:prstGeom prst="rect">
            <a:avLst/>
          </a:prstGeom>
        </p:spPr>
      </p:pic>
      <p:sp>
        <p:nvSpPr>
          <p:cNvPr id="111" name="TextBox 110"/>
          <p:cNvSpPr txBox="1"/>
          <p:nvPr/>
        </p:nvSpPr>
        <p:spPr>
          <a:xfrm>
            <a:off x="8183879" y="2240280"/>
            <a:ext cx="30175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 i="0">
                <a:solidFill>
                  <a:srgbClr val="14142B"/>
                </a:solidFill>
                <a:latin typeface="Calibri"/>
              </a:rPr>
              <a:t>≈15 min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8183879" y="2807208"/>
            <a:ext cx="3017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63637E"/>
                </a:solidFill>
                <a:latin typeface="Calibri"/>
              </a:rPr>
              <a:t>manual triage per scenario</a:t>
            </a:r>
          </a:p>
        </p:txBody>
      </p:sp>
      <p:sp>
        <p:nvSpPr>
          <p:cNvPr id="113" name="Rounded Rectangle 112"/>
          <p:cNvSpPr/>
          <p:nvPr/>
        </p:nvSpPr>
        <p:spPr>
          <a:xfrm>
            <a:off x="7132320" y="3520440"/>
            <a:ext cx="4224528" cy="129844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2DC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4" name="Oval 113"/>
          <p:cNvSpPr/>
          <p:nvPr/>
        </p:nvSpPr>
        <p:spPr>
          <a:xfrm>
            <a:off x="7360920" y="3867912"/>
            <a:ext cx="603504" cy="603504"/>
          </a:xfrm>
          <a:prstGeom prst="ellipse">
            <a:avLst/>
          </a:prstGeom>
          <a:solidFill>
            <a:srgbClr val="704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5" name="Picture 114" descr="headset_w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99725" y="4006717"/>
            <a:ext cx="325892" cy="325892"/>
          </a:xfrm>
          <a:prstGeom prst="rect">
            <a:avLst/>
          </a:prstGeom>
        </p:spPr>
      </p:pic>
      <p:sp>
        <p:nvSpPr>
          <p:cNvPr id="116" name="TextBox 115"/>
          <p:cNvSpPr txBox="1"/>
          <p:nvPr/>
        </p:nvSpPr>
        <p:spPr>
          <a:xfrm>
            <a:off x="8183879" y="3703320"/>
            <a:ext cx="30175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 i="0">
                <a:solidFill>
                  <a:srgbClr val="14142B"/>
                </a:solidFill>
                <a:latin typeface="Calibri"/>
              </a:rPr>
              <a:t>Millions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8183879" y="4270248"/>
            <a:ext cx="3017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63637E"/>
                </a:solidFill>
                <a:latin typeface="Calibri"/>
              </a:rPr>
              <a:t>of support interactions</a:t>
            </a:r>
          </a:p>
        </p:txBody>
      </p:sp>
      <p:sp>
        <p:nvSpPr>
          <p:cNvPr id="118" name="Rounded Rectangle 117"/>
          <p:cNvSpPr/>
          <p:nvPr/>
        </p:nvSpPr>
        <p:spPr>
          <a:xfrm>
            <a:off x="7132320" y="4983480"/>
            <a:ext cx="4224528" cy="129844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2DC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9" name="Oval 118"/>
          <p:cNvSpPr/>
          <p:nvPr/>
        </p:nvSpPr>
        <p:spPr>
          <a:xfrm>
            <a:off x="7360920" y="5330952"/>
            <a:ext cx="603504" cy="603504"/>
          </a:xfrm>
          <a:prstGeom prst="ellipse">
            <a:avLst/>
          </a:prstGeom>
          <a:solidFill>
            <a:srgbClr val="704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0" name="Picture 119" descr="layer_w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99725" y="5469757"/>
            <a:ext cx="325892" cy="325892"/>
          </a:xfrm>
          <a:prstGeom prst="rect">
            <a:avLst/>
          </a:prstGeom>
        </p:spPr>
      </p:pic>
      <p:sp>
        <p:nvSpPr>
          <p:cNvPr id="121" name="TextBox 120"/>
          <p:cNvSpPr txBox="1"/>
          <p:nvPr/>
        </p:nvSpPr>
        <p:spPr>
          <a:xfrm>
            <a:off x="8183879" y="5166360"/>
            <a:ext cx="30175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 i="0">
                <a:solidFill>
                  <a:srgbClr val="14142B"/>
                </a:solidFill>
                <a:latin typeface="Calibri"/>
              </a:rPr>
              <a:t>10k+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8183879" y="5733288"/>
            <a:ext cx="30175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63637E"/>
                </a:solidFill>
                <a:latin typeface="Calibri"/>
              </a:rPr>
              <a:t>scenarios in production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04EA6"/>
              </a:buClr>
              <a:buSzPts val="4400"/>
              <a:buFont typeface="Calibri"/>
              <a:buNone/>
            </a:pPr>
            <a:r>
              <a:rPr b="1" lang="en-US">
                <a:solidFill>
                  <a:srgbClr val="704EA6"/>
                </a:solidFill>
                <a:latin typeface="Calibri"/>
                <a:ea typeface="Calibri"/>
                <a:cs typeface="Calibri"/>
                <a:sym typeface="Calibri"/>
              </a:rPr>
              <a:t>Existing Solutions &amp; Gaps</a:t>
            </a:r>
            <a:endParaRPr/>
          </a:p>
        </p:txBody>
      </p:sp>
      <p:graphicFrame>
        <p:nvGraphicFramePr>
          <p:cNvPr id="108" name="Table 107"/>
          <p:cNvGraphicFramePr>
            <a:graphicFrameLocks noGrp="1"/>
          </p:cNvGraphicFramePr>
          <p:nvPr/>
        </p:nvGraphicFramePr>
        <p:xfrm>
          <a:off x="841248" y="1645920"/>
          <a:ext cx="1051560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/>
                <a:gridCol w="3840480"/>
                <a:gridCol w="4297680"/>
              </a:tblGrid>
              <a:tr h="457200">
                <a:tc>
                  <a:txBody>
                    <a:bodyPr wrap="square"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  <a:latin typeface="Calibri"/>
                        </a:rPr>
                        <a:t>Approach today</a:t>
                      </a:r>
                    </a:p>
                  </a:txBody>
                  <a:tcPr marL="73152" marR="73152" marT="27432" marB="27432" anchor="ctr">
                    <a:solidFill>
                      <a:srgbClr val="6D28D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  <a:latin typeface="Calibri"/>
                        </a:rPr>
                        <a:t>How it works</a:t>
                      </a:r>
                    </a:p>
                  </a:txBody>
                  <a:tcPr marL="73152" marR="73152" marT="27432" marB="27432" anchor="ctr">
                    <a:solidFill>
                      <a:srgbClr val="6D28D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  <a:latin typeface="Calibri"/>
                        </a:rPr>
                        <a:t>Gap</a:t>
                      </a:r>
                    </a:p>
                  </a:txBody>
                  <a:tcPr marL="73152" marR="73152" marT="27432" marB="27432" anchor="ctr">
                    <a:solidFill>
                      <a:srgbClr val="6D28D9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14142B"/>
                          </a:solidFill>
                          <a:latin typeface="Calibri"/>
                        </a:rPr>
                        <a:t>Manual agent triage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14142B"/>
                          </a:solidFill>
                          <a:latin typeface="Calibri"/>
                        </a:rPr>
                        <a:t>Agent reads knowledge articles and writes steps by hand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14142B"/>
                          </a:solidFill>
                          <a:latin typeface="Calibri"/>
                        </a:rPr>
                        <a:t>≈15 min per case; inconsistent order; no deeplinks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14142B"/>
                          </a:solidFill>
                          <a:latin typeface="Calibri"/>
                        </a:rPr>
                        <a:t>FAQ / keyword search</a:t>
                      </a:r>
                    </a:p>
                  </a:txBody>
                  <a:tcPr marL="73152" marR="73152" marT="27432" marB="27432" anchor="ctr">
                    <a:solidFill>
                      <a:srgbClr val="F7F5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14142B"/>
                          </a:solidFill>
                          <a:latin typeface="Calibri"/>
                        </a:rPr>
                        <a:t>Returns whole articles that match words</a:t>
                      </a:r>
                    </a:p>
                  </a:txBody>
                  <a:tcPr marL="73152" marR="73152" marT="27432" marB="27432" anchor="ctr">
                    <a:solidFill>
                      <a:srgbClr val="F7F5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14142B"/>
                          </a:solidFill>
                          <a:latin typeface="Calibri"/>
                        </a:rPr>
                        <a:t>User still has to extract steps and find the screens</a:t>
                      </a:r>
                    </a:p>
                  </a:txBody>
                  <a:tcPr marL="73152" marR="73152" marT="27432" marB="27432" anchor="ctr">
                    <a:solidFill>
                      <a:srgbClr val="F7F5FC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14142B"/>
                          </a:solidFill>
                          <a:latin typeface="Calibri"/>
                        </a:rPr>
                        <a:t>Generic LLM chatbot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14142B"/>
                          </a:solidFill>
                          <a:latin typeface="Calibri"/>
                        </a:rPr>
                        <a:t>Free-form answer from model memory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14142B"/>
                          </a:solidFill>
                          <a:latin typeface="Calibri"/>
                        </a:rPr>
                        <a:t>Invents steps and web links; wrong or parent-menu screens; not auditable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14142B"/>
                          </a:solidFill>
                          <a:latin typeface="Calibri"/>
                        </a:rPr>
                        <a:t>Rule / decision trees</a:t>
                      </a:r>
                    </a:p>
                  </a:txBody>
                  <a:tcPr marL="73152" marR="73152" marT="27432" marB="27432" anchor="ctr">
                    <a:solidFill>
                      <a:srgbClr val="F7F5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14142B"/>
                          </a:solidFill>
                          <a:latin typeface="Calibri"/>
                        </a:rPr>
                        <a:t>Hand-built flows per issue</a:t>
                      </a:r>
                    </a:p>
                  </a:txBody>
                  <a:tcPr marL="73152" marR="73152" marT="27432" marB="27432" anchor="ctr">
                    <a:solidFill>
                      <a:srgbClr val="F7F5F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14142B"/>
                          </a:solidFill>
                          <a:latin typeface="Calibri"/>
                        </a:rPr>
                        <a:t>Brittle to new wording; does not scale to 10k+ scenarios</a:t>
                      </a:r>
                    </a:p>
                  </a:txBody>
                  <a:tcPr marL="73152" marR="73152" marT="27432" marB="27432" anchor="ctr">
                    <a:solidFill>
                      <a:srgbClr val="F7F5FC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14142B"/>
                          </a:solidFill>
                          <a:latin typeface="Calibri"/>
                        </a:rPr>
                        <a:t>Static deeplink lists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14142B"/>
                          </a:solidFill>
                          <a:latin typeface="Calibri"/>
                        </a:rPr>
                        <a:t>Links per topic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14142B"/>
                          </a:solidFill>
                          <a:latin typeface="Calibri"/>
                        </a:rPr>
                        <a:t>No link between a complaint and the exact screen or toggle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9" name="Rounded Rectangle 108"/>
          <p:cNvSpPr/>
          <p:nvPr/>
        </p:nvSpPr>
        <p:spPr>
          <a:xfrm>
            <a:off x="841248" y="4617720"/>
            <a:ext cx="10515600" cy="1645920"/>
          </a:xfrm>
          <a:prstGeom prst="roundRect">
            <a:avLst>
              <a:gd name="adj" fmla="val 8000"/>
            </a:avLst>
          </a:prstGeom>
          <a:solidFill>
            <a:srgbClr val="F1EC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0" name="Oval 109"/>
          <p:cNvSpPr/>
          <p:nvPr/>
        </p:nvSpPr>
        <p:spPr>
          <a:xfrm>
            <a:off x="1051560" y="4846320"/>
            <a:ext cx="566928" cy="566928"/>
          </a:xfrm>
          <a:prstGeom prst="ellipse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1" name="Picture 110" descr="star_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1953" y="4976713"/>
            <a:ext cx="306141" cy="306141"/>
          </a:xfrm>
          <a:prstGeom prst="rect">
            <a:avLst/>
          </a:prstGeom>
        </p:spPr>
      </p:pic>
      <p:sp>
        <p:nvSpPr>
          <p:cNvPr id="112" name="TextBox 111"/>
          <p:cNvSpPr txBox="1"/>
          <p:nvPr/>
        </p:nvSpPr>
        <p:spPr>
          <a:xfrm>
            <a:off x="1828800" y="4773168"/>
            <a:ext cx="9326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6D28D9"/>
                </a:solidFill>
                <a:latin typeface="Calibri"/>
              </a:rPr>
              <a:t>What is missing, and what FixFlow is designed for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1828800" y="5166360"/>
            <a:ext cx="932688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50" b="0" i="0">
                <a:solidFill>
                  <a:srgbClr val="14142B"/>
                </a:solidFill>
                <a:latin typeface="Calibri"/>
              </a:rPr>
              <a:t>Grounded: only steps that exist in the reference article  ·  Exact: the right screen and the right on/off operation from the official catalog</a:t>
            </a:r>
          </a:p>
          <a:p>
            <a:pPr algn="l">
              <a:spcAft>
                <a:spcPts val="600"/>
              </a:spcAft>
            </a:pPr>
            <a:r>
              <a:rPr sz="1350" b="0" i="0">
                <a:solidFill>
                  <a:srgbClr val="14142B"/>
                </a:solidFill>
                <a:latin typeface="Calibri"/>
              </a:rPr>
              <a:t>Safe: least disruptive first, restart/reset last  ·  Instant: repeats and paraphrases answered from a validated cache  ·  Verifiable: the fix can be checked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4"/>
          <p:cNvSpPr txBox="1"/>
          <p:nvPr>
            <p:ph type="title"/>
          </p:nvPr>
        </p:nvSpPr>
        <p:spPr>
          <a:xfrm>
            <a:off x="909917" y="266513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04EA6"/>
              </a:buClr>
              <a:buSzPts val="4400"/>
              <a:buFont typeface="Calibri"/>
              <a:buNone/>
            </a:pPr>
            <a:r>
              <a:rPr b="1" lang="en-US">
                <a:solidFill>
                  <a:srgbClr val="704EA6"/>
                </a:solidFill>
                <a:latin typeface="Calibri"/>
                <a:ea typeface="Calibri"/>
                <a:cs typeface="Calibri"/>
                <a:sym typeface="Calibri"/>
              </a:rPr>
              <a:t>Our Solutions &amp; Architecture Diagram</a:t>
            </a:r>
            <a:endParaRPr/>
          </a:p>
        </p:txBody>
      </p:sp>
      <p:sp>
        <p:nvSpPr>
          <p:cNvPr id="114" name="TextBox 113"/>
          <p:cNvSpPr txBox="1"/>
          <p:nvPr/>
        </p:nvSpPr>
        <p:spPr>
          <a:xfrm>
            <a:off x="914400" y="1481328"/>
            <a:ext cx="104241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 i="0">
                <a:solidFill>
                  <a:srgbClr val="6D28D9"/>
                </a:solidFill>
                <a:latin typeface="Calibri"/>
              </a:rPr>
              <a:t>FixFlow: </a:t>
            </a:r>
            <a:r>
              <a:rPr sz="1500" b="0" i="0">
                <a:solidFill>
                  <a:srgbClr val="14142B"/>
                </a:solidFill>
                <a:latin typeface="Calibri"/>
              </a:rPr>
              <a:t>a REST engine that returns a schema-valid, ordered, deeplinked plan as JSON. The model proposes; code decides.</a:t>
            </a:r>
          </a:p>
        </p:txBody>
      </p:sp>
      <p:sp>
        <p:nvSpPr>
          <p:cNvPr id="115" name="Rounded Rectangle 114"/>
          <p:cNvSpPr/>
          <p:nvPr/>
        </p:nvSpPr>
        <p:spPr>
          <a:xfrm>
            <a:off x="841248" y="2057400"/>
            <a:ext cx="1572768" cy="2057400"/>
          </a:xfrm>
          <a:prstGeom prst="roundRect">
            <a:avLst>
              <a:gd name="adj" fmla="val 8000"/>
            </a:avLst>
          </a:prstGeom>
          <a:solidFill>
            <a:srgbClr val="F1EC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6" name="Oval 115"/>
          <p:cNvSpPr/>
          <p:nvPr/>
        </p:nvSpPr>
        <p:spPr>
          <a:xfrm>
            <a:off x="1353312" y="2176272"/>
            <a:ext cx="548640" cy="548640"/>
          </a:xfrm>
          <a:prstGeom prst="ellipse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7" name="Picture 116" descr="route_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79499" y="2302459"/>
            <a:ext cx="296265" cy="296265"/>
          </a:xfrm>
          <a:prstGeom prst="rect">
            <a:avLst/>
          </a:prstGeom>
        </p:spPr>
      </p:pic>
      <p:sp>
        <p:nvSpPr>
          <p:cNvPr id="118" name="TextBox 117"/>
          <p:cNvSpPr txBox="1"/>
          <p:nvPr/>
        </p:nvSpPr>
        <p:spPr>
          <a:xfrm>
            <a:off x="914400" y="210312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 i="0">
                <a:solidFill>
                  <a:srgbClr val="63637E"/>
                </a:solidFill>
                <a:latin typeface="Calibri"/>
              </a:rPr>
              <a:t>[4]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896112" y="2788920"/>
            <a:ext cx="14630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50" b="1" i="0">
                <a:solidFill>
                  <a:srgbClr val="14142B"/>
                </a:solidFill>
                <a:latin typeface="Calibri"/>
              </a:rPr>
              <a:t>REST API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896112" y="3246120"/>
            <a:ext cx="14630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050" b="0" i="0">
                <a:solidFill>
                  <a:srgbClr val="63637E"/>
                </a:solidFill>
                <a:latin typeface="Calibri"/>
              </a:rPr>
              <a:t>POST /v1/troubleshoot
GET /health</a:t>
            </a:r>
          </a:p>
        </p:txBody>
      </p:sp>
      <p:sp>
        <p:nvSpPr>
          <p:cNvPr id="121" name="Isosceles Triangle 120"/>
          <p:cNvSpPr/>
          <p:nvPr/>
        </p:nvSpPr>
        <p:spPr>
          <a:xfrm rot="5400000">
            <a:off x="2414016" y="2926080"/>
            <a:ext cx="182880" cy="219456"/>
          </a:xfrm>
          <a:prstGeom prst="triangle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Rounded Rectangle 121"/>
          <p:cNvSpPr/>
          <p:nvPr/>
        </p:nvSpPr>
        <p:spPr>
          <a:xfrm>
            <a:off x="2624328" y="2057400"/>
            <a:ext cx="1572768" cy="2057400"/>
          </a:xfrm>
          <a:prstGeom prst="roundRect">
            <a:avLst>
              <a:gd name="adj" fmla="val 8000"/>
            </a:avLst>
          </a:prstGeom>
          <a:solidFill>
            <a:srgbClr val="FDF1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3" name="Oval 122"/>
          <p:cNvSpPr/>
          <p:nvPr/>
        </p:nvSpPr>
        <p:spPr>
          <a:xfrm>
            <a:off x="3136392" y="2176272"/>
            <a:ext cx="548640" cy="548640"/>
          </a:xfrm>
          <a:prstGeom prst="ellipse">
            <a:avLst/>
          </a:prstGeom>
          <a:solidFill>
            <a:srgbClr val="C777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4" name="Picture 123" descr="db_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62579" y="2302459"/>
            <a:ext cx="296265" cy="296265"/>
          </a:xfrm>
          <a:prstGeom prst="rect">
            <a:avLst/>
          </a:prstGeom>
        </p:spPr>
      </p:pic>
      <p:sp>
        <p:nvSpPr>
          <p:cNvPr id="125" name="TextBox 124"/>
          <p:cNvSpPr txBox="1"/>
          <p:nvPr/>
        </p:nvSpPr>
        <p:spPr>
          <a:xfrm>
            <a:off x="2697480" y="210312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 i="0">
                <a:solidFill>
                  <a:srgbClr val="63637E"/>
                </a:solidFill>
                <a:latin typeface="Calibri"/>
              </a:rPr>
              <a:t>[3]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2679192" y="2788920"/>
            <a:ext cx="14630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50" b="1" i="0">
                <a:solidFill>
                  <a:srgbClr val="14142B"/>
                </a:solidFill>
                <a:latin typeface="Calibri"/>
              </a:rPr>
              <a:t>Fast-path cache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2679192" y="3246120"/>
            <a:ext cx="14630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050" b="0" i="0">
                <a:solidFill>
                  <a:srgbClr val="63637E"/>
                </a:solidFill>
                <a:latin typeface="Calibri"/>
              </a:rPr>
              <a:t>L1 exact + semantic
L2 normalised complaint</a:t>
            </a:r>
          </a:p>
        </p:txBody>
      </p:sp>
      <p:sp>
        <p:nvSpPr>
          <p:cNvPr id="128" name="Isosceles Triangle 127"/>
          <p:cNvSpPr/>
          <p:nvPr/>
        </p:nvSpPr>
        <p:spPr>
          <a:xfrm rot="5400000">
            <a:off x="4197096" y="2926080"/>
            <a:ext cx="182880" cy="219456"/>
          </a:xfrm>
          <a:prstGeom prst="triangle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Rounded Rectangle 128"/>
          <p:cNvSpPr/>
          <p:nvPr/>
        </p:nvSpPr>
        <p:spPr>
          <a:xfrm>
            <a:off x="4407408" y="2057400"/>
            <a:ext cx="1572768" cy="2057400"/>
          </a:xfrm>
          <a:prstGeom prst="roundRect">
            <a:avLst>
              <a:gd name="adj" fmla="val 8000"/>
            </a:avLst>
          </a:prstGeom>
          <a:solidFill>
            <a:srgbClr val="F1EC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0" name="Oval 129"/>
          <p:cNvSpPr/>
          <p:nvPr/>
        </p:nvSpPr>
        <p:spPr>
          <a:xfrm>
            <a:off x="4919472" y="2176272"/>
            <a:ext cx="548640" cy="548640"/>
          </a:xfrm>
          <a:prstGeom prst="ellipse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1" name="Picture 130" descr="search_w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45659" y="2302459"/>
            <a:ext cx="296265" cy="296265"/>
          </a:xfrm>
          <a:prstGeom prst="rect">
            <a:avLst/>
          </a:prstGeom>
        </p:spPr>
      </p:pic>
      <p:sp>
        <p:nvSpPr>
          <p:cNvPr id="132" name="TextBox 131"/>
          <p:cNvSpPr txBox="1"/>
          <p:nvPr/>
        </p:nvSpPr>
        <p:spPr>
          <a:xfrm>
            <a:off x="4480560" y="210312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 i="0">
                <a:solidFill>
                  <a:srgbClr val="63637E"/>
                </a:solidFill>
                <a:latin typeface="Calibri"/>
              </a:rPr>
              <a:t>[0]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4462272" y="2788920"/>
            <a:ext cx="14630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50" b="1" i="0">
                <a:solidFill>
                  <a:srgbClr val="14142B"/>
                </a:solidFill>
                <a:latin typeface="Calibri"/>
              </a:rPr>
              <a:t>Query enrichment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4462272" y="3246120"/>
            <a:ext cx="14630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050" b="0" i="0">
                <a:solidFill>
                  <a:srgbClr val="63637E"/>
                </a:solidFill>
                <a:latin typeface="Calibri"/>
              </a:rPr>
              <a:t>normalise, split intents,
8–10 variations</a:t>
            </a:r>
          </a:p>
        </p:txBody>
      </p:sp>
      <p:sp>
        <p:nvSpPr>
          <p:cNvPr id="135" name="Isosceles Triangle 134"/>
          <p:cNvSpPr/>
          <p:nvPr/>
        </p:nvSpPr>
        <p:spPr>
          <a:xfrm rot="5400000">
            <a:off x="5980176" y="2926080"/>
            <a:ext cx="182880" cy="219456"/>
          </a:xfrm>
          <a:prstGeom prst="triangle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Rounded Rectangle 135"/>
          <p:cNvSpPr/>
          <p:nvPr/>
        </p:nvSpPr>
        <p:spPr>
          <a:xfrm>
            <a:off x="6190488" y="2057400"/>
            <a:ext cx="1572768" cy="2057400"/>
          </a:xfrm>
          <a:prstGeom prst="roundRect">
            <a:avLst>
              <a:gd name="adj" fmla="val 8000"/>
            </a:avLst>
          </a:prstGeom>
          <a:solidFill>
            <a:srgbClr val="F1EC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7" name="Oval 136"/>
          <p:cNvSpPr/>
          <p:nvPr/>
        </p:nvSpPr>
        <p:spPr>
          <a:xfrm>
            <a:off x="6702552" y="2176272"/>
            <a:ext cx="548640" cy="548640"/>
          </a:xfrm>
          <a:prstGeom prst="ellipse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8" name="Picture 137" descr="brain_w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28739" y="2302459"/>
            <a:ext cx="296265" cy="296265"/>
          </a:xfrm>
          <a:prstGeom prst="rect">
            <a:avLst/>
          </a:prstGeom>
        </p:spPr>
      </p:pic>
      <p:sp>
        <p:nvSpPr>
          <p:cNvPr id="139" name="TextBox 138"/>
          <p:cNvSpPr txBox="1"/>
          <p:nvPr/>
        </p:nvSpPr>
        <p:spPr>
          <a:xfrm>
            <a:off x="6263640" y="210312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 i="0">
                <a:solidFill>
                  <a:srgbClr val="63637E"/>
                </a:solidFill>
                <a:latin typeface="Calibri"/>
              </a:rPr>
              <a:t>[1]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6245351" y="2788920"/>
            <a:ext cx="14630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50" b="1" i="0">
                <a:solidFill>
                  <a:srgbClr val="14142B"/>
                </a:solidFill>
                <a:latin typeface="Calibri"/>
              </a:rPr>
              <a:t>Grounded extraction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6245351" y="3246120"/>
            <a:ext cx="14630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050" b="0" i="0">
                <a:solidFill>
                  <a:srgbClr val="63637E"/>
                </a:solidFill>
                <a:latin typeface="Calibri"/>
              </a:rPr>
              <a:t>LLM cites numbered
sentences; code verifies</a:t>
            </a:r>
          </a:p>
        </p:txBody>
      </p:sp>
      <p:sp>
        <p:nvSpPr>
          <p:cNvPr id="142" name="Isosceles Triangle 141"/>
          <p:cNvSpPr/>
          <p:nvPr/>
        </p:nvSpPr>
        <p:spPr>
          <a:xfrm rot="5400000">
            <a:off x="7763256" y="2926080"/>
            <a:ext cx="182880" cy="219456"/>
          </a:xfrm>
          <a:prstGeom prst="triangle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Rounded Rectangle 142"/>
          <p:cNvSpPr/>
          <p:nvPr/>
        </p:nvSpPr>
        <p:spPr>
          <a:xfrm>
            <a:off x="7973568" y="2057400"/>
            <a:ext cx="1572768" cy="2057400"/>
          </a:xfrm>
          <a:prstGeom prst="roundRect">
            <a:avLst>
              <a:gd name="adj" fmla="val 8000"/>
            </a:avLst>
          </a:prstGeom>
          <a:solidFill>
            <a:srgbClr val="F1EC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4" name="Oval 143"/>
          <p:cNvSpPr/>
          <p:nvPr/>
        </p:nvSpPr>
        <p:spPr>
          <a:xfrm>
            <a:off x="8485632" y="2176272"/>
            <a:ext cx="548640" cy="548640"/>
          </a:xfrm>
          <a:prstGeom prst="ellipse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5" name="Picture 144" descr="link_w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611819" y="2302459"/>
            <a:ext cx="296265" cy="296265"/>
          </a:xfrm>
          <a:prstGeom prst="rect">
            <a:avLst/>
          </a:prstGeom>
        </p:spPr>
      </p:pic>
      <p:sp>
        <p:nvSpPr>
          <p:cNvPr id="146" name="TextBox 145"/>
          <p:cNvSpPr txBox="1"/>
          <p:nvPr/>
        </p:nvSpPr>
        <p:spPr>
          <a:xfrm>
            <a:off x="8046720" y="210312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 i="0">
                <a:solidFill>
                  <a:srgbClr val="63637E"/>
                </a:solidFill>
                <a:latin typeface="Calibri"/>
              </a:rPr>
              <a:t>[2]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8028432" y="2788920"/>
            <a:ext cx="14630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50" b="1" i="0">
                <a:solidFill>
                  <a:srgbClr val="14142B"/>
                </a:solidFill>
                <a:latin typeface="Calibri"/>
              </a:rPr>
              <a:t>Deeplink mapping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8028432" y="3246120"/>
            <a:ext cx="14630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050" b="0" i="0">
                <a:solidFill>
                  <a:srgbClr val="63637E"/>
                </a:solidFill>
                <a:latin typeface="Calibri"/>
              </a:rPr>
              <a:t>Feature Graph, hybrid
BM25 + embeddings</a:t>
            </a:r>
          </a:p>
        </p:txBody>
      </p:sp>
      <p:sp>
        <p:nvSpPr>
          <p:cNvPr id="149" name="Isosceles Triangle 148"/>
          <p:cNvSpPr/>
          <p:nvPr/>
        </p:nvSpPr>
        <p:spPr>
          <a:xfrm rot="5400000">
            <a:off x="9546336" y="2926080"/>
            <a:ext cx="182880" cy="219456"/>
          </a:xfrm>
          <a:prstGeom prst="triangle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Rounded Rectangle 149"/>
          <p:cNvSpPr/>
          <p:nvPr/>
        </p:nvSpPr>
        <p:spPr>
          <a:xfrm>
            <a:off x="9756648" y="2057400"/>
            <a:ext cx="1572768" cy="2057400"/>
          </a:xfrm>
          <a:prstGeom prst="roundRect">
            <a:avLst>
              <a:gd name="adj" fmla="val 8000"/>
            </a:avLst>
          </a:prstGeom>
          <a:solidFill>
            <a:srgbClr val="F1EC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1" name="Oval 150"/>
          <p:cNvSpPr/>
          <p:nvPr/>
        </p:nvSpPr>
        <p:spPr>
          <a:xfrm>
            <a:off x="10268712" y="2176272"/>
            <a:ext cx="548640" cy="548640"/>
          </a:xfrm>
          <a:prstGeom prst="ellipse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2" name="Picture 151" descr="shield_w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394899" y="2302459"/>
            <a:ext cx="296265" cy="296265"/>
          </a:xfrm>
          <a:prstGeom prst="rect">
            <a:avLst/>
          </a:prstGeom>
        </p:spPr>
      </p:pic>
      <p:sp>
        <p:nvSpPr>
          <p:cNvPr id="153" name="TextBox 152"/>
          <p:cNvSpPr txBox="1"/>
          <p:nvPr/>
        </p:nvSpPr>
        <p:spPr>
          <a:xfrm>
            <a:off x="9829800" y="210312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1" i="0">
                <a:solidFill>
                  <a:srgbClr val="63637E"/>
                </a:solidFill>
                <a:latin typeface="Calibri"/>
              </a:rPr>
              <a:t>✓</a:t>
            </a:r>
          </a:p>
        </p:txBody>
      </p:sp>
      <p:sp>
        <p:nvSpPr>
          <p:cNvPr id="154" name="TextBox 153"/>
          <p:cNvSpPr txBox="1"/>
          <p:nvPr/>
        </p:nvSpPr>
        <p:spPr>
          <a:xfrm>
            <a:off x="9811512" y="2788920"/>
            <a:ext cx="14630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50" b="1" i="0">
                <a:solidFill>
                  <a:srgbClr val="14142B"/>
                </a:solidFill>
                <a:latin typeface="Calibri"/>
              </a:rPr>
              <a:t>Contract gate</a:t>
            </a:r>
          </a:p>
        </p:txBody>
      </p:sp>
      <p:sp>
        <p:nvSpPr>
          <p:cNvPr id="155" name="TextBox 154"/>
          <p:cNvSpPr txBox="1"/>
          <p:nvPr/>
        </p:nvSpPr>
        <p:spPr>
          <a:xfrm>
            <a:off x="9811512" y="3246120"/>
            <a:ext cx="14630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050" b="0" i="0">
                <a:solidFill>
                  <a:srgbClr val="63637E"/>
                </a:solidFill>
                <a:latin typeface="Calibri"/>
              </a:rPr>
              <a:t>schema + every rule
checked in code</a:t>
            </a:r>
          </a:p>
        </p:txBody>
      </p:sp>
      <p:sp>
        <p:nvSpPr>
          <p:cNvPr id="156" name="Rounded Rectangle 155"/>
          <p:cNvSpPr/>
          <p:nvPr/>
        </p:nvSpPr>
        <p:spPr>
          <a:xfrm>
            <a:off x="841248" y="4389120"/>
            <a:ext cx="3383280" cy="187451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2DC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7" name="Oval 156"/>
          <p:cNvSpPr/>
          <p:nvPr/>
        </p:nvSpPr>
        <p:spPr>
          <a:xfrm>
            <a:off x="1024128" y="4553712"/>
            <a:ext cx="457200" cy="457200"/>
          </a:xfrm>
          <a:prstGeom prst="ellipse">
            <a:avLst/>
          </a:prstGeom>
          <a:solidFill>
            <a:srgbClr val="704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8" name="Picture 157" descr="brain_w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29284" y="4658868"/>
            <a:ext cx="246888" cy="246888"/>
          </a:xfrm>
          <a:prstGeom prst="rect">
            <a:avLst/>
          </a:prstGeom>
        </p:spPr>
      </p:pic>
      <p:sp>
        <p:nvSpPr>
          <p:cNvPr id="159" name="TextBox 158"/>
          <p:cNvSpPr txBox="1"/>
          <p:nvPr/>
        </p:nvSpPr>
        <p:spPr>
          <a:xfrm>
            <a:off x="1618488" y="4599432"/>
            <a:ext cx="2468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 i="0">
                <a:solidFill>
                  <a:srgbClr val="14142B"/>
                </a:solidFill>
                <a:latin typeface="Calibri"/>
              </a:rPr>
              <a:t>LLM layer</a:t>
            </a:r>
          </a:p>
        </p:txBody>
      </p:sp>
      <p:sp>
        <p:nvSpPr>
          <p:cNvPr id="160" name="TextBox 159"/>
          <p:cNvSpPr txBox="1"/>
          <p:nvPr/>
        </p:nvSpPr>
        <p:spPr>
          <a:xfrm>
            <a:off x="1024128" y="5120640"/>
            <a:ext cx="306324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 i="0">
                <a:solidFill>
                  <a:srgbClr val="63637E"/>
                </a:solidFill>
                <a:latin typeface="Calibri"/>
              </a:rPr>
              <a:t>Gemini Flash-Lite, auto-selected. Model fallback chain, retry with backoff, 8 s online budget, JSON-schema output, temperature 0.</a:t>
            </a:r>
          </a:p>
        </p:txBody>
      </p:sp>
      <p:sp>
        <p:nvSpPr>
          <p:cNvPr id="161" name="Rounded Rectangle 160"/>
          <p:cNvSpPr/>
          <p:nvPr/>
        </p:nvSpPr>
        <p:spPr>
          <a:xfrm>
            <a:off x="4407408" y="4389120"/>
            <a:ext cx="3383280" cy="187451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2DC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2" name="Oval 161"/>
          <p:cNvSpPr/>
          <p:nvPr/>
        </p:nvSpPr>
        <p:spPr>
          <a:xfrm>
            <a:off x="4590288" y="4553712"/>
            <a:ext cx="457200" cy="457200"/>
          </a:xfrm>
          <a:prstGeom prst="ellipse">
            <a:avLst/>
          </a:prstGeom>
          <a:solidFill>
            <a:srgbClr val="704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3" name="Picture 162" descr="cog_w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695444" y="4658868"/>
            <a:ext cx="246888" cy="246888"/>
          </a:xfrm>
          <a:prstGeom prst="rect">
            <a:avLst/>
          </a:prstGeom>
        </p:spPr>
      </p:pic>
      <p:sp>
        <p:nvSpPr>
          <p:cNvPr id="164" name="TextBox 163"/>
          <p:cNvSpPr txBox="1"/>
          <p:nvPr/>
        </p:nvSpPr>
        <p:spPr>
          <a:xfrm>
            <a:off x="5184648" y="4599432"/>
            <a:ext cx="2468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 i="0">
                <a:solidFill>
                  <a:srgbClr val="14142B"/>
                </a:solidFill>
                <a:latin typeface="Calibri"/>
              </a:rPr>
              <a:t>Offline rules path</a:t>
            </a:r>
          </a:p>
        </p:txBody>
      </p:sp>
      <p:sp>
        <p:nvSpPr>
          <p:cNvPr id="165" name="TextBox 164"/>
          <p:cNvSpPr txBox="1"/>
          <p:nvPr/>
        </p:nvSpPr>
        <p:spPr>
          <a:xfrm>
            <a:off x="4590288" y="5120640"/>
            <a:ext cx="306324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 i="0">
                <a:solidFill>
                  <a:srgbClr val="63637E"/>
                </a:solidFill>
                <a:latin typeface="Calibri"/>
              </a:rPr>
              <a:t>No key or provider outage → rules parser with the same mapper and gate. Never fails; always JSON.</a:t>
            </a:r>
          </a:p>
        </p:txBody>
      </p:sp>
      <p:sp>
        <p:nvSpPr>
          <p:cNvPr id="166" name="Rounded Rectangle 165"/>
          <p:cNvSpPr/>
          <p:nvPr/>
        </p:nvSpPr>
        <p:spPr>
          <a:xfrm>
            <a:off x="7973568" y="4389120"/>
            <a:ext cx="3383280" cy="187451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2DC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7" name="Oval 166"/>
          <p:cNvSpPr/>
          <p:nvPr/>
        </p:nvSpPr>
        <p:spPr>
          <a:xfrm>
            <a:off x="8156448" y="4553712"/>
            <a:ext cx="457200" cy="457200"/>
          </a:xfrm>
          <a:prstGeom prst="ellipse">
            <a:avLst/>
          </a:prstGeom>
          <a:solidFill>
            <a:srgbClr val="704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8" name="Picture 167" descr="db_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61604" y="4658868"/>
            <a:ext cx="246888" cy="246888"/>
          </a:xfrm>
          <a:prstGeom prst="rect">
            <a:avLst/>
          </a:prstGeom>
        </p:spPr>
      </p:pic>
      <p:sp>
        <p:nvSpPr>
          <p:cNvPr id="169" name="TextBox 168"/>
          <p:cNvSpPr txBox="1"/>
          <p:nvPr/>
        </p:nvSpPr>
        <p:spPr>
          <a:xfrm>
            <a:off x="8750808" y="4599432"/>
            <a:ext cx="2468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 i="0">
                <a:solidFill>
                  <a:srgbClr val="14142B"/>
                </a:solidFill>
                <a:latin typeface="Calibri"/>
              </a:rPr>
              <a:t>Data</a:t>
            </a:r>
          </a:p>
        </p:txBody>
      </p:sp>
      <p:sp>
        <p:nvSpPr>
          <p:cNvPr id="170" name="TextBox 169"/>
          <p:cNvSpPr txBox="1"/>
          <p:nvPr/>
        </p:nvSpPr>
        <p:spPr>
          <a:xfrm>
            <a:off x="8156448" y="5120640"/>
            <a:ext cx="306324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 i="0">
                <a:solidFill>
                  <a:srgbClr val="63637E"/>
                </a:solidFill>
                <a:latin typeface="Calibri"/>
              </a:rPr>
              <a:t>Official kit: 578-entry deeplink catalog, 20 reference articles. Pre-validated plan cache (SQLite) ships in the Docker image.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04EA6"/>
              </a:buClr>
              <a:buSzPts val="4400"/>
              <a:buFont typeface="Calibri"/>
              <a:buNone/>
            </a:pPr>
            <a:r>
              <a:rPr b="1" lang="en-US">
                <a:solidFill>
                  <a:srgbClr val="704EA6"/>
                </a:solidFill>
                <a:latin typeface="Calibri"/>
                <a:ea typeface="Calibri"/>
                <a:cs typeface="Calibri"/>
                <a:sym typeface="Calibri"/>
              </a:rPr>
              <a:t>Demo &amp; Product Walkthrough</a:t>
            </a:r>
            <a:endParaRPr/>
          </a:p>
        </p:txBody>
      </p:sp>
      <p:pic>
        <p:nvPicPr>
          <p:cNvPr id="120" name="Picture 119" descr="ui_dem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48" y="1600200"/>
            <a:ext cx="6309360" cy="4416552"/>
          </a:xfrm>
          <a:prstGeom prst="rect">
            <a:avLst/>
          </a:prstGeom>
        </p:spPr>
      </p:pic>
      <p:sp>
        <p:nvSpPr>
          <p:cNvPr id="121" name="TextBox 120"/>
          <p:cNvSpPr txBox="1"/>
          <p:nvPr/>
        </p:nvSpPr>
        <p:spPr>
          <a:xfrm>
            <a:off x="841248" y="6053328"/>
            <a:ext cx="6309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50" b="0" i="1">
                <a:solidFill>
                  <a:srgbClr val="63637E"/>
                </a:solidFill>
                <a:latin typeface="Calibri"/>
              </a:rPr>
              <a:t>Live UI served by the API: phone view (left) and engine view (right)</a:t>
            </a:r>
          </a:p>
        </p:txBody>
      </p:sp>
      <p:sp>
        <p:nvSpPr>
          <p:cNvPr id="122" name="Oval 121"/>
          <p:cNvSpPr/>
          <p:nvPr/>
        </p:nvSpPr>
        <p:spPr>
          <a:xfrm>
            <a:off x="7424927" y="1627632"/>
            <a:ext cx="457200" cy="457200"/>
          </a:xfrm>
          <a:prstGeom prst="ellipse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3" name="Picture 122" descr="mic_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30083" y="1732788"/>
            <a:ext cx="246888" cy="246888"/>
          </a:xfrm>
          <a:prstGeom prst="rect">
            <a:avLst/>
          </a:prstGeom>
        </p:spPr>
      </p:pic>
      <p:sp>
        <p:nvSpPr>
          <p:cNvPr id="124" name="TextBox 123"/>
          <p:cNvSpPr txBox="1"/>
          <p:nvPr/>
        </p:nvSpPr>
        <p:spPr>
          <a:xfrm>
            <a:off x="8046720" y="1600200"/>
            <a:ext cx="33375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 i="0">
                <a:solidFill>
                  <a:srgbClr val="14142B"/>
                </a:solidFill>
                <a:latin typeface="Calibri"/>
              </a:rPr>
              <a:t>Describe the problem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8046720" y="1920240"/>
            <a:ext cx="33375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 i="0">
                <a:solidFill>
                  <a:srgbClr val="63637E"/>
                </a:solidFill>
                <a:latin typeface="Calibri"/>
              </a:rPr>
              <a:t>Type, speak, or pick one of the 20 official complaints.</a:t>
            </a:r>
          </a:p>
        </p:txBody>
      </p:sp>
      <p:sp>
        <p:nvSpPr>
          <p:cNvPr id="126" name="Oval 125"/>
          <p:cNvSpPr/>
          <p:nvPr/>
        </p:nvSpPr>
        <p:spPr>
          <a:xfrm>
            <a:off x="7424927" y="2478024"/>
            <a:ext cx="457200" cy="457200"/>
          </a:xfrm>
          <a:prstGeom prst="ellipse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7" name="Picture 126" descr="list_w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30083" y="2583180"/>
            <a:ext cx="246888" cy="246888"/>
          </a:xfrm>
          <a:prstGeom prst="rect">
            <a:avLst/>
          </a:prstGeom>
        </p:spPr>
      </p:pic>
      <p:sp>
        <p:nvSpPr>
          <p:cNvPr id="128" name="TextBox 127"/>
          <p:cNvSpPr txBox="1"/>
          <p:nvPr/>
        </p:nvSpPr>
        <p:spPr>
          <a:xfrm>
            <a:off x="8046720" y="2450592"/>
            <a:ext cx="33375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 i="0">
                <a:solidFill>
                  <a:srgbClr val="14142B"/>
                </a:solidFill>
                <a:latin typeface="Calibri"/>
              </a:rPr>
              <a:t>Get an ordered plan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8046720" y="2770632"/>
            <a:ext cx="33375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 i="0">
                <a:solidFill>
                  <a:srgbClr val="63637E"/>
                </a:solidFill>
                <a:latin typeface="Calibri"/>
              </a:rPr>
              <a:t>Settings toggles → checks → service → restart/reset last.</a:t>
            </a:r>
          </a:p>
        </p:txBody>
      </p:sp>
      <p:sp>
        <p:nvSpPr>
          <p:cNvPr id="130" name="Oval 129"/>
          <p:cNvSpPr/>
          <p:nvPr/>
        </p:nvSpPr>
        <p:spPr>
          <a:xfrm>
            <a:off x="7424927" y="3328416"/>
            <a:ext cx="457200" cy="457200"/>
          </a:xfrm>
          <a:prstGeom prst="ellipse">
            <a:avLst/>
          </a:prstGeom>
          <a:solidFill>
            <a:srgbClr val="1E9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1" name="Picture 130" descr="check_w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30083" y="3433572"/>
            <a:ext cx="246888" cy="246888"/>
          </a:xfrm>
          <a:prstGeom prst="rect">
            <a:avLst/>
          </a:prstGeom>
        </p:spPr>
      </p:pic>
      <p:sp>
        <p:nvSpPr>
          <p:cNvPr id="132" name="TextBox 131"/>
          <p:cNvSpPr txBox="1"/>
          <p:nvPr/>
        </p:nvSpPr>
        <p:spPr>
          <a:xfrm>
            <a:off x="8046720" y="3300984"/>
            <a:ext cx="33375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 i="0">
                <a:solidFill>
                  <a:srgbClr val="14142B"/>
                </a:solidFill>
                <a:latin typeface="Calibri"/>
              </a:rPr>
              <a:t>Tap → Verify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8046720" y="3621024"/>
            <a:ext cx="33375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 i="0">
                <a:solidFill>
                  <a:srgbClr val="63637E"/>
                </a:solidFill>
                <a:latin typeface="Calibri"/>
              </a:rPr>
              <a:t>Open applies the setting; the validation deeplink confirms it (“Touch sensitivity is True”).</a:t>
            </a:r>
          </a:p>
        </p:txBody>
      </p:sp>
      <p:sp>
        <p:nvSpPr>
          <p:cNvPr id="134" name="Oval 133"/>
          <p:cNvSpPr/>
          <p:nvPr/>
        </p:nvSpPr>
        <p:spPr>
          <a:xfrm>
            <a:off x="7424927" y="4178808"/>
            <a:ext cx="457200" cy="457200"/>
          </a:xfrm>
          <a:prstGeom prst="ellipse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5" name="Picture 134" descr="route_w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530083" y="4283964"/>
            <a:ext cx="246888" cy="246888"/>
          </a:xfrm>
          <a:prstGeom prst="rect">
            <a:avLst/>
          </a:prstGeom>
        </p:spPr>
      </p:pic>
      <p:sp>
        <p:nvSpPr>
          <p:cNvPr id="136" name="TextBox 135"/>
          <p:cNvSpPr txBox="1"/>
          <p:nvPr/>
        </p:nvSpPr>
        <p:spPr>
          <a:xfrm>
            <a:off x="8046720" y="4151376"/>
            <a:ext cx="33375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 i="0">
                <a:solidFill>
                  <a:srgbClr val="14142B"/>
                </a:solidFill>
                <a:latin typeface="Calibri"/>
              </a:rPr>
              <a:t>Guided mode</a:t>
            </a:r>
          </a:p>
        </p:txBody>
      </p:sp>
      <p:sp>
        <p:nvSpPr>
          <p:cNvPr id="137" name="TextBox 136"/>
          <p:cNvSpPr txBox="1"/>
          <p:nvPr/>
        </p:nvSpPr>
        <p:spPr>
          <a:xfrm>
            <a:off x="8046720" y="4471416"/>
            <a:ext cx="33375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 i="0">
                <a:solidFill>
                  <a:srgbClr val="63637E"/>
                </a:solidFill>
                <a:latin typeface="Calibri"/>
              </a:rPr>
              <a:t>One step at a time: “Fixed?” or “Next”.</a:t>
            </a:r>
          </a:p>
        </p:txBody>
      </p:sp>
      <p:sp>
        <p:nvSpPr>
          <p:cNvPr id="138" name="Oval 137"/>
          <p:cNvSpPr/>
          <p:nvPr/>
        </p:nvSpPr>
        <p:spPr>
          <a:xfrm>
            <a:off x="7424927" y="5029200"/>
            <a:ext cx="457200" cy="457200"/>
          </a:xfrm>
          <a:prstGeom prst="ellipse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9" name="Picture 138" descr="chart_w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530083" y="5134356"/>
            <a:ext cx="246888" cy="246888"/>
          </a:xfrm>
          <a:prstGeom prst="rect">
            <a:avLst/>
          </a:prstGeom>
        </p:spPr>
      </p:pic>
      <p:sp>
        <p:nvSpPr>
          <p:cNvPr id="140" name="TextBox 139"/>
          <p:cNvSpPr txBox="1"/>
          <p:nvPr/>
        </p:nvSpPr>
        <p:spPr>
          <a:xfrm>
            <a:off x="8046720" y="5001768"/>
            <a:ext cx="33375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 i="0">
                <a:solidFill>
                  <a:srgbClr val="14142B"/>
                </a:solidFill>
                <a:latin typeface="Calibri"/>
              </a:rPr>
              <a:t>Engine view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8046720" y="5321808"/>
            <a:ext cx="333756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 i="0">
                <a:solidFill>
                  <a:srgbClr val="63637E"/>
                </a:solidFill>
                <a:latin typeface="Calibri"/>
              </a:rPr>
              <a:t>Cache / LLM / rules path, latency, cost, dropped unsupported steps.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7424927" y="5897880"/>
            <a:ext cx="39319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 i="0">
                <a:solidFill>
                  <a:srgbClr val="6D28D9"/>
                </a:solidFill>
                <a:latin typeface="Calibri"/>
              </a:rPr>
              <a:t>Run: </a:t>
            </a:r>
            <a:r>
              <a:rPr sz="1100" b="0" i="0">
                <a:solidFill>
                  <a:srgbClr val="14142B"/>
                </a:solidFill>
                <a:latin typeface="Calibri"/>
              </a:rPr>
              <a:t>docker compose up → localhost:8000</a:t>
            </a:r>
          </a:p>
          <a:p>
            <a:pPr algn="l">
              <a:spcAft>
                <a:spcPts val="400"/>
              </a:spcAft>
            </a:pPr>
            <a:r>
              <a:rPr sz="1100" b="1" i="0">
                <a:solidFill>
                  <a:srgbClr val="6D28D9"/>
                </a:solidFill>
                <a:latin typeface="Calibri"/>
              </a:rPr>
              <a:t>Video: </a:t>
            </a:r>
            <a:r>
              <a:rPr sz="1100" b="0" i="0">
                <a:solidFill>
                  <a:srgbClr val="14142B"/>
                </a:solidFill>
                <a:latin typeface="Calibri"/>
              </a:rPr>
              <a:t>https://drive.google.com/drive/folders/1ATDX614AjhvJfmq3afcTFr0g-L0GjvHL?usp=drive_link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04EA6"/>
              </a:buClr>
              <a:buSzPts val="4400"/>
              <a:buFont typeface="Calibri"/>
              <a:buNone/>
            </a:pPr>
            <a:r>
              <a:rPr b="1" lang="en-US" sz="4400">
                <a:solidFill>
                  <a:srgbClr val="704EA6"/>
                </a:solidFill>
                <a:latin typeface="Calibri"/>
                <a:ea typeface="Calibri"/>
                <a:cs typeface="Calibri"/>
                <a:sym typeface="Calibri"/>
              </a:rPr>
              <a:t>Tools and tech stack used</a:t>
            </a:r>
            <a:endParaRPr b="1">
              <a:solidFill>
                <a:srgbClr val="704EA6"/>
              </a:solidFill>
            </a:endParaRPr>
          </a:p>
        </p:txBody>
      </p:sp>
      <p:sp>
        <p:nvSpPr>
          <p:cNvPr id="126" name="Rounded Rectangle 125"/>
          <p:cNvSpPr/>
          <p:nvPr/>
        </p:nvSpPr>
        <p:spPr>
          <a:xfrm>
            <a:off x="841248" y="1645920"/>
            <a:ext cx="5120640" cy="98755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2DC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7" name="Oval 126"/>
          <p:cNvSpPr/>
          <p:nvPr/>
        </p:nvSpPr>
        <p:spPr>
          <a:xfrm>
            <a:off x="1042416" y="1856232"/>
            <a:ext cx="566928" cy="566928"/>
          </a:xfrm>
          <a:prstGeom prst="ellipse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8" name="Picture 127" descr="python_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72809" y="1986625"/>
            <a:ext cx="306141" cy="306141"/>
          </a:xfrm>
          <a:prstGeom prst="rect">
            <a:avLst/>
          </a:prstGeom>
        </p:spPr>
      </p:pic>
      <p:sp>
        <p:nvSpPr>
          <p:cNvPr id="129" name="TextBox 128"/>
          <p:cNvSpPr txBox="1"/>
          <p:nvPr/>
        </p:nvSpPr>
        <p:spPr>
          <a:xfrm>
            <a:off x="1801368" y="1792224"/>
            <a:ext cx="40233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 i="0">
                <a:solidFill>
                  <a:srgbClr val="14142B"/>
                </a:solidFill>
                <a:latin typeface="Calibri"/>
              </a:rPr>
              <a:t>Python 3.12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1801368" y="2121408"/>
            <a:ext cx="40233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63637E"/>
                </a:solidFill>
                <a:latin typeface="Calibri"/>
              </a:rPr>
              <a:t>FastAPI · Uvicorn · Pydantic v2 (official schema.py, unchanged)</a:t>
            </a:r>
          </a:p>
        </p:txBody>
      </p:sp>
      <p:sp>
        <p:nvSpPr>
          <p:cNvPr id="131" name="Rounded Rectangle 130"/>
          <p:cNvSpPr/>
          <p:nvPr/>
        </p:nvSpPr>
        <p:spPr>
          <a:xfrm>
            <a:off x="6190488" y="1645920"/>
            <a:ext cx="5120640" cy="98755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2DC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2" name="Oval 131"/>
          <p:cNvSpPr/>
          <p:nvPr/>
        </p:nvSpPr>
        <p:spPr>
          <a:xfrm>
            <a:off x="6391655" y="1856232"/>
            <a:ext cx="566928" cy="566928"/>
          </a:xfrm>
          <a:prstGeom prst="ellipse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3" name="Picture 132" descr="brain_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22049" y="1986625"/>
            <a:ext cx="306141" cy="306141"/>
          </a:xfrm>
          <a:prstGeom prst="rect">
            <a:avLst/>
          </a:prstGeom>
        </p:spPr>
      </p:pic>
      <p:sp>
        <p:nvSpPr>
          <p:cNvPr id="134" name="TextBox 133"/>
          <p:cNvSpPr txBox="1"/>
          <p:nvPr/>
        </p:nvSpPr>
        <p:spPr>
          <a:xfrm>
            <a:off x="7150607" y="1792224"/>
            <a:ext cx="40233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 i="0">
                <a:solidFill>
                  <a:srgbClr val="14142B"/>
                </a:solidFill>
                <a:latin typeface="Calibri"/>
              </a:rPr>
              <a:t>Gemini API</a:t>
            </a:r>
          </a:p>
        </p:txBody>
      </p:sp>
      <p:sp>
        <p:nvSpPr>
          <p:cNvPr id="135" name="TextBox 134"/>
          <p:cNvSpPr txBox="1"/>
          <p:nvPr/>
        </p:nvSpPr>
        <p:spPr>
          <a:xfrm>
            <a:off x="7150607" y="2121408"/>
            <a:ext cx="40233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63637E"/>
                </a:solidFill>
                <a:latin typeface="Calibri"/>
              </a:rPr>
              <a:t>Flash-Lite (3.x) via REST, JSON-schema output, provider-agnostic adapter</a:t>
            </a:r>
          </a:p>
        </p:txBody>
      </p:sp>
      <p:sp>
        <p:nvSpPr>
          <p:cNvPr id="136" name="Rounded Rectangle 135"/>
          <p:cNvSpPr/>
          <p:nvPr/>
        </p:nvSpPr>
        <p:spPr>
          <a:xfrm>
            <a:off x="841248" y="2807208"/>
            <a:ext cx="5120640" cy="98755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2DC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7" name="Oval 136"/>
          <p:cNvSpPr/>
          <p:nvPr/>
        </p:nvSpPr>
        <p:spPr>
          <a:xfrm>
            <a:off x="1042416" y="3017520"/>
            <a:ext cx="566928" cy="566928"/>
          </a:xfrm>
          <a:prstGeom prst="ellipse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8" name="Picture 137" descr="search_w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72809" y="3147913"/>
            <a:ext cx="306141" cy="306141"/>
          </a:xfrm>
          <a:prstGeom prst="rect">
            <a:avLst/>
          </a:prstGeom>
        </p:spPr>
      </p:pic>
      <p:sp>
        <p:nvSpPr>
          <p:cNvPr id="139" name="TextBox 138"/>
          <p:cNvSpPr txBox="1"/>
          <p:nvPr/>
        </p:nvSpPr>
        <p:spPr>
          <a:xfrm>
            <a:off x="1801368" y="2953512"/>
            <a:ext cx="40233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 i="0">
                <a:solidFill>
                  <a:srgbClr val="14142B"/>
                </a:solidFill>
                <a:latin typeface="Calibri"/>
              </a:rPr>
              <a:t>Retrieval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1801368" y="3282696"/>
            <a:ext cx="40233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63637E"/>
                </a:solidFill>
                <a:latin typeface="Calibri"/>
              </a:rPr>
              <a:t>fastembed BAAI/bge-small-en-v1.5 (ONNX, CPU) · rank-bm25 · NumPy</a:t>
            </a:r>
          </a:p>
        </p:txBody>
      </p:sp>
      <p:sp>
        <p:nvSpPr>
          <p:cNvPr id="141" name="Rounded Rectangle 140"/>
          <p:cNvSpPr/>
          <p:nvPr/>
        </p:nvSpPr>
        <p:spPr>
          <a:xfrm>
            <a:off x="6190488" y="2807208"/>
            <a:ext cx="5120640" cy="98755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2DC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2" name="Oval 141"/>
          <p:cNvSpPr/>
          <p:nvPr/>
        </p:nvSpPr>
        <p:spPr>
          <a:xfrm>
            <a:off x="6391655" y="3017520"/>
            <a:ext cx="566928" cy="566928"/>
          </a:xfrm>
          <a:prstGeom prst="ellipse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3" name="Picture 142" descr="db_w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22049" y="3147913"/>
            <a:ext cx="306141" cy="306141"/>
          </a:xfrm>
          <a:prstGeom prst="rect">
            <a:avLst/>
          </a:prstGeom>
        </p:spPr>
      </p:pic>
      <p:sp>
        <p:nvSpPr>
          <p:cNvPr id="144" name="TextBox 143"/>
          <p:cNvSpPr txBox="1"/>
          <p:nvPr/>
        </p:nvSpPr>
        <p:spPr>
          <a:xfrm>
            <a:off x="7150607" y="2953512"/>
            <a:ext cx="40233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 i="0">
                <a:solidFill>
                  <a:srgbClr val="14142B"/>
                </a:solidFill>
                <a:latin typeface="Calibri"/>
              </a:rPr>
              <a:t>Storage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7150607" y="3282696"/>
            <a:ext cx="40233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63637E"/>
                </a:solidFill>
                <a:latin typeface="Calibri"/>
              </a:rPr>
              <a:t>SQLite plan cache with embedded keys · JSON feature graph</a:t>
            </a:r>
          </a:p>
        </p:txBody>
      </p:sp>
      <p:sp>
        <p:nvSpPr>
          <p:cNvPr id="146" name="Rounded Rectangle 145"/>
          <p:cNvSpPr/>
          <p:nvPr/>
        </p:nvSpPr>
        <p:spPr>
          <a:xfrm>
            <a:off x="841248" y="3968496"/>
            <a:ext cx="5120640" cy="98755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2DC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7" name="Oval 146"/>
          <p:cNvSpPr/>
          <p:nvPr/>
        </p:nvSpPr>
        <p:spPr>
          <a:xfrm>
            <a:off x="1042416" y="4178808"/>
            <a:ext cx="566928" cy="566928"/>
          </a:xfrm>
          <a:prstGeom prst="ellipse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8" name="Picture 147" descr="docker_w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72809" y="4309201"/>
            <a:ext cx="306141" cy="306141"/>
          </a:xfrm>
          <a:prstGeom prst="rect">
            <a:avLst/>
          </a:prstGeom>
        </p:spPr>
      </p:pic>
      <p:sp>
        <p:nvSpPr>
          <p:cNvPr id="149" name="TextBox 148"/>
          <p:cNvSpPr txBox="1"/>
          <p:nvPr/>
        </p:nvSpPr>
        <p:spPr>
          <a:xfrm>
            <a:off x="1801368" y="4114800"/>
            <a:ext cx="40233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 i="0">
                <a:solidFill>
                  <a:srgbClr val="14142B"/>
                </a:solidFill>
                <a:latin typeface="Calibri"/>
              </a:rPr>
              <a:t>Delivery</a:t>
            </a:r>
          </a:p>
        </p:txBody>
      </p:sp>
      <p:sp>
        <p:nvSpPr>
          <p:cNvPr id="150" name="TextBox 149"/>
          <p:cNvSpPr txBox="1"/>
          <p:nvPr/>
        </p:nvSpPr>
        <p:spPr>
          <a:xfrm>
            <a:off x="1801368" y="4443983"/>
            <a:ext cx="40233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63637E"/>
                </a:solidFill>
                <a:latin typeface="Calibri"/>
              </a:rPr>
              <a:t>Docker + docker-compose · model and cache baked in · /health</a:t>
            </a:r>
          </a:p>
        </p:txBody>
      </p:sp>
      <p:sp>
        <p:nvSpPr>
          <p:cNvPr id="151" name="Rounded Rectangle 150"/>
          <p:cNvSpPr/>
          <p:nvPr/>
        </p:nvSpPr>
        <p:spPr>
          <a:xfrm>
            <a:off x="6190488" y="3968496"/>
            <a:ext cx="5120640" cy="98755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2DC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2" name="Oval 151"/>
          <p:cNvSpPr/>
          <p:nvPr/>
        </p:nvSpPr>
        <p:spPr>
          <a:xfrm>
            <a:off x="6391655" y="4178808"/>
            <a:ext cx="566928" cy="566928"/>
          </a:xfrm>
          <a:prstGeom prst="ellipse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3" name="Picture 152" descr="flask_w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22049" y="4309201"/>
            <a:ext cx="306141" cy="306141"/>
          </a:xfrm>
          <a:prstGeom prst="rect">
            <a:avLst/>
          </a:prstGeom>
        </p:spPr>
      </p:pic>
      <p:sp>
        <p:nvSpPr>
          <p:cNvPr id="154" name="TextBox 153"/>
          <p:cNvSpPr txBox="1"/>
          <p:nvPr/>
        </p:nvSpPr>
        <p:spPr>
          <a:xfrm>
            <a:off x="7150607" y="4114800"/>
            <a:ext cx="40233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 i="0">
                <a:solidFill>
                  <a:srgbClr val="14142B"/>
                </a:solidFill>
                <a:latin typeface="Calibri"/>
              </a:rPr>
              <a:t>Quality</a:t>
            </a:r>
          </a:p>
        </p:txBody>
      </p:sp>
      <p:sp>
        <p:nvSpPr>
          <p:cNvPr id="155" name="TextBox 154"/>
          <p:cNvSpPr txBox="1"/>
          <p:nvPr/>
        </p:nvSpPr>
        <p:spPr>
          <a:xfrm>
            <a:off x="7150607" y="4443983"/>
            <a:ext cx="40233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63637E"/>
                </a:solidFill>
                <a:latin typeface="Calibri"/>
              </a:rPr>
              <a:t>pytest (53 hermetic tests) · eval harness · LLM judge · ablation · gold labels</a:t>
            </a:r>
          </a:p>
        </p:txBody>
      </p:sp>
      <p:sp>
        <p:nvSpPr>
          <p:cNvPr id="156" name="Rounded Rectangle 155"/>
          <p:cNvSpPr/>
          <p:nvPr/>
        </p:nvSpPr>
        <p:spPr>
          <a:xfrm>
            <a:off x="841248" y="5129784"/>
            <a:ext cx="5120640" cy="98755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2DC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7" name="Oval 156"/>
          <p:cNvSpPr/>
          <p:nvPr/>
        </p:nvSpPr>
        <p:spPr>
          <a:xfrm>
            <a:off x="1042416" y="5340096"/>
            <a:ext cx="566928" cy="566928"/>
          </a:xfrm>
          <a:prstGeom prst="ellipse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8" name="Picture 157" descr="mobile_w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172809" y="5470489"/>
            <a:ext cx="306141" cy="306141"/>
          </a:xfrm>
          <a:prstGeom prst="rect">
            <a:avLst/>
          </a:prstGeom>
        </p:spPr>
      </p:pic>
      <p:sp>
        <p:nvSpPr>
          <p:cNvPr id="159" name="TextBox 158"/>
          <p:cNvSpPr txBox="1"/>
          <p:nvPr/>
        </p:nvSpPr>
        <p:spPr>
          <a:xfrm>
            <a:off x="1801368" y="5276088"/>
            <a:ext cx="40233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 i="0">
                <a:solidFill>
                  <a:srgbClr val="14142B"/>
                </a:solidFill>
                <a:latin typeface="Calibri"/>
              </a:rPr>
              <a:t>Demo UI</a:t>
            </a:r>
          </a:p>
        </p:txBody>
      </p:sp>
      <p:sp>
        <p:nvSpPr>
          <p:cNvPr id="160" name="TextBox 159"/>
          <p:cNvSpPr txBox="1"/>
          <p:nvPr/>
        </p:nvSpPr>
        <p:spPr>
          <a:xfrm>
            <a:off x="1801368" y="5605272"/>
            <a:ext cx="40233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63637E"/>
                </a:solidFill>
                <a:latin typeface="Calibri"/>
              </a:rPr>
              <a:t>Static HTML/JS served at / · Web Speech API for voice input</a:t>
            </a:r>
          </a:p>
        </p:txBody>
      </p:sp>
      <p:sp>
        <p:nvSpPr>
          <p:cNvPr id="161" name="Rounded Rectangle 160"/>
          <p:cNvSpPr/>
          <p:nvPr/>
        </p:nvSpPr>
        <p:spPr>
          <a:xfrm>
            <a:off x="6190488" y="5129784"/>
            <a:ext cx="5120640" cy="98755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E2DC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2" name="Oval 161"/>
          <p:cNvSpPr/>
          <p:nvPr/>
        </p:nvSpPr>
        <p:spPr>
          <a:xfrm>
            <a:off x="6391655" y="5340096"/>
            <a:ext cx="566928" cy="566928"/>
          </a:xfrm>
          <a:prstGeom prst="ellipse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3" name="Picture 162" descr="rocket_w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522049" y="5470489"/>
            <a:ext cx="306141" cy="306141"/>
          </a:xfrm>
          <a:prstGeom prst="rect">
            <a:avLst/>
          </a:prstGeom>
        </p:spPr>
      </p:pic>
      <p:sp>
        <p:nvSpPr>
          <p:cNvPr id="164" name="TextBox 163"/>
          <p:cNvSpPr txBox="1"/>
          <p:nvPr/>
        </p:nvSpPr>
        <p:spPr>
          <a:xfrm>
            <a:off x="7150607" y="5276088"/>
            <a:ext cx="40233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 i="0">
                <a:solidFill>
                  <a:srgbClr val="14142B"/>
                </a:solidFill>
                <a:latin typeface="Calibri"/>
              </a:rPr>
              <a:t>Built with</a:t>
            </a:r>
          </a:p>
        </p:txBody>
      </p:sp>
      <p:sp>
        <p:nvSpPr>
          <p:cNvPr id="165" name="TextBox 164"/>
          <p:cNvSpPr txBox="1"/>
          <p:nvPr/>
        </p:nvSpPr>
        <p:spPr>
          <a:xfrm>
            <a:off x="7150607" y="5605272"/>
            <a:ext cx="40233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63637E"/>
                </a:solidFill>
                <a:latin typeface="Calibri"/>
              </a:rPr>
              <a:t>An AI coding assistant, disclosed in the AI usage form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04EA6"/>
              </a:buClr>
              <a:buSzPts val="4400"/>
              <a:buFont typeface="Calibri"/>
              <a:buNone/>
            </a:pPr>
            <a:r>
              <a:rPr b="1" lang="en-US" sz="4400">
                <a:solidFill>
                  <a:srgbClr val="704EA6"/>
                </a:solidFill>
                <a:latin typeface="Calibri"/>
                <a:ea typeface="Calibri"/>
                <a:cs typeface="Calibri"/>
                <a:sym typeface="Calibri"/>
              </a:rPr>
              <a:t>Impact &amp; Use case</a:t>
            </a:r>
            <a:endParaRPr b="1">
              <a:solidFill>
                <a:srgbClr val="704EA6"/>
              </a:solidFill>
            </a:endParaRPr>
          </a:p>
        </p:txBody>
      </p:sp>
      <p:sp>
        <p:nvSpPr>
          <p:cNvPr id="132" name="Rounded Rectangle 131"/>
          <p:cNvSpPr/>
          <p:nvPr/>
        </p:nvSpPr>
        <p:spPr>
          <a:xfrm>
            <a:off x="841248" y="1645920"/>
            <a:ext cx="3383280" cy="2331720"/>
          </a:xfrm>
          <a:prstGeom prst="roundRect">
            <a:avLst>
              <a:gd name="adj" fmla="val 8000"/>
            </a:avLst>
          </a:prstGeom>
          <a:solidFill>
            <a:srgbClr val="F1EC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3" name="Oval 132"/>
          <p:cNvSpPr/>
          <p:nvPr/>
        </p:nvSpPr>
        <p:spPr>
          <a:xfrm>
            <a:off x="1069848" y="1828800"/>
            <a:ext cx="603504" cy="603504"/>
          </a:xfrm>
          <a:prstGeom prst="ellipse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4" name="Picture 133" descr="mobile_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8653" y="1967605"/>
            <a:ext cx="325892" cy="325892"/>
          </a:xfrm>
          <a:prstGeom prst="rect">
            <a:avLst/>
          </a:prstGeom>
        </p:spPr>
      </p:pic>
      <p:sp>
        <p:nvSpPr>
          <p:cNvPr id="135" name="TextBox 134"/>
          <p:cNvSpPr txBox="1"/>
          <p:nvPr/>
        </p:nvSpPr>
        <p:spPr>
          <a:xfrm>
            <a:off x="1069848" y="2560320"/>
            <a:ext cx="2971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14142B"/>
                </a:solidFill>
                <a:latin typeface="Calibri"/>
              </a:rPr>
              <a:t>Customer self-service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1069848" y="2944368"/>
            <a:ext cx="297180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 i="0">
                <a:solidFill>
                  <a:srgbClr val="63637E"/>
                </a:solidFill>
                <a:latin typeface="Calibri"/>
              </a:rPr>
              <a:t>Inside a voice assistant or support app: the user says the problem and gets one-tap fixes with verification.</a:t>
            </a:r>
          </a:p>
        </p:txBody>
      </p:sp>
      <p:sp>
        <p:nvSpPr>
          <p:cNvPr id="137" name="Rounded Rectangle 136"/>
          <p:cNvSpPr/>
          <p:nvPr/>
        </p:nvSpPr>
        <p:spPr>
          <a:xfrm>
            <a:off x="4407408" y="1645920"/>
            <a:ext cx="3383280" cy="2331720"/>
          </a:xfrm>
          <a:prstGeom prst="roundRect">
            <a:avLst>
              <a:gd name="adj" fmla="val 8000"/>
            </a:avLst>
          </a:prstGeom>
          <a:solidFill>
            <a:srgbClr val="F1EC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8" name="Oval 137"/>
          <p:cNvSpPr/>
          <p:nvPr/>
        </p:nvSpPr>
        <p:spPr>
          <a:xfrm>
            <a:off x="4636008" y="1828800"/>
            <a:ext cx="603504" cy="603504"/>
          </a:xfrm>
          <a:prstGeom prst="ellipse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9" name="Picture 138" descr="headset_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74813" y="1967605"/>
            <a:ext cx="325892" cy="325892"/>
          </a:xfrm>
          <a:prstGeom prst="rect">
            <a:avLst/>
          </a:prstGeom>
        </p:spPr>
      </p:pic>
      <p:sp>
        <p:nvSpPr>
          <p:cNvPr id="140" name="TextBox 139"/>
          <p:cNvSpPr txBox="1"/>
          <p:nvPr/>
        </p:nvSpPr>
        <p:spPr>
          <a:xfrm>
            <a:off x="4636008" y="2560320"/>
            <a:ext cx="2971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14142B"/>
                </a:solidFill>
                <a:latin typeface="Calibri"/>
              </a:rPr>
              <a:t>Support-agent assist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4636008" y="2944368"/>
            <a:ext cx="297180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 i="0">
                <a:solidFill>
                  <a:srgbClr val="63637E"/>
                </a:solidFill>
                <a:latin typeface="Calibri"/>
              </a:rPr>
              <a:t>The agent pastes the complaint; FixFlow returns an ordered, cited plan in milliseconds instead of ≈15 minutes.</a:t>
            </a:r>
          </a:p>
        </p:txBody>
      </p:sp>
      <p:sp>
        <p:nvSpPr>
          <p:cNvPr id="142" name="Rounded Rectangle 141"/>
          <p:cNvSpPr/>
          <p:nvPr/>
        </p:nvSpPr>
        <p:spPr>
          <a:xfrm>
            <a:off x="7973568" y="1645920"/>
            <a:ext cx="3383280" cy="2331720"/>
          </a:xfrm>
          <a:prstGeom prst="roundRect">
            <a:avLst>
              <a:gd name="adj" fmla="val 8000"/>
            </a:avLst>
          </a:prstGeom>
          <a:solidFill>
            <a:srgbClr val="F1EC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3" name="Oval 142"/>
          <p:cNvSpPr/>
          <p:nvPr/>
        </p:nvSpPr>
        <p:spPr>
          <a:xfrm>
            <a:off x="8202168" y="1828800"/>
            <a:ext cx="603504" cy="603504"/>
          </a:xfrm>
          <a:prstGeom prst="ellipse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4" name="Picture 143" descr="layer_w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40973" y="1967605"/>
            <a:ext cx="325892" cy="325892"/>
          </a:xfrm>
          <a:prstGeom prst="rect">
            <a:avLst/>
          </a:prstGeom>
        </p:spPr>
      </p:pic>
      <p:sp>
        <p:nvSpPr>
          <p:cNvPr id="145" name="TextBox 144"/>
          <p:cNvSpPr txBox="1"/>
          <p:nvPr/>
        </p:nvSpPr>
        <p:spPr>
          <a:xfrm>
            <a:off x="8202168" y="2560320"/>
            <a:ext cx="2971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14142B"/>
                </a:solidFill>
                <a:latin typeface="Calibri"/>
              </a:rPr>
              <a:t>Knowledge base at scale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8202168" y="2944368"/>
            <a:ext cx="297180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 i="0">
                <a:solidFill>
                  <a:srgbClr val="63637E"/>
                </a:solidFill>
                <a:latin typeface="Calibri"/>
              </a:rPr>
              <a:t>Compile every knowledge article once into validated plans; serve millions of repeats from the cache at $0.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841248" y="4343400"/>
            <a:ext cx="25146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6D28D9"/>
                </a:solidFill>
                <a:latin typeface="Calibri"/>
              </a:rPr>
              <a:t>≈15 min → ms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841248" y="4983480"/>
            <a:ext cx="2514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 i="0">
                <a:solidFill>
                  <a:srgbClr val="63637E"/>
                </a:solidFill>
                <a:latin typeface="Calibri"/>
              </a:rPr>
              <a:t>manual triage vs cached plan</a:t>
            </a:r>
          </a:p>
        </p:txBody>
      </p:sp>
      <p:sp>
        <p:nvSpPr>
          <p:cNvPr id="149" name="TextBox 148"/>
          <p:cNvSpPr txBox="1"/>
          <p:nvPr/>
        </p:nvSpPr>
        <p:spPr>
          <a:xfrm>
            <a:off x="3520440" y="4343400"/>
            <a:ext cx="25146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6D28D9"/>
                </a:solidFill>
                <a:latin typeface="Calibri"/>
              </a:rPr>
              <a:t>100%</a:t>
            </a:r>
          </a:p>
        </p:txBody>
      </p:sp>
      <p:sp>
        <p:nvSpPr>
          <p:cNvPr id="150" name="TextBox 149"/>
          <p:cNvSpPr txBox="1"/>
          <p:nvPr/>
        </p:nvSpPr>
        <p:spPr>
          <a:xfrm>
            <a:off x="3520440" y="4983480"/>
            <a:ext cx="2514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 i="0">
                <a:solidFill>
                  <a:srgbClr val="63637E"/>
                </a:solidFill>
                <a:latin typeface="Calibri"/>
              </a:rPr>
              <a:t>catalog-valid deeplinks (no wrong screen)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6199632" y="4343400"/>
            <a:ext cx="25146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1E9E5A"/>
                </a:solidFill>
                <a:latin typeface="Calibri"/>
              </a:rPr>
              <a:t>$0</a:t>
            </a:r>
          </a:p>
        </p:txBody>
      </p:sp>
      <p:sp>
        <p:nvSpPr>
          <p:cNvPr id="152" name="TextBox 151"/>
          <p:cNvSpPr txBox="1"/>
          <p:nvPr/>
        </p:nvSpPr>
        <p:spPr>
          <a:xfrm>
            <a:off x="6199632" y="4983480"/>
            <a:ext cx="2514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 i="0">
                <a:solidFill>
                  <a:srgbClr val="63637E"/>
                </a:solidFill>
                <a:latin typeface="Calibri"/>
              </a:rPr>
              <a:t>per repeat / paraphrase (cache)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8878824" y="4343400"/>
            <a:ext cx="25146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6D28D9"/>
                </a:solidFill>
                <a:latin typeface="Calibri"/>
              </a:rPr>
              <a:t>0</a:t>
            </a:r>
          </a:p>
        </p:txBody>
      </p:sp>
      <p:sp>
        <p:nvSpPr>
          <p:cNvPr id="154" name="TextBox 153"/>
          <p:cNvSpPr txBox="1"/>
          <p:nvPr/>
        </p:nvSpPr>
        <p:spPr>
          <a:xfrm>
            <a:off x="8878824" y="4983480"/>
            <a:ext cx="2514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 i="0">
                <a:solidFill>
                  <a:srgbClr val="63637E"/>
                </a:solidFill>
                <a:latin typeface="Calibri"/>
              </a:rPr>
              <a:t>invented web links (scrubbed + verified)</a:t>
            </a:r>
          </a:p>
        </p:txBody>
      </p:sp>
      <p:sp>
        <p:nvSpPr>
          <p:cNvPr id="155" name="TextBox 154"/>
          <p:cNvSpPr txBox="1"/>
          <p:nvPr/>
        </p:nvSpPr>
        <p:spPr>
          <a:xfrm>
            <a:off x="841248" y="5715000"/>
            <a:ext cx="10515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1">
                <a:solidFill>
                  <a:srgbClr val="14142B"/>
                </a:solidFill>
                <a:latin typeface="Calibri"/>
              </a:rPr>
              <a:t>Who benefits: customers (faster fixes, fewer service visits), support teams (less handling time, consistent answers), the product team (one reusable mapping for 10k+ scenarios).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04EA6"/>
              </a:buClr>
              <a:buSzPts val="4400"/>
              <a:buFont typeface="Calibri"/>
              <a:buNone/>
            </a:pPr>
            <a:r>
              <a:rPr b="1" lang="en-US" sz="4400">
                <a:solidFill>
                  <a:srgbClr val="704EA6"/>
                </a:solidFill>
                <a:latin typeface="Calibri"/>
                <a:ea typeface="Calibri"/>
                <a:cs typeface="Calibri"/>
                <a:sym typeface="Calibri"/>
              </a:rPr>
              <a:t>Innovation highlights, results and limitations</a:t>
            </a:r>
            <a:endParaRPr b="1" sz="4400">
              <a:solidFill>
                <a:srgbClr val="704EA6"/>
              </a:solidFill>
            </a:endParaRPr>
          </a:p>
        </p:txBody>
      </p:sp>
      <p:sp>
        <p:nvSpPr>
          <p:cNvPr id="138" name="Rounded Rectangle 137"/>
          <p:cNvSpPr/>
          <p:nvPr/>
        </p:nvSpPr>
        <p:spPr>
          <a:xfrm>
            <a:off x="841248" y="2011680"/>
            <a:ext cx="3383280" cy="4297680"/>
          </a:xfrm>
          <a:prstGeom prst="roundRect">
            <a:avLst>
              <a:gd name="adj" fmla="val 8000"/>
            </a:avLst>
          </a:prstGeom>
          <a:solidFill>
            <a:srgbClr val="F1EC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9" name="TextBox 138"/>
          <p:cNvSpPr txBox="1"/>
          <p:nvPr/>
        </p:nvSpPr>
        <p:spPr>
          <a:xfrm>
            <a:off x="1069848" y="2157984"/>
            <a:ext cx="2926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 i="0">
                <a:solidFill>
                  <a:srgbClr val="6D28D9"/>
                </a:solidFill>
                <a:latin typeface="Calibri"/>
              </a:rPr>
              <a:t>Innovation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1069848" y="2633472"/>
            <a:ext cx="2971800" cy="3611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182880" indent="-182880">
              <a:spcAft>
                <a:spcPts val="800"/>
              </a:spcAft>
              <a:buChar char="•"/>
            </a:pPr>
            <a:r>
              <a:rPr sz="1250" b="0" i="0">
                <a:solidFill>
                  <a:srgbClr val="14142B"/>
                </a:solidFill>
                <a:latin typeface="Calibri"/>
              </a:rPr>
              <a:t>Citation-verified extraction: code rejects steps not in the article</a:t>
            </a:r>
          </a:p>
          <a:p>
            <a:pPr algn="l" marL="182880" indent="-182880">
              <a:spcAft>
                <a:spcPts val="800"/>
              </a:spcAft>
              <a:buChar char="•"/>
            </a:pPr>
            <a:r>
              <a:rPr sz="1250" b="0" i="0">
                <a:solidFill>
                  <a:srgbClr val="14142B"/>
                </a:solidFill>
                <a:latin typeface="Calibri"/>
              </a:rPr>
              <a:t>Action- and depth-aware deeplinks (exact screen, right operation)</a:t>
            </a:r>
          </a:p>
          <a:p>
            <a:pPr algn="l" marL="182880" indent="-182880">
              <a:spcAft>
                <a:spcPts val="800"/>
              </a:spcAft>
              <a:buChar char="•"/>
            </a:pPr>
            <a:r>
              <a:rPr sz="1250" b="0" i="0">
                <a:solidFill>
                  <a:srgbClr val="14142B"/>
                </a:solidFill>
                <a:latin typeface="Calibri"/>
              </a:rPr>
              <a:t>Closed-loop Tap → Verify with validation deeplinks</a:t>
            </a:r>
          </a:p>
          <a:p>
            <a:pPr algn="l" marL="182880" indent="-182880">
              <a:spcAft>
                <a:spcPts val="800"/>
              </a:spcAft>
              <a:buChar char="•"/>
            </a:pPr>
            <a:r>
              <a:rPr sz="1250" b="0" i="0">
                <a:solidFill>
                  <a:srgbClr val="14142B"/>
                </a:solidFill>
                <a:latin typeface="Calibri"/>
              </a:rPr>
              <a:t>Trust-tiered, symptom-guarded two-level cache</a:t>
            </a:r>
          </a:p>
          <a:p>
            <a:pPr algn="l" marL="182880" indent="-182880">
              <a:spcAft>
                <a:spcPts val="800"/>
              </a:spcAft>
              <a:buChar char="•"/>
            </a:pPr>
            <a:r>
              <a:rPr sz="1250" b="0" i="0">
                <a:solidFill>
                  <a:srgbClr val="14142B"/>
                </a:solidFill>
                <a:latin typeface="Calibri"/>
              </a:rPr>
              <a:t>Outage-proof: model fallback chain + offline rules</a:t>
            </a:r>
          </a:p>
        </p:txBody>
      </p:sp>
      <p:sp>
        <p:nvSpPr>
          <p:cNvPr id="141" name="Rounded Rectangle 140"/>
          <p:cNvSpPr/>
          <p:nvPr/>
        </p:nvSpPr>
        <p:spPr>
          <a:xfrm>
            <a:off x="4407408" y="2011680"/>
            <a:ext cx="3383280" cy="4297680"/>
          </a:xfrm>
          <a:prstGeom prst="roundRect">
            <a:avLst>
              <a:gd name="adj" fmla="val 8000"/>
            </a:avLst>
          </a:prstGeom>
          <a:solidFill>
            <a:srgbClr val="E3F4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2" name="TextBox 141"/>
          <p:cNvSpPr txBox="1"/>
          <p:nvPr/>
        </p:nvSpPr>
        <p:spPr>
          <a:xfrm>
            <a:off x="4636008" y="2157984"/>
            <a:ext cx="2926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 i="0">
                <a:solidFill>
                  <a:srgbClr val="1E9E5A"/>
                </a:solidFill>
                <a:latin typeface="Calibri"/>
              </a:rPr>
              <a:t>Results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4636008" y="2633472"/>
            <a:ext cx="2971800" cy="3611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182880" indent="-182880">
              <a:spcAft>
                <a:spcPts val="800"/>
              </a:spcAft>
              <a:buChar char="•"/>
            </a:pPr>
            <a:r>
              <a:rPr sz="1250" b="0" i="0">
                <a:solidFill>
                  <a:srgbClr val="14142B"/>
                </a:solidFill>
                <a:latin typeface="Calibri"/>
              </a:rPr>
              <a:t>Gates 100%: schema, rules, 0 URL leaks, catalog-valid links (official + 2 held-out sets)</a:t>
            </a:r>
          </a:p>
          <a:p>
            <a:pPr algn="l" marL="182880" indent="-182880">
              <a:spcAft>
                <a:spcPts val="800"/>
              </a:spcAft>
              <a:buChar char="•"/>
            </a:pPr>
            <a:r>
              <a:rPr sz="1250" b="0" i="0">
                <a:solidFill>
                  <a:srgbClr val="14142B"/>
                </a:solidFill>
                <a:latin typeface="Calibri"/>
              </a:rPr>
              <a:t>Step accuracy 2.60 official / 2.73 final held-out (of 3); LLM judge 1.94 / 2.06</a:t>
            </a:r>
          </a:p>
          <a:p>
            <a:pPr algn="l" marL="182880" indent="-182880">
              <a:spcAft>
                <a:spcPts val="800"/>
              </a:spcAft>
              <a:buChar char="•"/>
            </a:pPr>
            <a:r>
              <a:rPr sz="1250" b="0" i="0">
                <a:solidFill>
                  <a:srgbClr val="14142B"/>
                </a:solidFill>
                <a:latin typeface="Calibri"/>
              </a:rPr>
              <a:t>Deeplink relevance 2.00 / 1.82 of 2; abstention 95% / 90%</a:t>
            </a:r>
          </a:p>
          <a:p>
            <a:pPr algn="l" marL="182880" indent="-182880">
              <a:spcAft>
                <a:spcPts val="800"/>
              </a:spcAft>
              <a:buChar char="•"/>
            </a:pPr>
            <a:r>
              <a:rPr sz="1250" b="0" i="0">
                <a:solidFill>
                  <a:srgbClr val="14142B"/>
                </a:solidFill>
                <a:latin typeface="Calibri"/>
              </a:rPr>
              <a:t>Unseen paraphrases: 87.5% same plan, 0 false hits, P95 82 ms</a:t>
            </a:r>
          </a:p>
          <a:p>
            <a:pPr algn="l" marL="182880" indent="-182880">
              <a:spcAft>
                <a:spcPts val="800"/>
              </a:spcAft>
              <a:buChar char="•"/>
            </a:pPr>
            <a:r>
              <a:rPr sz="1250" b="0" i="0">
                <a:solidFill>
                  <a:srgbClr val="14142B"/>
                </a:solidFill>
                <a:latin typeface="Calibri"/>
              </a:rPr>
              <a:t>Ablation: hybrid 1.88 rel / 100% precision vs full-LLM 1.76 / 75%, rules 1.29 / 58%</a:t>
            </a:r>
          </a:p>
        </p:txBody>
      </p:sp>
      <p:sp>
        <p:nvSpPr>
          <p:cNvPr id="144" name="Rounded Rectangle 143"/>
          <p:cNvSpPr/>
          <p:nvPr/>
        </p:nvSpPr>
        <p:spPr>
          <a:xfrm>
            <a:off x="7973568" y="2011680"/>
            <a:ext cx="3383280" cy="4297680"/>
          </a:xfrm>
          <a:prstGeom prst="roundRect">
            <a:avLst>
              <a:gd name="adj" fmla="val 8000"/>
            </a:avLst>
          </a:prstGeom>
          <a:solidFill>
            <a:srgbClr val="FBE9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5" name="TextBox 144"/>
          <p:cNvSpPr txBox="1"/>
          <p:nvPr/>
        </p:nvSpPr>
        <p:spPr>
          <a:xfrm>
            <a:off x="8202168" y="2157984"/>
            <a:ext cx="2926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 i="0">
                <a:solidFill>
                  <a:srgbClr val="B3261E"/>
                </a:solidFill>
                <a:latin typeface="Calibri"/>
              </a:rPr>
              <a:t>Limitations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8202168" y="2633472"/>
            <a:ext cx="2971800" cy="3611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182880" indent="-182880">
              <a:spcAft>
                <a:spcPts val="800"/>
              </a:spcAft>
              <a:buChar char="•"/>
            </a:pPr>
            <a:r>
              <a:rPr sz="1250" b="0" i="0">
                <a:solidFill>
                  <a:srgbClr val="14142B"/>
                </a:solidFill>
                <a:latin typeface="Calibri"/>
              </a:rPr>
              <a:t>Final never-tuned paraphrase set: 75% hit (target 80%)</a:t>
            </a:r>
          </a:p>
          <a:p>
            <a:pPr algn="l" marL="182880" indent="-182880">
              <a:spcAft>
                <a:spcPts val="800"/>
              </a:spcAft>
              <a:buChar char="•"/>
            </a:pPr>
            <a:r>
              <a:rPr sz="1250" b="0" i="0">
                <a:solidFill>
                  <a:srgbClr val="14142B"/>
                </a:solidFill>
                <a:latin typeface="Calibri"/>
              </a:rPr>
              <a:t>LLM sometimes drops an article section; compiles vary run to run</a:t>
            </a:r>
          </a:p>
          <a:p>
            <a:pPr algn="l" marL="182880" indent="-182880">
              <a:spcAft>
                <a:spcPts val="800"/>
              </a:spcAft>
              <a:buChar char="•"/>
            </a:pPr>
            <a:r>
              <a:rPr sz="1250" b="0" i="0">
                <a:solidFill>
                  <a:srgbClr val="14142B"/>
                </a:solidFill>
                <a:latin typeface="Calibri"/>
              </a:rPr>
              <a:t>The LLM judge is noisy; gold labels by one annotator</a:t>
            </a:r>
          </a:p>
          <a:p>
            <a:pPr algn="l" marL="182880" indent="-182880">
              <a:spcAft>
                <a:spcPts val="800"/>
              </a:spcAft>
              <a:buChar char="•"/>
            </a:pPr>
            <a:r>
              <a:rPr sz="1250" b="0" i="0">
                <a:solidFill>
                  <a:srgbClr val="14142B"/>
                </a:solidFill>
                <a:latin typeface="Calibri"/>
              </a:rPr>
              <a:t>Offline relevance is coarse (one official line abstains)</a:t>
            </a:r>
          </a:p>
          <a:p>
            <a:pPr algn="l" marL="182880" indent="-182880">
              <a:spcAft>
                <a:spcPts val="800"/>
              </a:spcAft>
              <a:buChar char="•"/>
            </a:pPr>
            <a:r>
              <a:rPr sz="1250" b="0" i="0">
                <a:solidFill>
                  <a:srgbClr val="14142B"/>
                </a:solidFill>
                <a:latin typeface="Calibri"/>
              </a:rPr>
              <a:t>Contract puts service escalation before restarts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04EA6"/>
              </a:buClr>
              <a:buSzPts val="4400"/>
              <a:buFont typeface="Calibri"/>
              <a:buNone/>
            </a:pPr>
            <a:r>
              <a:rPr b="1" lang="en-US" sz="4400">
                <a:solidFill>
                  <a:srgbClr val="704EA6"/>
                </a:solidFill>
                <a:latin typeface="Calibri"/>
                <a:ea typeface="Calibri"/>
                <a:cs typeface="Calibri"/>
                <a:sym typeface="Calibri"/>
              </a:rPr>
              <a:t>What’s next</a:t>
            </a:r>
            <a:endParaRPr b="1" sz="4400">
              <a:solidFill>
                <a:srgbClr val="704EA6"/>
              </a:solidFill>
            </a:endParaRPr>
          </a:p>
        </p:txBody>
      </p:sp>
      <p:sp>
        <p:nvSpPr>
          <p:cNvPr id="144" name="Rounded Rectangle 143"/>
          <p:cNvSpPr/>
          <p:nvPr/>
        </p:nvSpPr>
        <p:spPr>
          <a:xfrm>
            <a:off x="841248" y="1828800"/>
            <a:ext cx="2468880" cy="3291840"/>
          </a:xfrm>
          <a:prstGeom prst="roundRect">
            <a:avLst>
              <a:gd name="adj" fmla="val 8000"/>
            </a:avLst>
          </a:prstGeom>
          <a:solidFill>
            <a:srgbClr val="F1EC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5" name="TextBox 144"/>
          <p:cNvSpPr txBox="1"/>
          <p:nvPr/>
        </p:nvSpPr>
        <p:spPr>
          <a:xfrm>
            <a:off x="1024128" y="1938528"/>
            <a:ext cx="914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 i="0">
                <a:solidFill>
                  <a:srgbClr val="63637E"/>
                </a:solidFill>
                <a:latin typeface="Calibri"/>
              </a:rPr>
              <a:t>Step 1</a:t>
            </a:r>
          </a:p>
        </p:txBody>
      </p:sp>
      <p:sp>
        <p:nvSpPr>
          <p:cNvPr id="146" name="Oval 145"/>
          <p:cNvSpPr/>
          <p:nvPr/>
        </p:nvSpPr>
        <p:spPr>
          <a:xfrm>
            <a:off x="1755648" y="2286000"/>
            <a:ext cx="640080" cy="640080"/>
          </a:xfrm>
          <a:prstGeom prst="ellipse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7" name="Picture 146" descr="layer_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02866" y="2433218"/>
            <a:ext cx="345643" cy="345643"/>
          </a:xfrm>
          <a:prstGeom prst="rect">
            <a:avLst/>
          </a:prstGeom>
        </p:spPr>
      </p:pic>
      <p:sp>
        <p:nvSpPr>
          <p:cNvPr id="148" name="TextBox 147"/>
          <p:cNvSpPr txBox="1"/>
          <p:nvPr/>
        </p:nvSpPr>
        <p:spPr>
          <a:xfrm>
            <a:off x="1024128" y="3108960"/>
            <a:ext cx="21031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 i="0">
                <a:solidFill>
                  <a:srgbClr val="14142B"/>
                </a:solidFill>
                <a:latin typeface="Calibri"/>
              </a:rPr>
              <a:t>Compile the full base</a:t>
            </a:r>
          </a:p>
        </p:txBody>
      </p:sp>
      <p:sp>
        <p:nvSpPr>
          <p:cNvPr id="149" name="TextBox 148"/>
          <p:cNvSpPr txBox="1"/>
          <p:nvPr/>
        </p:nvSpPr>
        <p:spPr>
          <a:xfrm>
            <a:off x="1024128" y="3566160"/>
            <a:ext cx="210312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 i="0">
                <a:solidFill>
                  <a:srgbClr val="63637E"/>
                </a:solidFill>
                <a:latin typeface="Calibri"/>
              </a:rPr>
              <a:t>Run the batch compiler over all 10k+ articles into the pre-validated cache, with a human review tier.</a:t>
            </a:r>
          </a:p>
        </p:txBody>
      </p:sp>
      <p:sp>
        <p:nvSpPr>
          <p:cNvPr id="150" name="Isosceles Triangle 149"/>
          <p:cNvSpPr/>
          <p:nvPr/>
        </p:nvSpPr>
        <p:spPr>
          <a:xfrm rot="5400000">
            <a:off x="3328416" y="3291840"/>
            <a:ext cx="164592" cy="201168"/>
          </a:xfrm>
          <a:prstGeom prst="triangle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Rounded Rectangle 150"/>
          <p:cNvSpPr/>
          <p:nvPr/>
        </p:nvSpPr>
        <p:spPr>
          <a:xfrm>
            <a:off x="3520440" y="1828800"/>
            <a:ext cx="2468880" cy="3291840"/>
          </a:xfrm>
          <a:prstGeom prst="roundRect">
            <a:avLst>
              <a:gd name="adj" fmla="val 8000"/>
            </a:avLst>
          </a:prstGeom>
          <a:solidFill>
            <a:srgbClr val="F1EC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2" name="TextBox 151"/>
          <p:cNvSpPr txBox="1"/>
          <p:nvPr/>
        </p:nvSpPr>
        <p:spPr>
          <a:xfrm>
            <a:off x="3703320" y="1938528"/>
            <a:ext cx="914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 i="0">
                <a:solidFill>
                  <a:srgbClr val="63637E"/>
                </a:solidFill>
                <a:latin typeface="Calibri"/>
              </a:rPr>
              <a:t>Step 2</a:t>
            </a:r>
          </a:p>
        </p:txBody>
      </p:sp>
      <p:sp>
        <p:nvSpPr>
          <p:cNvPr id="153" name="Oval 152"/>
          <p:cNvSpPr/>
          <p:nvPr/>
        </p:nvSpPr>
        <p:spPr>
          <a:xfrm>
            <a:off x="4434840" y="2286000"/>
            <a:ext cx="640080" cy="640080"/>
          </a:xfrm>
          <a:prstGeom prst="ellipse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4" name="Picture 153" descr="chart_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82058" y="2433218"/>
            <a:ext cx="345643" cy="345643"/>
          </a:xfrm>
          <a:prstGeom prst="rect">
            <a:avLst/>
          </a:prstGeom>
        </p:spPr>
      </p:pic>
      <p:sp>
        <p:nvSpPr>
          <p:cNvPr id="155" name="TextBox 154"/>
          <p:cNvSpPr txBox="1"/>
          <p:nvPr/>
        </p:nvSpPr>
        <p:spPr>
          <a:xfrm>
            <a:off x="3703320" y="3108960"/>
            <a:ext cx="21031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 i="0">
                <a:solidFill>
                  <a:srgbClr val="14142B"/>
                </a:solidFill>
                <a:latin typeface="Calibri"/>
              </a:rPr>
              <a:t>Learn the best order</a:t>
            </a:r>
          </a:p>
        </p:txBody>
      </p:sp>
      <p:sp>
        <p:nvSpPr>
          <p:cNvPr id="156" name="TextBox 155"/>
          <p:cNvSpPr txBox="1"/>
          <p:nvPr/>
        </p:nvSpPr>
        <p:spPr>
          <a:xfrm>
            <a:off x="3703320" y="3566160"/>
            <a:ext cx="210312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 i="0">
                <a:solidFill>
                  <a:srgbClr val="63637E"/>
                </a:solidFill>
                <a:latin typeface="Calibri"/>
              </a:rPr>
              <a:t>Telemetry-driven ordering: which step fixes each symptom most often.</a:t>
            </a:r>
          </a:p>
        </p:txBody>
      </p:sp>
      <p:sp>
        <p:nvSpPr>
          <p:cNvPr id="157" name="Isosceles Triangle 156"/>
          <p:cNvSpPr/>
          <p:nvPr/>
        </p:nvSpPr>
        <p:spPr>
          <a:xfrm rot="5400000">
            <a:off x="6007608" y="3291840"/>
            <a:ext cx="164592" cy="201168"/>
          </a:xfrm>
          <a:prstGeom prst="triangle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Rounded Rectangle 157"/>
          <p:cNvSpPr/>
          <p:nvPr/>
        </p:nvSpPr>
        <p:spPr>
          <a:xfrm>
            <a:off x="6199632" y="1828800"/>
            <a:ext cx="2468880" cy="3291840"/>
          </a:xfrm>
          <a:prstGeom prst="roundRect">
            <a:avLst>
              <a:gd name="adj" fmla="val 8000"/>
            </a:avLst>
          </a:prstGeom>
          <a:solidFill>
            <a:srgbClr val="F1EC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9" name="TextBox 158"/>
          <p:cNvSpPr txBox="1"/>
          <p:nvPr/>
        </p:nvSpPr>
        <p:spPr>
          <a:xfrm>
            <a:off x="6382512" y="1938528"/>
            <a:ext cx="914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 i="0">
                <a:solidFill>
                  <a:srgbClr val="63637E"/>
                </a:solidFill>
                <a:latin typeface="Calibri"/>
              </a:rPr>
              <a:t>Step 3</a:t>
            </a:r>
          </a:p>
        </p:txBody>
      </p:sp>
      <p:sp>
        <p:nvSpPr>
          <p:cNvPr id="160" name="Oval 159"/>
          <p:cNvSpPr/>
          <p:nvPr/>
        </p:nvSpPr>
        <p:spPr>
          <a:xfrm>
            <a:off x="7114032" y="2286000"/>
            <a:ext cx="640080" cy="640080"/>
          </a:xfrm>
          <a:prstGeom prst="ellipse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1" name="Picture 160" descr="check_w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61250" y="2433218"/>
            <a:ext cx="345643" cy="345643"/>
          </a:xfrm>
          <a:prstGeom prst="rect">
            <a:avLst/>
          </a:prstGeom>
        </p:spPr>
      </p:pic>
      <p:sp>
        <p:nvSpPr>
          <p:cNvPr id="162" name="TextBox 161"/>
          <p:cNvSpPr txBox="1"/>
          <p:nvPr/>
        </p:nvSpPr>
        <p:spPr>
          <a:xfrm>
            <a:off x="6382512" y="3108960"/>
            <a:ext cx="21031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 i="0">
                <a:solidFill>
                  <a:srgbClr val="14142B"/>
                </a:solidFill>
                <a:latin typeface="Calibri"/>
              </a:rPr>
              <a:t>Real device verification</a:t>
            </a:r>
          </a:p>
        </p:txBody>
      </p:sp>
      <p:sp>
        <p:nvSpPr>
          <p:cNvPr id="163" name="TextBox 162"/>
          <p:cNvSpPr txBox="1"/>
          <p:nvPr/>
        </p:nvSpPr>
        <p:spPr>
          <a:xfrm>
            <a:off x="6382512" y="3566160"/>
            <a:ext cx="210312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 i="0">
                <a:solidFill>
                  <a:srgbClr val="63637E"/>
                </a:solidFill>
                <a:latin typeface="Calibri"/>
              </a:rPr>
              <a:t>Execute Tap → Verify against live device state through the validation deeplinks.</a:t>
            </a:r>
          </a:p>
        </p:txBody>
      </p:sp>
      <p:sp>
        <p:nvSpPr>
          <p:cNvPr id="164" name="Isosceles Triangle 163"/>
          <p:cNvSpPr/>
          <p:nvPr/>
        </p:nvSpPr>
        <p:spPr>
          <a:xfrm rot="5400000">
            <a:off x="8686800" y="3291840"/>
            <a:ext cx="164592" cy="201168"/>
          </a:xfrm>
          <a:prstGeom prst="triangle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" name="Rounded Rectangle 164"/>
          <p:cNvSpPr/>
          <p:nvPr/>
        </p:nvSpPr>
        <p:spPr>
          <a:xfrm>
            <a:off x="8878824" y="1828800"/>
            <a:ext cx="2468880" cy="3291840"/>
          </a:xfrm>
          <a:prstGeom prst="roundRect">
            <a:avLst>
              <a:gd name="adj" fmla="val 8000"/>
            </a:avLst>
          </a:prstGeom>
          <a:solidFill>
            <a:srgbClr val="F1EC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6" name="TextBox 165"/>
          <p:cNvSpPr txBox="1"/>
          <p:nvPr/>
        </p:nvSpPr>
        <p:spPr>
          <a:xfrm>
            <a:off x="9061704" y="1938528"/>
            <a:ext cx="914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 i="0">
                <a:solidFill>
                  <a:srgbClr val="63637E"/>
                </a:solidFill>
                <a:latin typeface="Calibri"/>
              </a:rPr>
              <a:t>Step 4</a:t>
            </a:r>
          </a:p>
        </p:txBody>
      </p:sp>
      <p:sp>
        <p:nvSpPr>
          <p:cNvPr id="167" name="Oval 166"/>
          <p:cNvSpPr/>
          <p:nvPr/>
        </p:nvSpPr>
        <p:spPr>
          <a:xfrm>
            <a:off x="9793224" y="2286000"/>
            <a:ext cx="640080" cy="640080"/>
          </a:xfrm>
          <a:prstGeom prst="ellipse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8" name="Picture 167" descr="globe_w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940442" y="2433218"/>
            <a:ext cx="345643" cy="345643"/>
          </a:xfrm>
          <a:prstGeom prst="rect">
            <a:avLst/>
          </a:prstGeom>
        </p:spPr>
      </p:pic>
      <p:sp>
        <p:nvSpPr>
          <p:cNvPr id="169" name="TextBox 168"/>
          <p:cNvSpPr txBox="1"/>
          <p:nvPr/>
        </p:nvSpPr>
        <p:spPr>
          <a:xfrm>
            <a:off x="9061704" y="3108960"/>
            <a:ext cx="21031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 i="0">
                <a:solidFill>
                  <a:srgbClr val="14142B"/>
                </a:solidFill>
                <a:latin typeface="Calibri"/>
              </a:rPr>
              <a:t>Multilingual + on-device</a:t>
            </a:r>
          </a:p>
        </p:txBody>
      </p:sp>
      <p:sp>
        <p:nvSpPr>
          <p:cNvPr id="170" name="TextBox 169"/>
          <p:cNvSpPr txBox="1"/>
          <p:nvPr/>
        </p:nvSpPr>
        <p:spPr>
          <a:xfrm>
            <a:off x="9061704" y="3566160"/>
            <a:ext cx="210312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0" i="0">
                <a:solidFill>
                  <a:srgbClr val="63637E"/>
                </a:solidFill>
                <a:latin typeface="Calibri"/>
              </a:rPr>
              <a:t>Hindi / Hinglish intake via LLM enrichment; small on-device model for the offline path.</a:t>
            </a:r>
          </a:p>
        </p:txBody>
      </p:sp>
      <p:sp>
        <p:nvSpPr>
          <p:cNvPr id="171" name="TextBox 170"/>
          <p:cNvSpPr txBox="1"/>
          <p:nvPr/>
        </p:nvSpPr>
        <p:spPr>
          <a:xfrm>
            <a:off x="841248" y="5440680"/>
            <a:ext cx="1051560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 i="1">
                <a:solidFill>
                  <a:srgbClr val="14142B"/>
                </a:solidFill>
                <a:latin typeface="Calibri"/>
              </a:rPr>
              <a:t>Worklet fit: the engine, evaluation harness and batch compiler already exist; the next step is scale and live-device integration, not a rewrite.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0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04EA6"/>
              </a:buClr>
              <a:buSzPts val="4400"/>
              <a:buFont typeface="Calibri"/>
              <a:buNone/>
            </a:pPr>
            <a:r>
              <a:rPr b="1" lang="en-US" sz="4400">
                <a:solidFill>
                  <a:srgbClr val="704EA6"/>
                </a:solidFill>
                <a:latin typeface="Calibri"/>
                <a:ea typeface="Calibri"/>
                <a:cs typeface="Calibri"/>
                <a:sym typeface="Calibri"/>
              </a:rPr>
              <a:t>Brownie points slide( differentiation)</a:t>
            </a:r>
            <a:endParaRPr b="1" sz="4400">
              <a:solidFill>
                <a:srgbClr val="704EA6"/>
              </a:solidFill>
            </a:endParaRPr>
          </a:p>
        </p:txBody>
      </p:sp>
      <p:sp>
        <p:nvSpPr>
          <p:cNvPr id="150" name="Oval 149"/>
          <p:cNvSpPr/>
          <p:nvPr/>
        </p:nvSpPr>
        <p:spPr>
          <a:xfrm>
            <a:off x="868680" y="1719072"/>
            <a:ext cx="512064" cy="512064"/>
          </a:xfrm>
          <a:prstGeom prst="ellipse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1" name="Picture 150" descr="flask_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6454" y="1836846"/>
            <a:ext cx="276514" cy="276514"/>
          </a:xfrm>
          <a:prstGeom prst="rect">
            <a:avLst/>
          </a:prstGeom>
        </p:spPr>
      </p:pic>
      <p:sp>
        <p:nvSpPr>
          <p:cNvPr id="152" name="TextBox 151"/>
          <p:cNvSpPr txBox="1"/>
          <p:nvPr/>
        </p:nvSpPr>
        <p:spPr>
          <a:xfrm>
            <a:off x="1554480" y="1664208"/>
            <a:ext cx="49377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50" b="1" i="0">
                <a:solidFill>
                  <a:srgbClr val="14142B"/>
                </a:solidFill>
                <a:latin typeface="Calibri"/>
              </a:rPr>
              <a:t>Measured, not claimed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1554480" y="1993392"/>
            <a:ext cx="49377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 i="0">
                <a:solidFill>
                  <a:srgbClr val="63637E"/>
                </a:solidFill>
                <a:latin typeface="Calibri"/>
              </a:rPr>
              <a:t>Two held-out scenario sets, three paraphrase sets, gold labels, an LLM judge and a 3-way ablation, with honest limits.</a:t>
            </a:r>
          </a:p>
        </p:txBody>
      </p:sp>
      <p:sp>
        <p:nvSpPr>
          <p:cNvPr id="154" name="Oval 153"/>
          <p:cNvSpPr/>
          <p:nvPr/>
        </p:nvSpPr>
        <p:spPr>
          <a:xfrm>
            <a:off x="868680" y="2651760"/>
            <a:ext cx="512064" cy="512064"/>
          </a:xfrm>
          <a:prstGeom prst="ellipse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5" name="Picture 154" descr="sync_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6454" y="2769534"/>
            <a:ext cx="276514" cy="276514"/>
          </a:xfrm>
          <a:prstGeom prst="rect">
            <a:avLst/>
          </a:prstGeom>
        </p:spPr>
      </p:pic>
      <p:sp>
        <p:nvSpPr>
          <p:cNvPr id="156" name="TextBox 155"/>
          <p:cNvSpPr txBox="1"/>
          <p:nvPr/>
        </p:nvSpPr>
        <p:spPr>
          <a:xfrm>
            <a:off x="1554480" y="2596896"/>
            <a:ext cx="49377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50" b="1" i="0">
                <a:solidFill>
                  <a:srgbClr val="14142B"/>
                </a:solidFill>
                <a:latin typeface="Calibri"/>
              </a:rPr>
              <a:t>Outage-proof, proven</a:t>
            </a:r>
          </a:p>
        </p:txBody>
      </p:sp>
      <p:sp>
        <p:nvSpPr>
          <p:cNvPr id="157" name="TextBox 156"/>
          <p:cNvSpPr txBox="1"/>
          <p:nvPr/>
        </p:nvSpPr>
        <p:spPr>
          <a:xfrm>
            <a:off x="1554480" y="2926080"/>
            <a:ext cx="49377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 i="0">
                <a:solidFill>
                  <a:srgbClr val="63637E"/>
                </a:solidFill>
                <a:latin typeface="Calibri"/>
              </a:rPr>
              <a:t>During a real Gemini 503 outage, 30 of 32 cold requests fell back to rules and every one stayed contract-valid.</a:t>
            </a:r>
          </a:p>
        </p:txBody>
      </p:sp>
      <p:sp>
        <p:nvSpPr>
          <p:cNvPr id="158" name="Oval 157"/>
          <p:cNvSpPr/>
          <p:nvPr/>
        </p:nvSpPr>
        <p:spPr>
          <a:xfrm>
            <a:off x="868680" y="3584448"/>
            <a:ext cx="512064" cy="512064"/>
          </a:xfrm>
          <a:prstGeom prst="ellipse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9" name="Picture 158" descr="check_w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6454" y="3702222"/>
            <a:ext cx="276514" cy="276514"/>
          </a:xfrm>
          <a:prstGeom prst="rect">
            <a:avLst/>
          </a:prstGeom>
        </p:spPr>
      </p:pic>
      <p:sp>
        <p:nvSpPr>
          <p:cNvPr id="160" name="TextBox 159"/>
          <p:cNvSpPr txBox="1"/>
          <p:nvPr/>
        </p:nvSpPr>
        <p:spPr>
          <a:xfrm>
            <a:off x="1554480" y="3529584"/>
            <a:ext cx="49377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50" b="1" i="0">
                <a:solidFill>
                  <a:srgbClr val="14142B"/>
                </a:solidFill>
                <a:latin typeface="Calibri"/>
              </a:rPr>
              <a:t>Closes the loop</a:t>
            </a:r>
          </a:p>
        </p:txBody>
      </p:sp>
      <p:sp>
        <p:nvSpPr>
          <p:cNvPr id="161" name="TextBox 160"/>
          <p:cNvSpPr txBox="1"/>
          <p:nvPr/>
        </p:nvSpPr>
        <p:spPr>
          <a:xfrm>
            <a:off x="1554480" y="3858768"/>
            <a:ext cx="49377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 i="0">
                <a:solidFill>
                  <a:srgbClr val="63637E"/>
                </a:solidFill>
                <a:latin typeface="Calibri"/>
              </a:rPr>
              <a:t>Validation deeplinks confirm the fix actually happened, not just a link to a screen.</a:t>
            </a:r>
          </a:p>
        </p:txBody>
      </p:sp>
      <p:sp>
        <p:nvSpPr>
          <p:cNvPr id="162" name="Oval 161"/>
          <p:cNvSpPr/>
          <p:nvPr/>
        </p:nvSpPr>
        <p:spPr>
          <a:xfrm>
            <a:off x="868680" y="4517136"/>
            <a:ext cx="512064" cy="512064"/>
          </a:xfrm>
          <a:prstGeom prst="ellipse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3" name="Picture 162" descr="shield_w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86454" y="4634910"/>
            <a:ext cx="276514" cy="276514"/>
          </a:xfrm>
          <a:prstGeom prst="rect">
            <a:avLst/>
          </a:prstGeom>
        </p:spPr>
      </p:pic>
      <p:sp>
        <p:nvSpPr>
          <p:cNvPr id="164" name="TextBox 163"/>
          <p:cNvSpPr txBox="1"/>
          <p:nvPr/>
        </p:nvSpPr>
        <p:spPr>
          <a:xfrm>
            <a:off x="1554480" y="4462272"/>
            <a:ext cx="49377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50" b="1" i="0">
                <a:solidFill>
                  <a:srgbClr val="14142B"/>
                </a:solidFill>
                <a:latin typeface="Calibri"/>
              </a:rPr>
              <a:t>Contract-exact</a:t>
            </a:r>
          </a:p>
        </p:txBody>
      </p:sp>
      <p:sp>
        <p:nvSpPr>
          <p:cNvPr id="165" name="TextBox 164"/>
          <p:cNvSpPr txBox="1"/>
          <p:nvPr/>
        </p:nvSpPr>
        <p:spPr>
          <a:xfrm>
            <a:off x="1554480" y="4791456"/>
            <a:ext cx="49377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 i="0">
                <a:solidFill>
                  <a:srgbClr val="63637E"/>
                </a:solidFill>
                <a:latin typeface="Calibri"/>
              </a:rPr>
              <a:t>Official schema unchanged, every rule enforced in code, brand-neutral outputs, 53 hermetic tests.</a:t>
            </a:r>
          </a:p>
        </p:txBody>
      </p:sp>
      <p:sp>
        <p:nvSpPr>
          <p:cNvPr id="166" name="Oval 165"/>
          <p:cNvSpPr/>
          <p:nvPr/>
        </p:nvSpPr>
        <p:spPr>
          <a:xfrm>
            <a:off x="868680" y="5449824"/>
            <a:ext cx="512064" cy="512064"/>
          </a:xfrm>
          <a:prstGeom prst="ellipse">
            <a:avLst/>
          </a:prstGeom>
          <a:solidFill>
            <a:srgbClr val="6D28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7" name="Picture 166" descr="docker_w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86454" y="5567598"/>
            <a:ext cx="276514" cy="276514"/>
          </a:xfrm>
          <a:prstGeom prst="rect">
            <a:avLst/>
          </a:prstGeom>
        </p:spPr>
      </p:pic>
      <p:sp>
        <p:nvSpPr>
          <p:cNvPr id="168" name="TextBox 167"/>
          <p:cNvSpPr txBox="1"/>
          <p:nvPr/>
        </p:nvSpPr>
        <p:spPr>
          <a:xfrm>
            <a:off x="1554480" y="5394959"/>
            <a:ext cx="49377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50" b="1" i="0">
                <a:solidFill>
                  <a:srgbClr val="14142B"/>
                </a:solidFill>
                <a:latin typeface="Calibri"/>
              </a:rPr>
              <a:t>Zero-friction to judge</a:t>
            </a:r>
          </a:p>
        </p:txBody>
      </p:sp>
      <p:sp>
        <p:nvSpPr>
          <p:cNvPr id="169" name="TextBox 168"/>
          <p:cNvSpPr txBox="1"/>
          <p:nvPr/>
        </p:nvSpPr>
        <p:spPr>
          <a:xfrm>
            <a:off x="1554480" y="5724144"/>
            <a:ext cx="49377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50" b="0" i="0">
                <a:solidFill>
                  <a:srgbClr val="63637E"/>
                </a:solidFill>
                <a:latin typeface="Calibri"/>
              </a:rPr>
              <a:t>docker compose up: model and validated cache baked in; runs with no API key.</a:t>
            </a:r>
          </a:p>
        </p:txBody>
      </p:sp>
      <p:graphicFrame>
        <p:nvGraphicFramePr>
          <p:cNvPr id="170" name="Chart 169"/>
          <p:cNvGraphicFramePr>
            <a:graphicFrameLocks noGrp="1"/>
          </p:cNvGraphicFramePr>
          <p:nvPr/>
        </p:nvGraphicFramePr>
        <p:xfrm>
          <a:off x="6812280" y="1600200"/>
          <a:ext cx="4526280" cy="4023360"/>
        </p:xfrm>
        <a:graphic>
          <a:graphicData uri="http://schemas.openxmlformats.org/drawingml/2006/chart">
            <c:chart r:id="rId8"/>
          </a:graphicData>
        </a:graphic>
      </p:graphicFrame>
      <p:sp>
        <p:nvSpPr>
          <p:cNvPr id="171" name="TextBox 170"/>
          <p:cNvSpPr txBox="1"/>
          <p:nvPr/>
        </p:nvSpPr>
        <p:spPr>
          <a:xfrm>
            <a:off x="6812280" y="5715000"/>
            <a:ext cx="45262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1">
                <a:solidFill>
                  <a:srgbClr val="63637E"/>
                </a:solidFill>
                <a:latin typeface="Calibri"/>
              </a:rPr>
              <a:t>D1 + D2 scored on gold (eval/ablation.py). Full-LLM mapping also costs $0.00125 per query and 6 s P95; ours is $0.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1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704EA6"/>
              </a:buClr>
              <a:buSzPts val="4400"/>
              <a:buFont typeface="Calibri"/>
              <a:buNone/>
            </a:pPr>
            <a:r>
              <a:rPr b="1" lang="en-US">
                <a:solidFill>
                  <a:srgbClr val="704EA6"/>
                </a:solidFill>
                <a:latin typeface="Calibri"/>
                <a:ea typeface="Calibri"/>
                <a:cs typeface="Calibri"/>
                <a:sym typeface="Calibri"/>
              </a:rPr>
              <a:t>Checklist- Updated on Public GitHub</a:t>
            </a:r>
            <a:endParaRPr/>
          </a:p>
        </p:txBody>
      </p:sp>
      <p:sp>
        <p:nvSpPr>
          <p:cNvPr id="156" name="Google Shape;156;p11"/>
          <p:cNvSpPr txBox="1"/>
          <p:nvPr>
            <p:ph idx="1" type="body"/>
          </p:nvPr>
        </p:nvSpPr>
        <p:spPr>
          <a:xfrm>
            <a:off x="838200" y="1737360"/>
            <a:ext cx="10515600" cy="32918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77800" lvl="0" marL="1778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63637E"/>
              </a:buClr>
              <a:buSzPts val="2800"/>
              <a:buChar char="•"/>
            </a:pPr>
            <a:r>
              <a:rPr lang="en-US" sz="2000">
                <a:solidFill>
                  <a:srgbClr val="63637E"/>
                </a:solidFill>
                <a:latin typeface="Calibri"/>
                <a:ea typeface="Calibri"/>
                <a:cs typeface="Calibri"/>
                <a:sym typeface="Calibri"/>
              </a:rPr>
              <a:t>Working prototype code — public GitHub repo: Y  (github.com/AbhishekVerma295/SRMIST_QueueQueueing_PRISM_Theme02, tag PRISM_GENAI_HACKATHON_Y2026)</a:t>
            </a:r>
            <a:endParaRPr sz="2800"/>
          </a:p>
          <a:p>
            <a:pPr indent="-177800" lvl="0" marL="177800" rtl="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rgbClr val="63637E"/>
              </a:buClr>
              <a:buSzPts val="2800"/>
              <a:buChar char="•"/>
            </a:pPr>
            <a:r>
              <a:rPr lang="en-US" sz="2000">
                <a:solidFill>
                  <a:srgbClr val="63637E"/>
                </a:solidFill>
                <a:latin typeface="Calibri"/>
                <a:ea typeface="Calibri"/>
                <a:cs typeface="Calibri"/>
                <a:sym typeface="Calibri"/>
              </a:rPr>
              <a:t>README with reproducible setup instructions: Y  (docker compose up, or Python 3.12 + 3 commands)</a:t>
            </a:r>
            <a:endParaRPr sz="2800"/>
          </a:p>
          <a:p>
            <a:pPr indent="-177800" lvl="0" marL="177800" rtl="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rgbClr val="63637E"/>
              </a:buClr>
              <a:buSzPts val="2800"/>
              <a:buChar char="•"/>
            </a:pPr>
            <a:r>
              <a:rPr lang="en-US" sz="2000">
                <a:solidFill>
                  <a:srgbClr val="63637E"/>
                </a:solidFill>
                <a:latin typeface="Calibri"/>
                <a:ea typeface="Calibri"/>
                <a:cs typeface="Calibri"/>
                <a:sym typeface="Calibri"/>
              </a:rPr>
              <a:t>Demo video, max 5 minutes: https://drive.google.com/drive/folders/1ATDX614AjhvJfmq3afcTFr0g-L0GjvHL?usp=drive_link</a:t>
            </a:r>
            <a:endParaRPr sz="2800"/>
          </a:p>
          <a:p>
            <a:pPr indent="-177800" lvl="0" marL="177800" rtl="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rgbClr val="63637E"/>
              </a:buClr>
              <a:buSzPts val="2800"/>
              <a:buChar char="•"/>
            </a:pPr>
            <a:r>
              <a:rPr lang="en-US" sz="2000">
                <a:solidFill>
                  <a:srgbClr val="63637E"/>
                </a:solidFill>
                <a:latin typeface="Calibri"/>
                <a:ea typeface="Calibri"/>
                <a:cs typeface="Calibri"/>
                <a:sym typeface="Calibri"/>
              </a:rPr>
              <a:t>Presentation file (PPT or PDF): Y  (docs/SRMIST_QueueQueueing.pptx and .pdf)</a:t>
            </a:r>
            <a:endParaRPr sz="2800"/>
          </a:p>
          <a:p>
            <a:pPr indent="0" lvl="0" marL="0" rtl="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  <p:sp>
        <p:nvSpPr>
          <p:cNvPr id="157" name="Rounded Rectangle 156"/>
          <p:cNvSpPr/>
          <p:nvPr/>
        </p:nvSpPr>
        <p:spPr>
          <a:xfrm>
            <a:off x="841248" y="5074920"/>
            <a:ext cx="10515600" cy="1143000"/>
          </a:xfrm>
          <a:prstGeom prst="roundRect">
            <a:avLst>
              <a:gd name="adj" fmla="val 8000"/>
            </a:avLst>
          </a:prstGeom>
          <a:solidFill>
            <a:srgbClr val="E3F4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8" name="Oval 157"/>
          <p:cNvSpPr/>
          <p:nvPr/>
        </p:nvSpPr>
        <p:spPr>
          <a:xfrm>
            <a:off x="1051560" y="5303520"/>
            <a:ext cx="658368" cy="658368"/>
          </a:xfrm>
          <a:prstGeom prst="ellipse">
            <a:avLst/>
          </a:prstGeom>
          <a:solidFill>
            <a:srgbClr val="1E9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9" name="Picture 158" descr="check_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2984" y="5454944"/>
            <a:ext cx="355518" cy="355518"/>
          </a:xfrm>
          <a:prstGeom prst="rect">
            <a:avLst/>
          </a:prstGeom>
        </p:spPr>
      </p:pic>
      <p:sp>
        <p:nvSpPr>
          <p:cNvPr id="160" name="TextBox 159"/>
          <p:cNvSpPr txBox="1"/>
          <p:nvPr/>
        </p:nvSpPr>
        <p:spPr>
          <a:xfrm>
            <a:off x="1920240" y="5230368"/>
            <a:ext cx="923544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 i="0">
                <a:solidFill>
                  <a:srgbClr val="14142B"/>
                </a:solidFill>
                <a:latin typeface="Calibri"/>
              </a:rPr>
              <a:t>Everything referenced here is inside the tagged commit </a:t>
            </a:r>
            <a:r>
              <a:rPr sz="1400" b="1" i="0">
                <a:solidFill>
                  <a:srgbClr val="1E9E5A"/>
                </a:solidFill>
                <a:latin typeface="Calibri"/>
              </a:rPr>
              <a:t>PRISM_GENAI_HACKATHON_Y2026</a:t>
            </a:r>
            <a:r>
              <a:rPr sz="1400" b="0" i="0">
                <a:solidFill>
                  <a:srgbClr val="14142B"/>
                </a:solidFill>
                <a:latin typeface="Calibri"/>
              </a:rPr>
              <a:t>: code, README, Dockerfile, results.jsonl, metrics.md, this deck (PPTX + PDF) and the video link.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12"/>
          <p:cNvSpPr txBox="1"/>
          <p:nvPr/>
        </p:nvSpPr>
        <p:spPr>
          <a:xfrm>
            <a:off x="1046181" y="3730214"/>
            <a:ext cx="6766560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4142B"/>
              </a:buClr>
              <a:buSzPts val="4600"/>
              <a:buFont typeface="Arial"/>
              <a:buNone/>
            </a:pPr>
            <a:r>
              <a:rPr b="1" i="0" lang="en-US" sz="4600" u="none" cap="none" strike="noStrike">
                <a:solidFill>
                  <a:srgbClr val="14142B"/>
                </a:solidFill>
                <a:latin typeface="Arial"/>
                <a:ea typeface="Arial"/>
                <a:cs typeface="Arial"/>
                <a:sym typeface="Arial"/>
              </a:rPr>
              <a:t>Thank you</a:t>
            </a:r>
            <a:endParaRPr b="0" i="0" sz="4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12"/>
          <p:cNvSpPr txBox="1"/>
          <p:nvPr/>
        </p:nvSpPr>
        <p:spPr>
          <a:xfrm>
            <a:off x="777240" y="5897880"/>
            <a:ext cx="106070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3637E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63637E"/>
                </a:solidFill>
                <a:latin typeface="Calibri"/>
                <a:ea typeface="Calibri"/>
                <a:cs typeface="Calibri"/>
                <a:sym typeface="Calibri"/>
              </a:rPr>
              <a:t>Organised by the Language AI Team and the PRISM Team, Samsung R&amp;D Institute India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TextBox 163"/>
          <p:cNvSpPr txBox="1"/>
          <p:nvPr/>
        </p:nvSpPr>
        <p:spPr>
          <a:xfrm>
            <a:off x="1042415" y="4617720"/>
            <a:ext cx="1024128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 i="0">
                <a:solidFill>
                  <a:srgbClr val="6D28D9"/>
                </a:solidFill>
                <a:latin typeface="Calibri"/>
              </a:rPr>
              <a:t>FixFlow · Theme 02 · </a:t>
            </a:r>
            <a:r>
              <a:rPr sz="1400" b="1" i="0">
                <a:solidFill>
                  <a:srgbClr val="14142B"/>
                </a:solidFill>
                <a:latin typeface="Calibri"/>
              </a:rPr>
              <a:t>SRMIST_QueueQueueing</a:t>
            </a:r>
          </a:p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14142B"/>
                </a:solidFill>
                <a:latin typeface="Calibri"/>
              </a:rPr>
              <a:t>Abhinav Kumar · Abhishek Verma · Ayushi Paul · Ketki Gonnade</a:t>
            </a:r>
          </a:p>
          <a:p>
            <a:pPr algn="l">
              <a:spcAft>
                <a:spcPts val="400"/>
              </a:spcAft>
            </a:pPr>
            <a:r>
              <a:rPr sz="1400" b="1" i="0">
                <a:solidFill>
                  <a:srgbClr val="14142B"/>
                </a:solidFill>
                <a:latin typeface="Calibri"/>
              </a:rPr>
              <a:t>Repository: </a:t>
            </a:r>
            <a:r>
              <a:rPr sz="1400" b="0" i="0">
                <a:solidFill>
                  <a:srgbClr val="14142B"/>
                </a:solidFill>
                <a:latin typeface="Calibri"/>
              </a:rPr>
              <a:t>github.com/AbhishekVerma295/SRMIST_QueueQueueing_PRISM_Theme02</a:t>
            </a:r>
            <a:r>
              <a:rPr sz="1400" b="1" i="0">
                <a:solidFill>
                  <a:srgbClr val="14142B"/>
                </a:solidFill>
                <a:latin typeface="Calibri"/>
              </a:rPr>
              <a:t>   Tag: </a:t>
            </a:r>
            <a:r>
              <a:rPr sz="1400" b="0" i="0">
                <a:solidFill>
                  <a:srgbClr val="14142B"/>
                </a:solidFill>
                <a:latin typeface="Calibri"/>
              </a:rPr>
              <a:t>PRISM_GENAI_HACKATHON_Y2026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2026-09-07T12:01:01Z</dcterms:created>
  <dc:creator>Binny Lakra/PRISM /SRI-Bangalore/Professional/Samsung Electronics</dc:creato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SCPROP">
    <vt:lpwstr>NSCCustomProperty</vt:lpwstr>
  </property>
</Properties>
</file>